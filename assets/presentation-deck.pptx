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A0F6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FF6600"/>
          </a:solidFill>
          <a:ln/>
        </p:spPr>
      </p:sp>
      <p:sp>
        <p:nvSpPr>
          <p:cNvPr id="3" name="Shape 1"/>
          <p:cNvSpPr/>
          <p:nvPr/>
        </p:nvSpPr>
        <p:spPr>
          <a:xfrm>
            <a:off x="914400" y="1417320"/>
            <a:ext cx="2304288" cy="292608"/>
          </a:xfrm>
          <a:prstGeom prst="roundRect">
            <a:avLst>
              <a:gd name="adj" fmla="val 50000"/>
            </a:avLst>
          </a:prstGeom>
          <a:solidFill>
            <a:srgbClr val="FF6600"/>
          </a:solidFill>
          <a:ln/>
        </p:spPr>
      </p:sp>
      <p:sp>
        <p:nvSpPr>
          <p:cNvPr id="4" name="Text 2"/>
          <p:cNvSpPr/>
          <p:nvPr/>
        </p:nvSpPr>
        <p:spPr>
          <a:xfrm>
            <a:off x="914400" y="1417320"/>
            <a:ext cx="2304288"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Trebuchet MS" pitchFamily="34" charset="0"/>
                <a:ea typeface="Trebuchet MS" pitchFamily="34" charset="-122"/>
                <a:cs typeface="Trebuchet MS" pitchFamily="34" charset="-120"/>
              </a:rPr>
              <a:t>DISTRICT MANAGER BRIEFING</a:t>
            </a:r>
            <a:endParaRPr lang="en-US" sz="1050" dirty="0"/>
          </a:p>
        </p:txBody>
      </p:sp>
      <p:sp>
        <p:nvSpPr>
          <p:cNvPr id="5" name="Text 3"/>
          <p:cNvSpPr/>
          <p:nvPr/>
        </p:nvSpPr>
        <p:spPr>
          <a:xfrm>
            <a:off x="868680" y="1828800"/>
            <a:ext cx="10058400" cy="1097280"/>
          </a:xfrm>
          <a:prstGeom prst="rect">
            <a:avLst/>
          </a:prstGeom>
          <a:noFill/>
          <a:ln/>
        </p:spPr>
        <p:txBody>
          <a:bodyPr wrap="square" lIns="0" tIns="0" rIns="0" bIns="0" rtlCol="0" anchor="ctr"/>
          <a:lstStyle/>
          <a:p>
            <a:pPr algn="l" indent="0" marL="0">
              <a:buNone/>
            </a:pPr>
            <a:r>
              <a:rPr lang="en-US" sz="5200" b="1" dirty="0">
                <a:solidFill>
                  <a:srgbClr val="FFFFFF"/>
                </a:solidFill>
                <a:latin typeface="Trebuchet MS" pitchFamily="34" charset="0"/>
                <a:ea typeface="Trebuchet MS" pitchFamily="34" charset="-122"/>
                <a:cs typeface="Trebuchet MS" pitchFamily="34" charset="-120"/>
              </a:rPr>
              <a:t>AI Efficiency Team</a:t>
            </a:r>
            <a:endParaRPr lang="en-US" sz="5200" dirty="0"/>
          </a:p>
        </p:txBody>
      </p:sp>
      <p:sp>
        <p:nvSpPr>
          <p:cNvPr id="6" name="Text 4"/>
          <p:cNvSpPr/>
          <p:nvPr/>
        </p:nvSpPr>
        <p:spPr>
          <a:xfrm>
            <a:off x="914400" y="3063240"/>
            <a:ext cx="9692640" cy="1280160"/>
          </a:xfrm>
          <a:prstGeom prst="rect">
            <a:avLst/>
          </a:prstGeom>
          <a:noFill/>
          <a:ln/>
        </p:spPr>
        <p:txBody>
          <a:bodyPr wrap="square" lIns="0" tIns="0" rIns="0" bIns="0" rtlCol="0" anchor="t"/>
          <a:lstStyle/>
          <a:p>
            <a:pPr algn="l" indent="0" marL="0">
              <a:lnSpc>
                <a:spcPct val="112000"/>
              </a:lnSpc>
              <a:buNone/>
            </a:pPr>
            <a:r>
              <a:rPr lang="en-US" sz="1900" dirty="0">
                <a:solidFill>
                  <a:srgbClr val="CADCFC"/>
                </a:solidFill>
                <a:latin typeface="Calibri" pitchFamily="34" charset="0"/>
                <a:ea typeface="Calibri" pitchFamily="34" charset="-122"/>
                <a:cs typeface="Calibri" pitchFamily="34" charset="-120"/>
              </a:rPr>
              <a:t>An operations-led AI hub that gives every manager in your district a faster, safer way to handle the writing, planning, and reporting that fills their day — with you in control of every step.</a:t>
            </a:r>
            <a:endParaRPr lang="en-US" sz="1900" dirty="0"/>
          </a:p>
        </p:txBody>
      </p:sp>
      <p:sp>
        <p:nvSpPr>
          <p:cNvPr id="7" name="Text 5"/>
          <p:cNvSpPr/>
          <p:nvPr/>
        </p:nvSpPr>
        <p:spPr>
          <a:xfrm>
            <a:off x="914400" y="5120640"/>
            <a:ext cx="9692640" cy="822960"/>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Built by FedEx operations people, for FedEx operations people.</a:t>
            </a:r>
            <a:endParaRPr lang="en-US" sz="1300" dirty="0"/>
          </a:p>
          <a:p>
            <a:pPr algn="l" indent="0" marL="0">
              <a:buNone/>
            </a:pPr>
            <a:r>
              <a:rPr lang="en-US" sz="1200" dirty="0">
                <a:solidFill>
                  <a:srgbClr val="CADCFC"/>
                </a:solidFill>
                <a:latin typeface="Calibri" pitchFamily="34" charset="0"/>
                <a:ea typeface="Calibri" pitchFamily="34" charset="-122"/>
                <a:cs typeface="Calibri" pitchFamily="34" charset="-120"/>
              </a:rPr>
              <a:t>Public-safe  ·  Human-reviewed  ·  Safety Above All.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841248"/>
            <a:ext cx="11091672" cy="777240"/>
          </a:xfrm>
          <a:prstGeom prst="rect">
            <a:avLst/>
          </a:prstGeom>
          <a:noFill/>
          <a:ln/>
        </p:spPr>
        <p:txBody>
          <a:bodyPr wrap="square" lIns="0" tIns="0" rIns="0" bIns="0" rtlCol="0" anchor="ctr"/>
          <a:lstStyle/>
          <a:p>
            <a:pPr algn="l" indent="0" marL="0">
              <a:buNone/>
            </a:pPr>
            <a:r>
              <a:rPr lang="en-US" sz="3000" b="1" dirty="0">
                <a:solidFill>
                  <a:srgbClr val="4D148C"/>
                </a:solidFill>
                <a:latin typeface="Trebuchet MS" pitchFamily="34" charset="0"/>
                <a:ea typeface="Trebuchet MS" pitchFamily="34" charset="-122"/>
                <a:cs typeface="Trebuchet MS" pitchFamily="34" charset="-120"/>
              </a:rPr>
              <a:t>Why This Matters for FedEx</a:t>
            </a:r>
            <a:endParaRPr lang="en-US" sz="3000" dirty="0"/>
          </a:p>
        </p:txBody>
      </p:sp>
      <p:sp>
        <p:nvSpPr>
          <p:cNvPr id="3" name="Text 1"/>
          <p:cNvSpPr/>
          <p:nvPr/>
        </p:nvSpPr>
        <p:spPr>
          <a:xfrm>
            <a:off x="548640" y="1783080"/>
            <a:ext cx="3453384" cy="777240"/>
          </a:xfrm>
          <a:prstGeom prst="rect">
            <a:avLst/>
          </a:prstGeom>
          <a:noFill/>
          <a:ln/>
        </p:spPr>
        <p:txBody>
          <a:bodyPr wrap="square" lIns="0" tIns="0" rIns="0" bIns="0" rtlCol="0" anchor="ctr"/>
          <a:lstStyle/>
          <a:p>
            <a:pPr algn="ctr" indent="0" marL="0">
              <a:buNone/>
            </a:pPr>
            <a:r>
              <a:rPr lang="en-US" sz="4000" b="1" dirty="0">
                <a:solidFill>
                  <a:srgbClr val="4D148C"/>
                </a:solidFill>
                <a:latin typeface="Trebuchet MS" pitchFamily="34" charset="0"/>
                <a:ea typeface="Trebuchet MS" pitchFamily="34" charset="-122"/>
                <a:cs typeface="Trebuchet MS" pitchFamily="34" charset="-120"/>
              </a:rPr>
              <a:t>2 PB+</a:t>
            </a:r>
            <a:endParaRPr lang="en-US" sz="4000" dirty="0"/>
          </a:p>
        </p:txBody>
      </p:sp>
      <p:sp>
        <p:nvSpPr>
          <p:cNvPr id="4" name="Text 2"/>
          <p:cNvSpPr/>
          <p:nvPr/>
        </p:nvSpPr>
        <p:spPr>
          <a:xfrm>
            <a:off x="548640" y="2578608"/>
            <a:ext cx="3453384" cy="548640"/>
          </a:xfrm>
          <a:prstGeom prst="rect">
            <a:avLst/>
          </a:prstGeom>
          <a:noFill/>
          <a:ln/>
        </p:spPr>
        <p:txBody>
          <a:bodyPr wrap="square" lIns="0" tIns="0" rIns="0" bIns="0" rtlCol="0" anchor="t"/>
          <a:lstStyle/>
          <a:p>
            <a:pPr algn="ctr" indent="0" marL="0">
              <a:lnSpc>
                <a:spcPct val="100000"/>
              </a:lnSpc>
              <a:buNone/>
            </a:pPr>
            <a:r>
              <a:rPr lang="en-US" sz="1200" spc="100" kern="0" dirty="0">
                <a:solidFill>
                  <a:srgbClr val="6B7280"/>
                </a:solidFill>
                <a:latin typeface="Calibri" pitchFamily="34" charset="0"/>
                <a:ea typeface="Calibri" pitchFamily="34" charset="-122"/>
                <a:cs typeface="Calibri" pitchFamily="34" charset="-120"/>
              </a:rPr>
              <a:t>DATA GENERATED DAILY</a:t>
            </a:r>
            <a:endParaRPr lang="en-US" sz="1200" dirty="0"/>
          </a:p>
        </p:txBody>
      </p:sp>
      <p:sp>
        <p:nvSpPr>
          <p:cNvPr id="5" name="Text 3"/>
          <p:cNvSpPr/>
          <p:nvPr/>
        </p:nvSpPr>
        <p:spPr>
          <a:xfrm>
            <a:off x="4367784" y="1783080"/>
            <a:ext cx="3453384" cy="777240"/>
          </a:xfrm>
          <a:prstGeom prst="rect">
            <a:avLst/>
          </a:prstGeom>
          <a:noFill/>
          <a:ln/>
        </p:spPr>
        <p:txBody>
          <a:bodyPr wrap="square" lIns="0" tIns="0" rIns="0" bIns="0" rtlCol="0" anchor="ctr"/>
          <a:lstStyle/>
          <a:p>
            <a:pPr algn="ctr" indent="0" marL="0">
              <a:buNone/>
            </a:pPr>
            <a:r>
              <a:rPr lang="en-US" sz="4000" b="1" dirty="0">
                <a:solidFill>
                  <a:srgbClr val="4D148C"/>
                </a:solidFill>
                <a:latin typeface="Trebuchet MS" pitchFamily="34" charset="0"/>
                <a:ea typeface="Trebuchet MS" pitchFamily="34" charset="-122"/>
                <a:cs typeface="Trebuchet MS" pitchFamily="34" charset="-120"/>
              </a:rPr>
              <a:t>Dec 2025</a:t>
            </a:r>
            <a:endParaRPr lang="en-US" sz="4000" dirty="0"/>
          </a:p>
        </p:txBody>
      </p:sp>
      <p:sp>
        <p:nvSpPr>
          <p:cNvPr id="6" name="Text 4"/>
          <p:cNvSpPr/>
          <p:nvPr/>
        </p:nvSpPr>
        <p:spPr>
          <a:xfrm>
            <a:off x="4367784" y="2578608"/>
            <a:ext cx="3453384" cy="548640"/>
          </a:xfrm>
          <a:prstGeom prst="rect">
            <a:avLst/>
          </a:prstGeom>
          <a:noFill/>
          <a:ln/>
        </p:spPr>
        <p:txBody>
          <a:bodyPr wrap="square" lIns="0" tIns="0" rIns="0" bIns="0" rtlCol="0" anchor="t"/>
          <a:lstStyle/>
          <a:p>
            <a:pPr algn="ctr" indent="0" marL="0">
              <a:lnSpc>
                <a:spcPct val="100000"/>
              </a:lnSpc>
              <a:buNone/>
            </a:pPr>
            <a:r>
              <a:rPr lang="en-US" sz="1200" spc="100" kern="0" dirty="0">
                <a:solidFill>
                  <a:srgbClr val="6B7280"/>
                </a:solidFill>
                <a:latin typeface="Calibri" pitchFamily="34" charset="0"/>
                <a:ea typeface="Calibri" pitchFamily="34" charset="-122"/>
                <a:cs typeface="Calibri" pitchFamily="34" charset="-120"/>
              </a:rPr>
              <a:t>FEDEX AI EDUCATION PROGRAM LAUNCHED</a:t>
            </a:r>
            <a:endParaRPr lang="en-US" sz="1200" dirty="0"/>
          </a:p>
        </p:txBody>
      </p:sp>
      <p:sp>
        <p:nvSpPr>
          <p:cNvPr id="7" name="Text 5"/>
          <p:cNvSpPr/>
          <p:nvPr/>
        </p:nvSpPr>
        <p:spPr>
          <a:xfrm>
            <a:off x="8186928" y="1783080"/>
            <a:ext cx="3453384" cy="777240"/>
          </a:xfrm>
          <a:prstGeom prst="rect">
            <a:avLst/>
          </a:prstGeom>
          <a:noFill/>
          <a:ln/>
        </p:spPr>
        <p:txBody>
          <a:bodyPr wrap="square" lIns="0" tIns="0" rIns="0" bIns="0" rtlCol="0" anchor="ctr"/>
          <a:lstStyle/>
          <a:p>
            <a:pPr algn="ctr" indent="0" marL="0">
              <a:buNone/>
            </a:pPr>
            <a:r>
              <a:rPr lang="en-US" sz="4000" b="1" dirty="0">
                <a:solidFill>
                  <a:srgbClr val="4D148C"/>
                </a:solidFill>
                <a:latin typeface="Trebuchet MS" pitchFamily="34" charset="0"/>
                <a:ea typeface="Trebuchet MS" pitchFamily="34" charset="-122"/>
                <a:cs typeface="Trebuchet MS" pitchFamily="34" charset="-120"/>
              </a:rPr>
              <a:t>51</a:t>
            </a:r>
            <a:endParaRPr lang="en-US" sz="4000" dirty="0"/>
          </a:p>
        </p:txBody>
      </p:sp>
      <p:sp>
        <p:nvSpPr>
          <p:cNvPr id="8" name="Text 6"/>
          <p:cNvSpPr/>
          <p:nvPr/>
        </p:nvSpPr>
        <p:spPr>
          <a:xfrm>
            <a:off x="8186928" y="2578608"/>
            <a:ext cx="3453384" cy="548640"/>
          </a:xfrm>
          <a:prstGeom prst="rect">
            <a:avLst/>
          </a:prstGeom>
          <a:noFill/>
          <a:ln/>
        </p:spPr>
        <p:txBody>
          <a:bodyPr wrap="square" lIns="0" tIns="0" rIns="0" bIns="0" rtlCol="0" anchor="t"/>
          <a:lstStyle/>
          <a:p>
            <a:pPr algn="ctr" indent="0" marL="0">
              <a:lnSpc>
                <a:spcPct val="100000"/>
              </a:lnSpc>
              <a:buNone/>
            </a:pPr>
            <a:r>
              <a:rPr lang="en-US" sz="1200" spc="100" kern="0" dirty="0">
                <a:solidFill>
                  <a:srgbClr val="6B7280"/>
                </a:solidFill>
                <a:latin typeface="Calibri" pitchFamily="34" charset="0"/>
                <a:ea typeface="Calibri" pitchFamily="34" charset="-122"/>
                <a:cs typeface="Calibri" pitchFamily="34" charset="-120"/>
              </a:rPr>
              <a:t>COPY-PASTE PROMPTS READY NOW</a:t>
            </a:r>
            <a:endParaRPr lang="en-US" sz="1200" dirty="0"/>
          </a:p>
        </p:txBody>
      </p:sp>
      <p:sp>
        <p:nvSpPr>
          <p:cNvPr id="9" name="Shape 7"/>
          <p:cNvSpPr/>
          <p:nvPr/>
        </p:nvSpPr>
        <p:spPr>
          <a:xfrm>
            <a:off x="548640" y="3429000"/>
            <a:ext cx="11091672" cy="1417320"/>
          </a:xfrm>
          <a:prstGeom prst="roundRect">
            <a:avLst>
              <a:gd name="adj" fmla="val 3871"/>
            </a:avLst>
          </a:prstGeom>
          <a:solidFill>
            <a:srgbClr val="F4ECFC"/>
          </a:solidFill>
          <a:ln w="12700">
            <a:solidFill>
              <a:srgbClr val="E7D9FB"/>
            </a:solidFill>
            <a:prstDash val="solid"/>
          </a:ln>
        </p:spPr>
      </p:sp>
      <p:sp>
        <p:nvSpPr>
          <p:cNvPr id="10" name="Shape 8"/>
          <p:cNvSpPr/>
          <p:nvPr/>
        </p:nvSpPr>
        <p:spPr>
          <a:xfrm>
            <a:off x="548640" y="3429000"/>
            <a:ext cx="73152" cy="1417320"/>
          </a:xfrm>
          <a:prstGeom prst="rect">
            <a:avLst/>
          </a:prstGeom>
          <a:solidFill>
            <a:srgbClr val="FF6600"/>
          </a:solidFill>
          <a:ln/>
        </p:spPr>
      </p:sp>
      <p:sp>
        <p:nvSpPr>
          <p:cNvPr id="11" name="Text 9"/>
          <p:cNvSpPr/>
          <p:nvPr/>
        </p:nvSpPr>
        <p:spPr>
          <a:xfrm>
            <a:off x="822960" y="3429000"/>
            <a:ext cx="10543032" cy="1417320"/>
          </a:xfrm>
          <a:prstGeom prst="rect">
            <a:avLst/>
          </a:prstGeom>
          <a:noFill/>
          <a:ln/>
        </p:spPr>
        <p:txBody>
          <a:bodyPr wrap="square" lIns="0" tIns="0" rIns="0" bIns="0" rtlCol="0" anchor="ctr"/>
          <a:lstStyle/>
          <a:p>
            <a:pPr algn="l" indent="0" marL="0">
              <a:lnSpc>
                <a:spcPct val="105000"/>
              </a:lnSpc>
              <a:spcAft>
                <a:spcPts val="600"/>
              </a:spcAft>
              <a:buNone/>
            </a:pPr>
            <a:r>
              <a:rPr lang="en-US" sz="1400" i="1" dirty="0">
                <a:solidFill>
                  <a:srgbClr val="1A1D23"/>
                </a:solidFill>
                <a:latin typeface="Calibri" pitchFamily="34" charset="0"/>
                <a:ea typeface="Calibri" pitchFamily="34" charset="-122"/>
                <a:cs typeface="Calibri" pitchFamily="34" charset="-120"/>
              </a:rPr>
              <a:t>“The future of business is being shaped by data and AI more than ever before. As FedEx continues its evolution into an AI-powered enterprise, our people remain at the heart of everything we do.”</a:t>
            </a:r>
            <a:endParaRPr lang="en-US" sz="1400" dirty="0"/>
          </a:p>
          <a:p>
            <a:pPr algn="l" indent="0" marL="0">
              <a:lnSpc>
                <a:spcPct val="105000"/>
              </a:lnSpc>
              <a:spcAft>
                <a:spcPts val="600"/>
              </a:spcAft>
              <a:buNone/>
            </a:pPr>
            <a:r>
              <a:rPr lang="en-US" sz="1200" dirty="0">
                <a:solidFill>
                  <a:srgbClr val="6B7280"/>
                </a:solidFill>
                <a:latin typeface="Calibri" pitchFamily="34" charset="0"/>
                <a:ea typeface="Calibri" pitchFamily="34" charset="-122"/>
                <a:cs typeface="Calibri" pitchFamily="34" charset="-120"/>
              </a:rPr>
              <a:t>— Raj Subramaniam, President &amp; CEO, FedEx Corporation</a:t>
            </a:r>
            <a:endParaRPr lang="en-US" sz="1400" dirty="0"/>
          </a:p>
        </p:txBody>
      </p:sp>
      <p:sp>
        <p:nvSpPr>
          <p:cNvPr id="12" name="Text 10"/>
          <p:cNvSpPr/>
          <p:nvPr/>
        </p:nvSpPr>
        <p:spPr>
          <a:xfrm>
            <a:off x="548640" y="5074920"/>
            <a:ext cx="11091672" cy="457200"/>
          </a:xfrm>
          <a:prstGeom prst="rect">
            <a:avLst/>
          </a:prstGeom>
          <a:noFill/>
          <a:ln/>
        </p:spPr>
        <p:txBody>
          <a:bodyPr wrap="square" lIns="0" tIns="0" rIns="0" bIns="0" rtlCol="0" anchor="ctr"/>
          <a:lstStyle/>
          <a:p>
            <a:pPr algn="l" indent="0" marL="0">
              <a:buNone/>
            </a:pPr>
            <a:r>
              <a:rPr lang="en-US" sz="1500" b="1" dirty="0">
                <a:solidFill>
                  <a:srgbClr val="4D148C"/>
                </a:solidFill>
                <a:latin typeface="Trebuchet MS" pitchFamily="34" charset="0"/>
                <a:ea typeface="Trebuchet MS" pitchFamily="34" charset="-122"/>
                <a:cs typeface="Trebuchet MS" pitchFamily="34" charset="-120"/>
              </a:rPr>
              <a:t>This is our region's contribution to that company-wide mission — something your managers can use this week.</a:t>
            </a:r>
            <a:endParaRPr lang="en-US" sz="1500" dirty="0"/>
          </a:p>
        </p:txBody>
      </p:sp>
      <p:sp>
        <p:nvSpPr>
          <p:cNvPr id="13" name="Text 11"/>
          <p:cNvSpPr/>
          <p:nvPr/>
        </p:nvSpPr>
        <p:spPr>
          <a:xfrm>
            <a:off x="548640" y="6355080"/>
            <a:ext cx="11091672" cy="36576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Public sources collected in docs/presentation-proof-points.md.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841248"/>
            <a:ext cx="11091672" cy="777240"/>
          </a:xfrm>
          <a:prstGeom prst="rect">
            <a:avLst/>
          </a:prstGeom>
          <a:noFill/>
          <a:ln/>
        </p:spPr>
        <p:txBody>
          <a:bodyPr wrap="square" lIns="0" tIns="0" rIns="0" bIns="0" rtlCol="0" anchor="ctr"/>
          <a:lstStyle/>
          <a:p>
            <a:pPr algn="l" indent="0" marL="0">
              <a:buNone/>
            </a:pPr>
            <a:r>
              <a:rPr lang="en-US" sz="3000" b="1" dirty="0">
                <a:solidFill>
                  <a:srgbClr val="4D148C"/>
                </a:solidFill>
                <a:latin typeface="Trebuchet MS" pitchFamily="34" charset="0"/>
                <a:ea typeface="Trebuchet MS" pitchFamily="34" charset="-122"/>
                <a:cs typeface="Trebuchet MS" pitchFamily="34" charset="-120"/>
              </a:rPr>
              <a:t>The Daily Reality It Helps</a:t>
            </a:r>
            <a:endParaRPr lang="en-US" sz="3000" dirty="0"/>
          </a:p>
        </p:txBody>
      </p:sp>
      <p:sp>
        <p:nvSpPr>
          <p:cNvPr id="3" name="Text 1"/>
          <p:cNvSpPr/>
          <p:nvPr/>
        </p:nvSpPr>
        <p:spPr>
          <a:xfrm>
            <a:off x="548640" y="1600200"/>
            <a:ext cx="11091672" cy="640080"/>
          </a:xfrm>
          <a:prstGeom prst="rect">
            <a:avLst/>
          </a:prstGeom>
          <a:noFill/>
          <a:ln/>
        </p:spPr>
        <p:txBody>
          <a:bodyPr wrap="square" lIns="0" tIns="0" rIns="0" bIns="0" rtlCol="0" anchor="t"/>
          <a:lstStyle/>
          <a:p>
            <a:pPr algn="l" indent="0" marL="0">
              <a:buNone/>
            </a:pPr>
            <a:r>
              <a:rPr lang="en-US" sz="1500" dirty="0">
                <a:solidFill>
                  <a:srgbClr val="1A1D23"/>
                </a:solidFill>
                <a:latin typeface="Calibri" pitchFamily="34" charset="0"/>
                <a:ea typeface="Calibri" pitchFamily="34" charset="-122"/>
                <a:cs typeface="Calibri" pitchFamily="34" charset="-120"/>
              </a:rPr>
              <a:t>AI is not abstract here. It removes friction from the work your managers already do every shift — at every station in your district.</a:t>
            </a:r>
            <a:endParaRPr lang="en-US" sz="1500" dirty="0"/>
          </a:p>
        </p:txBody>
      </p:sp>
      <p:sp>
        <p:nvSpPr>
          <p:cNvPr id="4" name="Shape 2"/>
          <p:cNvSpPr/>
          <p:nvPr/>
        </p:nvSpPr>
        <p:spPr>
          <a:xfrm>
            <a:off x="548640" y="2377440"/>
            <a:ext cx="3483864" cy="2240280"/>
          </a:xfrm>
          <a:prstGeom prst="roundRect">
            <a:avLst>
              <a:gd name="adj" fmla="val 3265"/>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5" name="Text 3"/>
          <p:cNvSpPr/>
          <p:nvPr/>
        </p:nvSpPr>
        <p:spPr>
          <a:xfrm>
            <a:off x="749808" y="2560320"/>
            <a:ext cx="3081528" cy="1874520"/>
          </a:xfrm>
          <a:prstGeom prst="rect">
            <a:avLst/>
          </a:prstGeom>
          <a:noFill/>
          <a:ln/>
        </p:spPr>
        <p:txBody>
          <a:bodyPr wrap="square" lIns="0" tIns="0" rIns="0" bIns="0" rtlCol="0" anchor="t"/>
          <a:lstStyle/>
          <a:p>
            <a:pPr algn="l" indent="0" marL="0">
              <a:lnSpc>
                <a:spcPct val="105000"/>
              </a:lnSpc>
              <a:spcAft>
                <a:spcPts val="600"/>
              </a:spcAft>
              <a:buNone/>
            </a:pPr>
            <a:r>
              <a:rPr lang="en-US" sz="1450" b="1" dirty="0">
                <a:solidFill>
                  <a:srgbClr val="4D148C"/>
                </a:solidFill>
                <a:latin typeface="Calibri" pitchFamily="34" charset="0"/>
                <a:ea typeface="Calibri" pitchFamily="34" charset="-122"/>
                <a:cs typeface="Calibri" pitchFamily="34" charset="-120"/>
              </a:rPr>
              <a:t>Before the shift</a:t>
            </a:r>
            <a:endParaRPr lang="en-US" sz="1450" dirty="0"/>
          </a:p>
          <a:p>
            <a:pPr algn="l" indent="0" marL="0">
              <a:lnSpc>
                <a:spcPct val="105000"/>
              </a:lnSpc>
              <a:spcAft>
                <a:spcPts val="600"/>
              </a:spcAft>
              <a:buNone/>
            </a:pPr>
            <a:r>
              <a:rPr lang="en-US" sz="1200" dirty="0">
                <a:solidFill>
                  <a:srgbClr val="6B7280"/>
                </a:solidFill>
                <a:latin typeface="Calibri" pitchFamily="34" charset="0"/>
                <a:ea typeface="Calibri" pitchFamily="34" charset="-122"/>
                <a:cs typeface="Calibri" pitchFamily="34" charset="-120"/>
              </a:rPr>
              <a:t>Pull public weather and road signals, then draft a pre-shift huddle and safety note in minutes instead of scrolling five tabs.</a:t>
            </a:r>
            <a:endParaRPr lang="en-US" sz="1450" dirty="0"/>
          </a:p>
        </p:txBody>
      </p:sp>
      <p:sp>
        <p:nvSpPr>
          <p:cNvPr id="6" name="Shape 4"/>
          <p:cNvSpPr/>
          <p:nvPr/>
        </p:nvSpPr>
        <p:spPr>
          <a:xfrm>
            <a:off x="4352544" y="2377440"/>
            <a:ext cx="3483864" cy="2240280"/>
          </a:xfrm>
          <a:prstGeom prst="roundRect">
            <a:avLst>
              <a:gd name="adj" fmla="val 3265"/>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7" name="Text 5"/>
          <p:cNvSpPr/>
          <p:nvPr/>
        </p:nvSpPr>
        <p:spPr>
          <a:xfrm>
            <a:off x="4553712" y="2560320"/>
            <a:ext cx="3081528" cy="1874520"/>
          </a:xfrm>
          <a:prstGeom prst="rect">
            <a:avLst/>
          </a:prstGeom>
          <a:noFill/>
          <a:ln/>
        </p:spPr>
        <p:txBody>
          <a:bodyPr wrap="square" lIns="0" tIns="0" rIns="0" bIns="0" rtlCol="0" anchor="t"/>
          <a:lstStyle/>
          <a:p>
            <a:pPr algn="l" indent="0" marL="0">
              <a:lnSpc>
                <a:spcPct val="105000"/>
              </a:lnSpc>
              <a:spcAft>
                <a:spcPts val="600"/>
              </a:spcAft>
              <a:buNone/>
            </a:pPr>
            <a:r>
              <a:rPr lang="en-US" sz="1450" b="1" dirty="0">
                <a:solidFill>
                  <a:srgbClr val="4D148C"/>
                </a:solidFill>
                <a:latin typeface="Calibri" pitchFamily="34" charset="0"/>
                <a:ea typeface="Calibri" pitchFamily="34" charset="-122"/>
                <a:cs typeface="Calibri" pitchFamily="34" charset="-120"/>
              </a:rPr>
              <a:t>During the shift</a:t>
            </a:r>
            <a:endParaRPr lang="en-US" sz="1450" dirty="0"/>
          </a:p>
          <a:p>
            <a:pPr algn="l" indent="0" marL="0">
              <a:lnSpc>
                <a:spcPct val="105000"/>
              </a:lnSpc>
              <a:spcAft>
                <a:spcPts val="600"/>
              </a:spcAft>
              <a:buNone/>
            </a:pPr>
            <a:r>
              <a:rPr lang="en-US" sz="1200" dirty="0">
                <a:solidFill>
                  <a:srgbClr val="6B7280"/>
                </a:solidFill>
                <a:latin typeface="Calibri" pitchFamily="34" charset="0"/>
                <a:ea typeface="Calibri" pitchFamily="34" charset="-122"/>
                <a:cs typeface="Calibri" pitchFamily="34" charset="-120"/>
              </a:rPr>
              <a:t>Turn a messy escalation into a clear handoff, summarize a metric spike, or rough out a customer service alert.</a:t>
            </a:r>
            <a:endParaRPr lang="en-US" sz="1450" dirty="0"/>
          </a:p>
        </p:txBody>
      </p:sp>
      <p:sp>
        <p:nvSpPr>
          <p:cNvPr id="8" name="Shape 6"/>
          <p:cNvSpPr/>
          <p:nvPr/>
        </p:nvSpPr>
        <p:spPr>
          <a:xfrm>
            <a:off x="8156448" y="2377440"/>
            <a:ext cx="3483864" cy="2240280"/>
          </a:xfrm>
          <a:prstGeom prst="roundRect">
            <a:avLst>
              <a:gd name="adj" fmla="val 3265"/>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9" name="Text 7"/>
          <p:cNvSpPr/>
          <p:nvPr/>
        </p:nvSpPr>
        <p:spPr>
          <a:xfrm>
            <a:off x="8357616" y="2560320"/>
            <a:ext cx="3081528" cy="1874520"/>
          </a:xfrm>
          <a:prstGeom prst="rect">
            <a:avLst/>
          </a:prstGeom>
          <a:noFill/>
          <a:ln/>
        </p:spPr>
        <p:txBody>
          <a:bodyPr wrap="square" lIns="0" tIns="0" rIns="0" bIns="0" rtlCol="0" anchor="t"/>
          <a:lstStyle/>
          <a:p>
            <a:pPr algn="l" indent="0" marL="0">
              <a:lnSpc>
                <a:spcPct val="105000"/>
              </a:lnSpc>
              <a:spcAft>
                <a:spcPts val="600"/>
              </a:spcAft>
              <a:buNone/>
            </a:pPr>
            <a:r>
              <a:rPr lang="en-US" sz="1450" b="1" dirty="0">
                <a:solidFill>
                  <a:srgbClr val="4D148C"/>
                </a:solidFill>
                <a:latin typeface="Calibri" pitchFamily="34" charset="0"/>
                <a:ea typeface="Calibri" pitchFamily="34" charset="-122"/>
                <a:cs typeface="Calibri" pitchFamily="34" charset="-120"/>
              </a:rPr>
              <a:t>After the shift</a:t>
            </a:r>
            <a:endParaRPr lang="en-US" sz="1450" dirty="0"/>
          </a:p>
          <a:p>
            <a:pPr algn="l" indent="0" marL="0">
              <a:lnSpc>
                <a:spcPct val="105000"/>
              </a:lnSpc>
              <a:spcAft>
                <a:spcPts val="600"/>
              </a:spcAft>
              <a:buNone/>
            </a:pPr>
            <a:r>
              <a:rPr lang="en-US" sz="1200" dirty="0">
                <a:solidFill>
                  <a:srgbClr val="6B7280"/>
                </a:solidFill>
                <a:latin typeface="Calibri" pitchFamily="34" charset="0"/>
                <a:ea typeface="Calibri" pitchFamily="34" charset="-122"/>
                <a:cs typeface="Calibri" pitchFamily="34" charset="-120"/>
              </a:rPr>
              <a:t>Draft an after-action review, a near-miss report, or an executive update the manager edits and owns.</a:t>
            </a:r>
            <a:endParaRPr lang="en-US" sz="1450" dirty="0"/>
          </a:p>
        </p:txBody>
      </p:sp>
      <p:sp>
        <p:nvSpPr>
          <p:cNvPr id="10" name="Shape 8"/>
          <p:cNvSpPr/>
          <p:nvPr/>
        </p:nvSpPr>
        <p:spPr>
          <a:xfrm>
            <a:off x="548640" y="4983480"/>
            <a:ext cx="11091672" cy="841248"/>
          </a:xfrm>
          <a:prstGeom prst="roundRect">
            <a:avLst>
              <a:gd name="adj" fmla="val 6522"/>
            </a:avLst>
          </a:prstGeom>
          <a:solidFill>
            <a:srgbClr val="F4ECFC"/>
          </a:solidFill>
          <a:ln w="12700">
            <a:solidFill>
              <a:srgbClr val="E7D9FB"/>
            </a:solidFill>
            <a:prstDash val="solid"/>
          </a:ln>
        </p:spPr>
      </p:sp>
      <p:sp>
        <p:nvSpPr>
          <p:cNvPr id="11" name="Shape 9"/>
          <p:cNvSpPr/>
          <p:nvPr/>
        </p:nvSpPr>
        <p:spPr>
          <a:xfrm>
            <a:off x="548640" y="4983480"/>
            <a:ext cx="73152" cy="841248"/>
          </a:xfrm>
          <a:prstGeom prst="rect">
            <a:avLst/>
          </a:prstGeom>
          <a:solidFill>
            <a:srgbClr val="4D148C"/>
          </a:solidFill>
          <a:ln/>
        </p:spPr>
      </p:sp>
      <p:sp>
        <p:nvSpPr>
          <p:cNvPr id="12" name="Text 10"/>
          <p:cNvSpPr/>
          <p:nvPr/>
        </p:nvSpPr>
        <p:spPr>
          <a:xfrm>
            <a:off x="822960" y="4983480"/>
            <a:ext cx="10588752" cy="841248"/>
          </a:xfrm>
          <a:prstGeom prst="rect">
            <a:avLst/>
          </a:prstGeom>
          <a:noFill/>
          <a:ln/>
        </p:spPr>
        <p:txBody>
          <a:bodyPr wrap="square" lIns="0" tIns="0" rIns="0" bIns="0" rtlCol="0" anchor="ctr"/>
          <a:lstStyle/>
          <a:p>
            <a:pPr algn="l" indent="0" marL="0">
              <a:lnSpc>
                <a:spcPct val="105000"/>
              </a:lnSpc>
              <a:buNone/>
            </a:pPr>
            <a:r>
              <a:rPr lang="en-US" sz="1300" b="1" dirty="0">
                <a:solidFill>
                  <a:srgbClr val="4D148C"/>
                </a:solidFill>
                <a:latin typeface="Calibri" pitchFamily="34" charset="0"/>
                <a:ea typeface="Calibri" pitchFamily="34" charset="-122"/>
                <a:cs typeface="Calibri" pitchFamily="34" charset="-120"/>
              </a:rPr>
              <a:t>For a district:  </a:t>
            </a:r>
            <a:pPr algn="l" indent="0" marL="0">
              <a:lnSpc>
                <a:spcPct val="105000"/>
              </a:lnSpc>
              <a:buNone/>
            </a:pPr>
            <a:r>
              <a:rPr lang="en-US" sz="1300" dirty="0">
                <a:solidFill>
                  <a:srgbClr val="1A1D23"/>
                </a:solidFill>
                <a:latin typeface="Calibri" pitchFamily="34" charset="0"/>
                <a:ea typeface="Calibri" pitchFamily="34" charset="-122"/>
                <a:cs typeface="Calibri" pitchFamily="34" charset="-120"/>
              </a:rPr>
              <a:t>small daily time savings, multiplied across every manager and station, add up to hours of reclaimed capacity each week — without changing a single operational decision.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841248"/>
            <a:ext cx="11091672" cy="777240"/>
          </a:xfrm>
          <a:prstGeom prst="rect">
            <a:avLst/>
          </a:prstGeom>
          <a:noFill/>
          <a:ln/>
        </p:spPr>
        <p:txBody>
          <a:bodyPr wrap="square" lIns="0" tIns="0" rIns="0" bIns="0" rtlCol="0" anchor="ctr"/>
          <a:lstStyle/>
          <a:p>
            <a:pPr algn="l" indent="0" marL="0">
              <a:buNone/>
            </a:pPr>
            <a:r>
              <a:rPr lang="en-US" sz="3000" b="1" dirty="0">
                <a:solidFill>
                  <a:srgbClr val="4D148C"/>
                </a:solidFill>
                <a:latin typeface="Trebuchet MS" pitchFamily="34" charset="0"/>
                <a:ea typeface="Trebuchet MS" pitchFamily="34" charset="-122"/>
                <a:cs typeface="Trebuchet MS" pitchFamily="34" charset="-120"/>
              </a:rPr>
              <a:t>What It Is</a:t>
            </a:r>
            <a:endParaRPr lang="en-US" sz="3000" dirty="0"/>
          </a:p>
        </p:txBody>
      </p:sp>
      <p:sp>
        <p:nvSpPr>
          <p:cNvPr id="3" name="Text 1"/>
          <p:cNvSpPr/>
          <p:nvPr/>
        </p:nvSpPr>
        <p:spPr>
          <a:xfrm>
            <a:off x="548640" y="1600200"/>
            <a:ext cx="11091672" cy="640080"/>
          </a:xfrm>
          <a:prstGeom prst="rect">
            <a:avLst/>
          </a:prstGeom>
          <a:noFill/>
          <a:ln/>
        </p:spPr>
        <p:txBody>
          <a:bodyPr wrap="square" lIns="0" tIns="0" rIns="0" bIns="0" rtlCol="0" anchor="t"/>
          <a:lstStyle/>
          <a:p>
            <a:pPr algn="l" indent="0" marL="0">
              <a:buNone/>
            </a:pPr>
            <a:r>
              <a:rPr lang="en-US" sz="1500" dirty="0">
                <a:solidFill>
                  <a:srgbClr val="1A1D23"/>
                </a:solidFill>
                <a:latin typeface="Calibri" pitchFamily="34" charset="0"/>
                <a:ea typeface="Calibri" pitchFamily="34" charset="-122"/>
                <a:cs typeface="Calibri" pitchFamily="34" charset="-120"/>
              </a:rPr>
              <a:t>One clean hub your whole district can pull from, with three plain entry points:</a:t>
            </a:r>
            <a:endParaRPr lang="en-US" sz="1500" dirty="0"/>
          </a:p>
        </p:txBody>
      </p:sp>
      <p:sp>
        <p:nvSpPr>
          <p:cNvPr id="4" name="Shape 2"/>
          <p:cNvSpPr/>
          <p:nvPr/>
        </p:nvSpPr>
        <p:spPr>
          <a:xfrm>
            <a:off x="548640" y="2377440"/>
            <a:ext cx="3483864" cy="2240280"/>
          </a:xfrm>
          <a:prstGeom prst="roundRect">
            <a:avLst>
              <a:gd name="adj" fmla="val 3265"/>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5" name="Text 3"/>
          <p:cNvSpPr/>
          <p:nvPr/>
        </p:nvSpPr>
        <p:spPr>
          <a:xfrm>
            <a:off x="749808" y="2560320"/>
            <a:ext cx="3081528" cy="1874520"/>
          </a:xfrm>
          <a:prstGeom prst="rect">
            <a:avLst/>
          </a:prstGeom>
          <a:noFill/>
          <a:ln/>
        </p:spPr>
        <p:txBody>
          <a:bodyPr wrap="square" lIns="0" tIns="0" rIns="0" bIns="0" rtlCol="0" anchor="t"/>
          <a:lstStyle/>
          <a:p>
            <a:pPr algn="l" indent="0" marL="0">
              <a:lnSpc>
                <a:spcPct val="105000"/>
              </a:lnSpc>
              <a:spcAft>
                <a:spcPts val="600"/>
              </a:spcAft>
              <a:buNone/>
            </a:pPr>
            <a:r>
              <a:rPr lang="en-US" sz="1450" b="1" dirty="0">
                <a:solidFill>
                  <a:srgbClr val="4D148C"/>
                </a:solidFill>
                <a:latin typeface="Calibri" pitchFamily="34" charset="0"/>
                <a:ea typeface="Calibri" pitchFamily="34" charset="-122"/>
                <a:cs typeface="Calibri" pitchFamily="34" charset="-120"/>
              </a:rPr>
              <a:t>For your managers</a:t>
            </a:r>
            <a:endParaRPr lang="en-US" sz="1450" dirty="0"/>
          </a:p>
          <a:p>
            <a:pPr algn="l" indent="0" marL="0">
              <a:lnSpc>
                <a:spcPct val="105000"/>
              </a:lnSpc>
              <a:spcAft>
                <a:spcPts val="600"/>
              </a:spcAft>
              <a:buNone/>
            </a:pPr>
            <a:r>
              <a:rPr lang="en-US" sz="1200" dirty="0">
                <a:solidFill>
                  <a:srgbClr val="6B7280"/>
                </a:solidFill>
                <a:latin typeface="Calibri" pitchFamily="34" charset="0"/>
                <a:ea typeface="Calibri" pitchFamily="34" charset="-122"/>
                <a:cs typeface="Calibri" pitchFamily="34" charset="-120"/>
              </a:rPr>
              <a:t>Ready-to-use prompts and a daily playbook for shift briefs, safety memos, peak planning, and customer notes. Nothing to install — copy, paste, edit, done.</a:t>
            </a:r>
            <a:endParaRPr lang="en-US" sz="1450" dirty="0"/>
          </a:p>
        </p:txBody>
      </p:sp>
      <p:sp>
        <p:nvSpPr>
          <p:cNvPr id="6" name="Shape 4"/>
          <p:cNvSpPr/>
          <p:nvPr/>
        </p:nvSpPr>
        <p:spPr>
          <a:xfrm>
            <a:off x="4352544" y="2377440"/>
            <a:ext cx="3483864" cy="2240280"/>
          </a:xfrm>
          <a:prstGeom prst="roundRect">
            <a:avLst>
              <a:gd name="adj" fmla="val 3265"/>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7" name="Text 5"/>
          <p:cNvSpPr/>
          <p:nvPr/>
        </p:nvSpPr>
        <p:spPr>
          <a:xfrm>
            <a:off x="4553712" y="2560320"/>
            <a:ext cx="3081528" cy="1874520"/>
          </a:xfrm>
          <a:prstGeom prst="rect">
            <a:avLst/>
          </a:prstGeom>
          <a:noFill/>
          <a:ln/>
        </p:spPr>
        <p:txBody>
          <a:bodyPr wrap="square" lIns="0" tIns="0" rIns="0" bIns="0" rtlCol="0" anchor="t"/>
          <a:lstStyle/>
          <a:p>
            <a:pPr algn="l" indent="0" marL="0">
              <a:lnSpc>
                <a:spcPct val="105000"/>
              </a:lnSpc>
              <a:spcAft>
                <a:spcPts val="600"/>
              </a:spcAft>
              <a:buNone/>
            </a:pPr>
            <a:r>
              <a:rPr lang="en-US" sz="1450" b="1" dirty="0">
                <a:solidFill>
                  <a:srgbClr val="4D148C"/>
                </a:solidFill>
                <a:latin typeface="Calibri" pitchFamily="34" charset="0"/>
                <a:ea typeface="Calibri" pitchFamily="34" charset="-122"/>
                <a:cs typeface="Calibri" pitchFamily="34" charset="-120"/>
              </a:rPr>
              <a:t>For a first pilot</a:t>
            </a:r>
            <a:endParaRPr lang="en-US" sz="1450" dirty="0"/>
          </a:p>
          <a:p>
            <a:pPr algn="l" indent="0" marL="0">
              <a:lnSpc>
                <a:spcPct val="105000"/>
              </a:lnSpc>
              <a:spcAft>
                <a:spcPts val="600"/>
              </a:spcAft>
              <a:buNone/>
            </a:pPr>
            <a:r>
              <a:rPr lang="en-US" sz="1200" dirty="0">
                <a:solidFill>
                  <a:srgbClr val="6B7280"/>
                </a:solidFill>
                <a:latin typeface="Calibri" pitchFamily="34" charset="0"/>
                <a:ea typeface="Calibri" pitchFamily="34" charset="-122"/>
                <a:cs typeface="Calibri" pitchFamily="34" charset="-120"/>
              </a:rPr>
              <a:t>A live demo tool and starter projects your team can try today — using only public or made-up data, never FedEx data.</a:t>
            </a:r>
            <a:endParaRPr lang="en-US" sz="1450" dirty="0"/>
          </a:p>
        </p:txBody>
      </p:sp>
      <p:sp>
        <p:nvSpPr>
          <p:cNvPr id="8" name="Shape 6"/>
          <p:cNvSpPr/>
          <p:nvPr/>
        </p:nvSpPr>
        <p:spPr>
          <a:xfrm>
            <a:off x="8156448" y="2377440"/>
            <a:ext cx="3483864" cy="2240280"/>
          </a:xfrm>
          <a:prstGeom prst="roundRect">
            <a:avLst>
              <a:gd name="adj" fmla="val 3265"/>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9" name="Text 7"/>
          <p:cNvSpPr/>
          <p:nvPr/>
        </p:nvSpPr>
        <p:spPr>
          <a:xfrm>
            <a:off x="8357616" y="2560320"/>
            <a:ext cx="3081528" cy="1874520"/>
          </a:xfrm>
          <a:prstGeom prst="rect">
            <a:avLst/>
          </a:prstGeom>
          <a:noFill/>
          <a:ln/>
        </p:spPr>
        <p:txBody>
          <a:bodyPr wrap="square" lIns="0" tIns="0" rIns="0" bIns="0" rtlCol="0" anchor="t"/>
          <a:lstStyle/>
          <a:p>
            <a:pPr algn="l" indent="0" marL="0">
              <a:lnSpc>
                <a:spcPct val="105000"/>
              </a:lnSpc>
              <a:spcAft>
                <a:spcPts val="600"/>
              </a:spcAft>
              <a:buNone/>
            </a:pPr>
            <a:r>
              <a:rPr lang="en-US" sz="1450" b="1" dirty="0">
                <a:solidFill>
                  <a:srgbClr val="4D148C"/>
                </a:solidFill>
                <a:latin typeface="Calibri" pitchFamily="34" charset="0"/>
                <a:ea typeface="Calibri" pitchFamily="34" charset="-122"/>
                <a:cs typeface="Calibri" pitchFamily="34" charset="-120"/>
              </a:rPr>
              <a:t>For governance</a:t>
            </a:r>
            <a:endParaRPr lang="en-US" sz="1450" dirty="0"/>
          </a:p>
          <a:p>
            <a:pPr algn="l" indent="0" marL="0">
              <a:lnSpc>
                <a:spcPct val="105000"/>
              </a:lnSpc>
              <a:spcAft>
                <a:spcPts val="600"/>
              </a:spcAft>
              <a:buNone/>
            </a:pPr>
            <a:r>
              <a:rPr lang="en-US" sz="1200" dirty="0">
                <a:solidFill>
                  <a:srgbClr val="6B7280"/>
                </a:solidFill>
                <a:latin typeface="Calibri" pitchFamily="34" charset="0"/>
                <a:ea typeface="Calibri" pitchFamily="34" charset="-122"/>
                <a:cs typeface="Calibri" pitchFamily="34" charset="-120"/>
              </a:rPr>
              <a:t>Review checklists, pilot templates, and clear data boundaries, so IT, legal, and compliance can sign off with confidence.</a:t>
            </a:r>
            <a:endParaRPr lang="en-US" sz="1450" dirty="0"/>
          </a:p>
        </p:txBody>
      </p:sp>
      <p:sp>
        <p:nvSpPr>
          <p:cNvPr id="10" name="Shape 8"/>
          <p:cNvSpPr/>
          <p:nvPr/>
        </p:nvSpPr>
        <p:spPr>
          <a:xfrm>
            <a:off x="548640" y="4983480"/>
            <a:ext cx="11091672" cy="841248"/>
          </a:xfrm>
          <a:prstGeom prst="roundRect">
            <a:avLst>
              <a:gd name="adj" fmla="val 6522"/>
            </a:avLst>
          </a:prstGeom>
          <a:solidFill>
            <a:srgbClr val="F4ECFC"/>
          </a:solidFill>
          <a:ln w="12700">
            <a:solidFill>
              <a:srgbClr val="E7D9FB"/>
            </a:solidFill>
            <a:prstDash val="solid"/>
          </a:ln>
        </p:spPr>
      </p:sp>
      <p:sp>
        <p:nvSpPr>
          <p:cNvPr id="11" name="Shape 9"/>
          <p:cNvSpPr/>
          <p:nvPr/>
        </p:nvSpPr>
        <p:spPr>
          <a:xfrm>
            <a:off x="548640" y="4983480"/>
            <a:ext cx="73152" cy="841248"/>
          </a:xfrm>
          <a:prstGeom prst="rect">
            <a:avLst/>
          </a:prstGeom>
          <a:solidFill>
            <a:srgbClr val="4D148C"/>
          </a:solidFill>
          <a:ln/>
        </p:spPr>
      </p:sp>
      <p:sp>
        <p:nvSpPr>
          <p:cNvPr id="12" name="Text 10"/>
          <p:cNvSpPr/>
          <p:nvPr/>
        </p:nvSpPr>
        <p:spPr>
          <a:xfrm>
            <a:off x="822960" y="4983480"/>
            <a:ext cx="10588752" cy="841248"/>
          </a:xfrm>
          <a:prstGeom prst="rect">
            <a:avLst/>
          </a:prstGeom>
          <a:noFill/>
          <a:ln/>
        </p:spPr>
        <p:txBody>
          <a:bodyPr wrap="square" lIns="0" tIns="0" rIns="0" bIns="0" rtlCol="0" anchor="ctr"/>
          <a:lstStyle/>
          <a:p>
            <a:pPr algn="l" indent="0" marL="0">
              <a:lnSpc>
                <a:spcPct val="105000"/>
              </a:lnSpc>
              <a:buNone/>
            </a:pPr>
            <a:r>
              <a:rPr lang="en-US" sz="1300" b="1" dirty="0">
                <a:solidFill>
                  <a:srgbClr val="4D148C"/>
                </a:solidFill>
                <a:latin typeface="Calibri" pitchFamily="34" charset="0"/>
                <a:ea typeface="Calibri" pitchFamily="34" charset="-122"/>
                <a:cs typeface="Calibri" pitchFamily="34" charset="-120"/>
              </a:rPr>
              <a:t>You hold the gate:  </a:t>
            </a:r>
            <a:pPr algn="l" indent="0" marL="0">
              <a:lnSpc>
                <a:spcPct val="105000"/>
              </a:lnSpc>
              <a:buNone/>
            </a:pPr>
            <a:r>
              <a:rPr lang="en-US" sz="1300" dirty="0">
                <a:solidFill>
                  <a:srgbClr val="1A1D23"/>
                </a:solidFill>
                <a:latin typeface="Calibri" pitchFamily="34" charset="0"/>
                <a:ea typeface="Calibri" pitchFamily="34" charset="-122"/>
                <a:cs typeface="Calibri" pitchFamily="34" charset="-120"/>
              </a:rPr>
              <a:t>everything uses public or made-up (synthetic) data until FedEx formally approves more. Nothing here touches real FedEx systems.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841248"/>
            <a:ext cx="11091672" cy="777240"/>
          </a:xfrm>
          <a:prstGeom prst="rect">
            <a:avLst/>
          </a:prstGeom>
          <a:noFill/>
          <a:ln/>
        </p:spPr>
        <p:txBody>
          <a:bodyPr wrap="square" lIns="0" tIns="0" rIns="0" bIns="0" rtlCol="0" anchor="ctr"/>
          <a:lstStyle/>
          <a:p>
            <a:pPr algn="l" indent="0" marL="0">
              <a:buNone/>
            </a:pPr>
            <a:r>
              <a:rPr lang="en-US" sz="3000" b="1" dirty="0">
                <a:solidFill>
                  <a:srgbClr val="4D148C"/>
                </a:solidFill>
                <a:latin typeface="Trebuchet MS" pitchFamily="34" charset="0"/>
                <a:ea typeface="Trebuchet MS" pitchFamily="34" charset="-122"/>
                <a:cs typeface="Trebuchet MS" pitchFamily="34" charset="-120"/>
              </a:rPr>
              <a:t>Prompt Library — 51 FedEx-Specific Prompts</a:t>
            </a:r>
            <a:endParaRPr lang="en-US" sz="3000" dirty="0"/>
          </a:p>
        </p:txBody>
      </p:sp>
      <p:sp>
        <p:nvSpPr>
          <p:cNvPr id="3" name="Text 1"/>
          <p:cNvSpPr/>
          <p:nvPr/>
        </p:nvSpPr>
        <p:spPr>
          <a:xfrm>
            <a:off x="548640" y="1554480"/>
            <a:ext cx="11091672" cy="640080"/>
          </a:xfrm>
          <a:prstGeom prst="rect">
            <a:avLst/>
          </a:prstGeom>
          <a:noFill/>
          <a:ln/>
        </p:spPr>
        <p:txBody>
          <a:bodyPr wrap="square" lIns="0" tIns="0" rIns="0" bIns="0" rtlCol="0" anchor="t"/>
          <a:lstStyle/>
          <a:p>
            <a:pPr algn="l" indent="0" marL="0">
              <a:buNone/>
            </a:pPr>
            <a:r>
              <a:rPr lang="en-US" sz="1500" dirty="0">
                <a:solidFill>
                  <a:srgbClr val="1A1D23"/>
                </a:solidFill>
                <a:latin typeface="Calibri" pitchFamily="34" charset="0"/>
                <a:ea typeface="Calibri" pitchFamily="34" charset="-122"/>
                <a:cs typeface="Calibri" pitchFamily="34" charset="-120"/>
              </a:rPr>
              <a:t>Organized by what managers actually do, not by AI theory. A “prompt” is just a ready-made request your manager pastes into Gemini or ChatGPT and fills in the blanks:</a:t>
            </a:r>
            <a:endParaRPr lang="en-US" sz="1500" dirty="0"/>
          </a:p>
        </p:txBody>
      </p:sp>
      <p:sp>
        <p:nvSpPr>
          <p:cNvPr id="4" name="Text 2"/>
          <p:cNvSpPr/>
          <p:nvPr/>
        </p:nvSpPr>
        <p:spPr>
          <a:xfrm>
            <a:off x="548640" y="2514600"/>
            <a:ext cx="5120640" cy="2651760"/>
          </a:xfrm>
          <a:prstGeom prst="rect">
            <a:avLst/>
          </a:prstGeom>
          <a:noFill/>
          <a:ln/>
        </p:spPr>
        <p:txBody>
          <a:bodyPr wrap="square" lIns="0" tIns="0" rIns="0" bIns="0" rtlCol="0" anchor="t"/>
          <a:lstStyle/>
          <a:p>
            <a:pPr algn="l" marL="177800" indent="-177800">
              <a:lnSpc>
                <a:spcPct val="100000"/>
              </a:lnSpc>
              <a:spcAft>
                <a:spcPts val="400"/>
              </a:spcAft>
              <a:buSzPct val="100000"/>
              <a:buChar char="•"/>
            </a:pPr>
            <a:r>
              <a:rPr lang="en-US" sz="1300" b="1" dirty="0">
                <a:solidFill>
                  <a:srgbClr val="4D148C"/>
                </a:solidFill>
                <a:latin typeface="Calibri" pitchFamily="34" charset="0"/>
                <a:ea typeface="Calibri" pitchFamily="34" charset="-122"/>
                <a:cs typeface="Calibri" pitchFamily="34" charset="-120"/>
              </a:rPr>
              <a:t>Daily Operations — </a:t>
            </a:r>
            <a:pPr algn="l" indent="0" marL="0">
              <a:lnSpc>
                <a:spcPct val="100000"/>
              </a:lnSpc>
              <a:spcAft>
                <a:spcPts val="400"/>
              </a:spcAft>
              <a:buNone/>
            </a:pPr>
            <a:r>
              <a:rPr lang="en-US" sz="1250" dirty="0">
                <a:solidFill>
                  <a:srgbClr val="1A1D23"/>
                </a:solidFill>
                <a:latin typeface="Calibri" pitchFamily="34" charset="0"/>
                <a:ea typeface="Calibri" pitchFamily="34" charset="-122"/>
                <a:cs typeface="Calibri" pitchFamily="34" charset="-120"/>
              </a:rPr>
              <a:t>Shift briefs, handoffs, escalations, after-action reviews</a:t>
            </a:r>
            <a:endParaRPr lang="en-US" sz="1300" dirty="0"/>
          </a:p>
          <a:p>
            <a:pPr algn="l" indent="0" marL="0">
              <a:lnSpc>
                <a:spcPct val="100000"/>
              </a:lnSpc>
              <a:spcAft>
                <a:spcPts val="400"/>
              </a:spcAft>
              <a:buNone/>
            </a:pPr>
            <a:endParaRPr lang="en-US" sz="1300" dirty="0"/>
          </a:p>
          <a:p>
            <a:pPr algn="l" indent="0" marL="0">
              <a:lnSpc>
                <a:spcPct val="100000"/>
              </a:lnSpc>
              <a:spcAft>
                <a:spcPts val="400"/>
              </a:spcAft>
              <a:buNone/>
            </a:pPr>
            <a:r>
              <a:rPr lang="en-US" sz="1300" b="1" dirty="0">
                <a:solidFill>
                  <a:srgbClr val="4D148C"/>
                </a:solidFill>
                <a:latin typeface="Calibri" pitchFamily="34" charset="0"/>
                <a:ea typeface="Calibri" pitchFamily="34" charset="-122"/>
                <a:cs typeface="Calibri" pitchFamily="34" charset="-120"/>
              </a:rPr>
              <a:t>Safety &amp; Compliance — </a:t>
            </a:r>
            <a:pPr algn="l" indent="0" marL="0">
              <a:lnSpc>
                <a:spcPct val="100000"/>
              </a:lnSpc>
              <a:spcAft>
                <a:spcPts val="400"/>
              </a:spcAft>
              <a:buNone/>
            </a:pPr>
            <a:r>
              <a:rPr lang="en-US" sz="1250" dirty="0">
                <a:solidFill>
                  <a:srgbClr val="1A1D23"/>
                </a:solidFill>
                <a:latin typeface="Calibri" pitchFamily="34" charset="0"/>
                <a:ea typeface="Calibri" pitchFamily="34" charset="-122"/>
                <a:cs typeface="Calibri" pitchFamily="34" charset="-120"/>
              </a:rPr>
              <a:t>Pre-shift huddles, near-miss reports, seasonal alerts</a:t>
            </a:r>
            <a:endParaRPr lang="en-US" sz="1300" dirty="0"/>
          </a:p>
          <a:p>
            <a:pPr algn="l" indent="0" marL="0">
              <a:lnSpc>
                <a:spcPct val="100000"/>
              </a:lnSpc>
              <a:spcAft>
                <a:spcPts val="400"/>
              </a:spcAft>
              <a:buNone/>
            </a:pPr>
            <a:endParaRPr lang="en-US" sz="1300" dirty="0"/>
          </a:p>
          <a:p>
            <a:pPr algn="l" indent="0" marL="0">
              <a:lnSpc>
                <a:spcPct val="100000"/>
              </a:lnSpc>
              <a:spcAft>
                <a:spcPts val="400"/>
              </a:spcAft>
              <a:buNone/>
            </a:pPr>
            <a:r>
              <a:rPr lang="en-US" sz="1300" b="1" dirty="0">
                <a:solidFill>
                  <a:srgbClr val="4D148C"/>
                </a:solidFill>
                <a:latin typeface="Calibri" pitchFamily="34" charset="0"/>
                <a:ea typeface="Calibri" pitchFamily="34" charset="-122"/>
                <a:cs typeface="Calibri" pitchFamily="34" charset="-120"/>
              </a:rPr>
              <a:t>Peak Season &amp; Surge — </a:t>
            </a:r>
            <a:pPr algn="l" indent="0" marL="0">
              <a:lnSpc>
                <a:spcPct val="100000"/>
              </a:lnSpc>
              <a:spcAft>
                <a:spcPts val="400"/>
              </a:spcAft>
              <a:buNone/>
            </a:pPr>
            <a:r>
              <a:rPr lang="en-US" sz="1250" dirty="0">
                <a:solidFill>
                  <a:srgbClr val="1A1D23"/>
                </a:solidFill>
                <a:latin typeface="Calibri" pitchFamily="34" charset="0"/>
                <a:ea typeface="Calibri" pitchFamily="34" charset="-122"/>
                <a:cs typeface="Calibri" pitchFamily="34" charset="-120"/>
              </a:rPr>
              <a:t>Contingency plans, ISP coordination, sort hub staffing</a:t>
            </a:r>
            <a:endParaRPr lang="en-US" sz="1300" dirty="0"/>
          </a:p>
          <a:p>
            <a:pPr algn="l" indent="0" marL="0">
              <a:lnSpc>
                <a:spcPct val="100000"/>
              </a:lnSpc>
              <a:spcAft>
                <a:spcPts val="400"/>
              </a:spcAft>
              <a:buNone/>
            </a:pPr>
            <a:endParaRPr lang="en-US" sz="1300" dirty="0"/>
          </a:p>
          <a:p>
            <a:pPr algn="l" indent="0" marL="0">
              <a:lnSpc>
                <a:spcPct val="100000"/>
              </a:lnSpc>
              <a:spcAft>
                <a:spcPts val="400"/>
              </a:spcAft>
              <a:buNone/>
            </a:pPr>
            <a:r>
              <a:rPr lang="en-US" sz="1300" b="1" dirty="0">
                <a:solidFill>
                  <a:srgbClr val="4D148C"/>
                </a:solidFill>
                <a:latin typeface="Calibri" pitchFamily="34" charset="0"/>
                <a:ea typeface="Calibri" pitchFamily="34" charset="-122"/>
                <a:cs typeface="Calibri" pitchFamily="34" charset="-120"/>
              </a:rPr>
              <a:t>Meeting &amp; Communication — </a:t>
            </a:r>
            <a:pPr algn="l" indent="0" marL="0">
              <a:lnSpc>
                <a:spcPct val="100000"/>
              </a:lnSpc>
              <a:spcAft>
                <a:spcPts val="400"/>
              </a:spcAft>
              <a:buNone/>
            </a:pPr>
            <a:r>
              <a:rPr lang="en-US" sz="1250" dirty="0">
                <a:solidFill>
                  <a:srgbClr val="1A1D23"/>
                </a:solidFill>
                <a:latin typeface="Calibri" pitchFamily="34" charset="0"/>
                <a:ea typeface="Calibri" pitchFamily="34" charset="-122"/>
                <a:cs typeface="Calibri" pitchFamily="34" charset="-120"/>
              </a:rPr>
              <a:t>Agendas, action items, emails, executive updates</a:t>
            </a:r>
            <a:endParaRPr lang="en-US" sz="1300" dirty="0"/>
          </a:p>
          <a:p>
            <a:pPr algn="l" indent="0" marL="0">
              <a:lnSpc>
                <a:spcPct val="100000"/>
              </a:lnSpc>
              <a:spcAft>
                <a:spcPts val="400"/>
              </a:spcAft>
              <a:buNone/>
            </a:pPr>
            <a:endParaRPr lang="en-US" sz="1300" dirty="0"/>
          </a:p>
        </p:txBody>
      </p:sp>
      <p:sp>
        <p:nvSpPr>
          <p:cNvPr id="5" name="Text 3"/>
          <p:cNvSpPr/>
          <p:nvPr/>
        </p:nvSpPr>
        <p:spPr>
          <a:xfrm>
            <a:off x="6217920" y="2514600"/>
            <a:ext cx="5120640" cy="2651760"/>
          </a:xfrm>
          <a:prstGeom prst="rect">
            <a:avLst/>
          </a:prstGeom>
          <a:noFill/>
          <a:ln/>
        </p:spPr>
        <p:txBody>
          <a:bodyPr wrap="square" lIns="0" tIns="0" rIns="0" bIns="0" rtlCol="0" anchor="t"/>
          <a:lstStyle/>
          <a:p>
            <a:pPr algn="l" marL="177800" indent="-177800">
              <a:lnSpc>
                <a:spcPct val="100000"/>
              </a:lnSpc>
              <a:spcAft>
                <a:spcPts val="400"/>
              </a:spcAft>
              <a:buSzPct val="100000"/>
              <a:buChar char="•"/>
            </a:pPr>
            <a:r>
              <a:rPr lang="en-US" sz="1300" b="1" dirty="0">
                <a:solidFill>
                  <a:srgbClr val="4D148C"/>
                </a:solidFill>
                <a:latin typeface="Calibri" pitchFamily="34" charset="0"/>
                <a:ea typeface="Calibri" pitchFamily="34" charset="-122"/>
                <a:cs typeface="Calibri" pitchFamily="34" charset="-120"/>
              </a:rPr>
              <a:t>Customer &amp; Contractor — </a:t>
            </a:r>
            <a:pPr algn="l" indent="0" marL="0">
              <a:lnSpc>
                <a:spcPct val="100000"/>
              </a:lnSpc>
              <a:spcAft>
                <a:spcPts val="400"/>
              </a:spcAft>
              <a:buNone/>
            </a:pPr>
            <a:r>
              <a:rPr lang="en-US" sz="1250" dirty="0">
                <a:solidFill>
                  <a:srgbClr val="1A1D23"/>
                </a:solidFill>
                <a:latin typeface="Calibri" pitchFamily="34" charset="0"/>
                <a:ea typeface="Calibri" pitchFamily="34" charset="-122"/>
                <a:cs typeface="Calibri" pitchFamily="34" charset="-120"/>
              </a:rPr>
              <a:t>Service alerts, escalation responses, team recognition</a:t>
            </a:r>
            <a:endParaRPr lang="en-US" sz="1300" dirty="0"/>
          </a:p>
          <a:p>
            <a:pPr algn="l" indent="0" marL="0">
              <a:lnSpc>
                <a:spcPct val="100000"/>
              </a:lnSpc>
              <a:spcAft>
                <a:spcPts val="400"/>
              </a:spcAft>
              <a:buNone/>
            </a:pPr>
            <a:endParaRPr lang="en-US" sz="1300" dirty="0"/>
          </a:p>
          <a:p>
            <a:pPr algn="l" indent="0" marL="0">
              <a:lnSpc>
                <a:spcPct val="100000"/>
              </a:lnSpc>
              <a:spcAft>
                <a:spcPts val="400"/>
              </a:spcAft>
              <a:buNone/>
            </a:pPr>
            <a:r>
              <a:rPr lang="en-US" sz="1300" b="1" dirty="0">
                <a:solidFill>
                  <a:srgbClr val="4D148C"/>
                </a:solidFill>
                <a:latin typeface="Calibri" pitchFamily="34" charset="0"/>
                <a:ea typeface="Calibri" pitchFamily="34" charset="-122"/>
                <a:cs typeface="Calibri" pitchFamily="34" charset="-120"/>
              </a:rPr>
              <a:t>Linehaul &amp; Routing — </a:t>
            </a:r>
            <a:pPr algn="l" indent="0" marL="0">
              <a:lnSpc>
                <a:spcPct val="100000"/>
              </a:lnSpc>
              <a:spcAft>
                <a:spcPts val="400"/>
              </a:spcAft>
              <a:buNone/>
            </a:pPr>
            <a:r>
              <a:rPr lang="en-US" sz="1250" dirty="0">
                <a:solidFill>
                  <a:srgbClr val="1A1D23"/>
                </a:solidFill>
                <a:latin typeface="Calibri" pitchFamily="34" charset="0"/>
                <a:ea typeface="Calibri" pitchFamily="34" charset="-122"/>
                <a:cs typeface="Calibri" pitchFamily="34" charset="-120"/>
              </a:rPr>
              <a:t>Feeder delays, alternate routing, yard management</a:t>
            </a:r>
            <a:endParaRPr lang="en-US" sz="1300" dirty="0"/>
          </a:p>
          <a:p>
            <a:pPr algn="l" indent="0" marL="0">
              <a:lnSpc>
                <a:spcPct val="100000"/>
              </a:lnSpc>
              <a:spcAft>
                <a:spcPts val="400"/>
              </a:spcAft>
              <a:buNone/>
            </a:pPr>
            <a:endParaRPr lang="en-US" sz="1300" dirty="0"/>
          </a:p>
          <a:p>
            <a:pPr algn="l" indent="0" marL="0">
              <a:lnSpc>
                <a:spcPct val="100000"/>
              </a:lnSpc>
              <a:spcAft>
                <a:spcPts val="400"/>
              </a:spcAft>
              <a:buNone/>
            </a:pPr>
            <a:r>
              <a:rPr lang="en-US" sz="1300" b="1" dirty="0">
                <a:solidFill>
                  <a:srgbClr val="4D148C"/>
                </a:solidFill>
                <a:latin typeface="Calibri" pitchFamily="34" charset="0"/>
                <a:ea typeface="Calibri" pitchFamily="34" charset="-122"/>
                <a:cs typeface="Calibri" pitchFamily="34" charset="-120"/>
              </a:rPr>
              <a:t>Process Improvement — </a:t>
            </a:r>
            <a:pPr algn="l" indent="0" marL="0">
              <a:lnSpc>
                <a:spcPct val="100000"/>
              </a:lnSpc>
              <a:spcAft>
                <a:spcPts val="400"/>
              </a:spcAft>
              <a:buNone/>
            </a:pPr>
            <a:r>
              <a:rPr lang="en-US" sz="1250" dirty="0">
                <a:solidFill>
                  <a:srgbClr val="1A1D23"/>
                </a:solidFill>
                <a:latin typeface="Calibri" pitchFamily="34" charset="0"/>
                <a:ea typeface="Calibri" pitchFamily="34" charset="-122"/>
                <a:cs typeface="Calibri" pitchFamily="34" charset="-120"/>
              </a:rPr>
              <a:t>Root cause analysis, improvement proposals</a:t>
            </a:r>
            <a:endParaRPr lang="en-US" sz="1300" dirty="0"/>
          </a:p>
          <a:p>
            <a:pPr algn="l" indent="0" marL="0">
              <a:lnSpc>
                <a:spcPct val="100000"/>
              </a:lnSpc>
              <a:spcAft>
                <a:spcPts val="400"/>
              </a:spcAft>
              <a:buNone/>
            </a:pPr>
            <a:endParaRPr lang="en-US" sz="1300" dirty="0"/>
          </a:p>
          <a:p>
            <a:pPr algn="l" indent="0" marL="0">
              <a:lnSpc>
                <a:spcPct val="100000"/>
              </a:lnSpc>
              <a:spcAft>
                <a:spcPts val="400"/>
              </a:spcAft>
              <a:buNone/>
            </a:pPr>
            <a:r>
              <a:rPr lang="en-US" sz="1300" b="1" dirty="0">
                <a:solidFill>
                  <a:srgbClr val="4D148C"/>
                </a:solidFill>
                <a:latin typeface="Calibri" pitchFamily="34" charset="0"/>
                <a:ea typeface="Calibri" pitchFamily="34" charset="-122"/>
                <a:cs typeface="Calibri" pitchFamily="34" charset="-120"/>
              </a:rPr>
              <a:t>Data &amp; Reporting — </a:t>
            </a:r>
            <a:pPr algn="l" indent="0" marL="0">
              <a:lnSpc>
                <a:spcPct val="100000"/>
              </a:lnSpc>
              <a:spcAft>
                <a:spcPts val="400"/>
              </a:spcAft>
              <a:buNone/>
            </a:pPr>
            <a:r>
              <a:rPr lang="en-US" sz="1250" dirty="0">
                <a:solidFill>
                  <a:srgbClr val="1A1D23"/>
                </a:solidFill>
                <a:latin typeface="Calibri" pitchFamily="34" charset="0"/>
                <a:ea typeface="Calibri" pitchFamily="34" charset="-122"/>
                <a:cs typeface="Calibri" pitchFamily="34" charset="-120"/>
              </a:rPr>
              <a:t>Metrics summaries, trend explanations</a:t>
            </a:r>
            <a:endParaRPr lang="en-US" sz="1300" dirty="0"/>
          </a:p>
          <a:p>
            <a:pPr algn="l" indent="0" marL="0">
              <a:lnSpc>
                <a:spcPct val="100000"/>
              </a:lnSpc>
              <a:spcAft>
                <a:spcPts val="400"/>
              </a:spcAft>
              <a:buNone/>
            </a:pPr>
            <a:endParaRPr lang="en-US" sz="1300" dirty="0"/>
          </a:p>
        </p:txBody>
      </p:sp>
      <p:sp>
        <p:nvSpPr>
          <p:cNvPr id="6" name="Text 4"/>
          <p:cNvSpPr/>
          <p:nvPr/>
        </p:nvSpPr>
        <p:spPr>
          <a:xfrm>
            <a:off x="548640" y="6355080"/>
            <a:ext cx="11091672" cy="36576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Every prompt includes the Safe Prompt Rule: remove sensitive data first, review output before sharing, keep a human in charge.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126541" cy="292608"/>
          </a:xfrm>
          <a:prstGeom prst="roundRect">
            <a:avLst>
              <a:gd name="adj" fmla="val 50000"/>
            </a:avLst>
          </a:prstGeom>
          <a:solidFill>
            <a:srgbClr val="FF6600"/>
          </a:solidFill>
          <a:ln/>
        </p:spPr>
      </p:sp>
      <p:sp>
        <p:nvSpPr>
          <p:cNvPr id="3" name="Text 1"/>
          <p:cNvSpPr/>
          <p:nvPr/>
        </p:nvSpPr>
        <p:spPr>
          <a:xfrm>
            <a:off x="548640" y="457200"/>
            <a:ext cx="1126541"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Trebuchet MS" pitchFamily="34" charset="0"/>
                <a:ea typeface="Trebuchet MS" pitchFamily="34" charset="-122"/>
                <a:cs typeface="Trebuchet MS" pitchFamily="34" charset="-120"/>
              </a:rPr>
              <a:t>DAILY HABIT</a:t>
            </a:r>
            <a:endParaRPr lang="en-US" sz="1050" dirty="0"/>
          </a:p>
        </p:txBody>
      </p:sp>
      <p:sp>
        <p:nvSpPr>
          <p:cNvPr id="4" name="Text 2"/>
          <p:cNvSpPr/>
          <p:nvPr/>
        </p:nvSpPr>
        <p:spPr>
          <a:xfrm>
            <a:off x="548640" y="841248"/>
            <a:ext cx="11091672" cy="777240"/>
          </a:xfrm>
          <a:prstGeom prst="rect">
            <a:avLst/>
          </a:prstGeom>
          <a:noFill/>
          <a:ln/>
        </p:spPr>
        <p:txBody>
          <a:bodyPr wrap="square" lIns="0" tIns="0" rIns="0" bIns="0" rtlCol="0" anchor="ctr"/>
          <a:lstStyle/>
          <a:p>
            <a:pPr algn="l" indent="0" marL="0">
              <a:buNone/>
            </a:pPr>
            <a:r>
              <a:rPr lang="en-US" sz="3000" b="1" dirty="0">
                <a:solidFill>
                  <a:srgbClr val="4D148C"/>
                </a:solidFill>
                <a:latin typeface="Trebuchet MS" pitchFamily="34" charset="0"/>
                <a:ea typeface="Trebuchet MS" pitchFamily="34" charset="-122"/>
                <a:cs typeface="Trebuchet MS" pitchFamily="34" charset="-120"/>
              </a:rPr>
              <a:t>The Daily Ops Playbook</a:t>
            </a:r>
            <a:endParaRPr lang="en-US" sz="3000" dirty="0"/>
          </a:p>
        </p:txBody>
      </p:sp>
      <p:sp>
        <p:nvSpPr>
          <p:cNvPr id="5" name="Text 3"/>
          <p:cNvSpPr/>
          <p:nvPr/>
        </p:nvSpPr>
        <p:spPr>
          <a:xfrm>
            <a:off x="548640" y="1627632"/>
            <a:ext cx="11091672" cy="640080"/>
          </a:xfrm>
          <a:prstGeom prst="rect">
            <a:avLst/>
          </a:prstGeom>
          <a:noFill/>
          <a:ln/>
        </p:spPr>
        <p:txBody>
          <a:bodyPr wrap="square" lIns="0" tIns="0" rIns="0" bIns="0" rtlCol="0" anchor="t"/>
          <a:lstStyle/>
          <a:p>
            <a:pPr algn="l" indent="0" marL="0">
              <a:buNone/>
            </a:pPr>
            <a:r>
              <a:rPr lang="en-US" sz="1500" dirty="0">
                <a:solidFill>
                  <a:srgbClr val="1A1D23"/>
                </a:solidFill>
                <a:latin typeface="Calibri" pitchFamily="34" charset="0"/>
                <a:ea typeface="Calibri" pitchFamily="34" charset="-122"/>
                <a:cs typeface="Calibri" pitchFamily="34" charset="-120"/>
              </a:rPr>
              <a:t>A single printable page that turns the prompt library into a daily habit — copy, paste, edit, done.</a:t>
            </a:r>
            <a:endParaRPr lang="en-US" sz="1500" dirty="0"/>
          </a:p>
        </p:txBody>
      </p:sp>
      <p:sp>
        <p:nvSpPr>
          <p:cNvPr id="6" name="Shape 4"/>
          <p:cNvSpPr/>
          <p:nvPr/>
        </p:nvSpPr>
        <p:spPr>
          <a:xfrm>
            <a:off x="548640" y="2423160"/>
            <a:ext cx="5362956" cy="2240280"/>
          </a:xfrm>
          <a:prstGeom prst="roundRect">
            <a:avLst>
              <a:gd name="adj" fmla="val 3265"/>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7" name="Text 5"/>
          <p:cNvSpPr/>
          <p:nvPr/>
        </p:nvSpPr>
        <p:spPr>
          <a:xfrm>
            <a:off x="749808" y="2606040"/>
            <a:ext cx="4960620" cy="1874520"/>
          </a:xfrm>
          <a:prstGeom prst="rect">
            <a:avLst/>
          </a:prstGeom>
          <a:noFill/>
          <a:ln/>
        </p:spPr>
        <p:txBody>
          <a:bodyPr wrap="square" lIns="0" tIns="0" rIns="0" bIns="0" rtlCol="0" anchor="t"/>
          <a:lstStyle/>
          <a:p>
            <a:pPr algn="l" indent="0" marL="0">
              <a:lnSpc>
                <a:spcPct val="105000"/>
              </a:lnSpc>
              <a:spcAft>
                <a:spcPts val="600"/>
              </a:spcAft>
              <a:buNone/>
            </a:pPr>
            <a:r>
              <a:rPr lang="en-US" sz="1600" b="1" dirty="0">
                <a:solidFill>
                  <a:srgbClr val="4D148C"/>
                </a:solidFill>
                <a:latin typeface="Calibri" pitchFamily="34" charset="0"/>
                <a:ea typeface="Calibri" pitchFamily="34" charset="-122"/>
                <a:cs typeface="Calibri" pitchFamily="34" charset="-120"/>
              </a:rPr>
              <a:t>What it is</a:t>
            </a:r>
            <a:endParaRPr lang="en-US" sz="1600" dirty="0"/>
          </a:p>
          <a:p>
            <a:pPr algn="l" indent="0" marL="0">
              <a:lnSpc>
                <a:spcPct val="105000"/>
              </a:lnSpc>
              <a:spcAft>
                <a:spcPts val="600"/>
              </a:spcAft>
              <a:buNone/>
            </a:pPr>
            <a:r>
              <a:rPr lang="en-US" sz="1350" dirty="0">
                <a:solidFill>
                  <a:srgbClr val="6B7280"/>
                </a:solidFill>
                <a:latin typeface="Calibri" pitchFamily="34" charset="0"/>
                <a:ea typeface="Calibri" pitchFamily="34" charset="-122"/>
                <a:cs typeface="Calibri" pitchFamily="34" charset="-120"/>
              </a:rPr>
              <a:t>A copy-paste daily checklist with the go-to prompts for a manager's morning, mid-shift, and end-of-shift routine. Print it, pin it by the desk, work down the list.</a:t>
            </a:r>
            <a:endParaRPr lang="en-US" sz="1600" dirty="0"/>
          </a:p>
        </p:txBody>
      </p:sp>
      <p:sp>
        <p:nvSpPr>
          <p:cNvPr id="8" name="Shape 6"/>
          <p:cNvSpPr/>
          <p:nvPr/>
        </p:nvSpPr>
        <p:spPr>
          <a:xfrm>
            <a:off x="6277356" y="2423160"/>
            <a:ext cx="5362956" cy="2240280"/>
          </a:xfrm>
          <a:prstGeom prst="roundRect">
            <a:avLst>
              <a:gd name="adj" fmla="val 3265"/>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9" name="Text 7"/>
          <p:cNvSpPr/>
          <p:nvPr/>
        </p:nvSpPr>
        <p:spPr>
          <a:xfrm>
            <a:off x="6478524" y="2606040"/>
            <a:ext cx="4960620" cy="1874520"/>
          </a:xfrm>
          <a:prstGeom prst="rect">
            <a:avLst/>
          </a:prstGeom>
          <a:noFill/>
          <a:ln/>
        </p:spPr>
        <p:txBody>
          <a:bodyPr wrap="square" lIns="0" tIns="0" rIns="0" bIns="0" rtlCol="0" anchor="t"/>
          <a:lstStyle/>
          <a:p>
            <a:pPr algn="l" indent="0" marL="0">
              <a:lnSpc>
                <a:spcPct val="105000"/>
              </a:lnSpc>
              <a:spcAft>
                <a:spcPts val="600"/>
              </a:spcAft>
              <a:buNone/>
            </a:pPr>
            <a:r>
              <a:rPr lang="en-US" sz="1600" b="1" dirty="0">
                <a:solidFill>
                  <a:srgbClr val="4D148C"/>
                </a:solidFill>
                <a:latin typeface="Calibri" pitchFamily="34" charset="0"/>
                <a:ea typeface="Calibri" pitchFamily="34" charset="-122"/>
                <a:cs typeface="Calibri" pitchFamily="34" charset="-120"/>
              </a:rPr>
              <a:t>Why it matters</a:t>
            </a:r>
            <a:endParaRPr lang="en-US" sz="1600" dirty="0"/>
          </a:p>
          <a:p>
            <a:pPr algn="l" indent="0" marL="0">
              <a:lnSpc>
                <a:spcPct val="105000"/>
              </a:lnSpc>
              <a:spcAft>
                <a:spcPts val="600"/>
              </a:spcAft>
              <a:buNone/>
            </a:pPr>
            <a:r>
              <a:rPr lang="en-US" sz="1350" dirty="0">
                <a:solidFill>
                  <a:srgbClr val="6B7280"/>
                </a:solidFill>
                <a:latin typeface="Calibri" pitchFamily="34" charset="0"/>
                <a:ea typeface="Calibri" pitchFamily="34" charset="-122"/>
                <a:cs typeface="Calibri" pitchFamily="34" charset="-120"/>
              </a:rPr>
              <a:t>Lowers the barrier for the least technical teammate. No tool to learn — just a page that says what to do and which prompt to use, with the Safe Prompt Rule on every step.</a:t>
            </a:r>
            <a:endParaRPr lang="en-US" sz="1600" dirty="0"/>
          </a:p>
        </p:txBody>
      </p:sp>
      <p:sp>
        <p:nvSpPr>
          <p:cNvPr id="10" name="Shape 8"/>
          <p:cNvSpPr/>
          <p:nvPr/>
        </p:nvSpPr>
        <p:spPr>
          <a:xfrm>
            <a:off x="548640" y="4983480"/>
            <a:ext cx="11091672" cy="457200"/>
          </a:xfrm>
          <a:prstGeom prst="roundRect">
            <a:avLst>
              <a:gd name="adj" fmla="val 10000"/>
            </a:avLst>
          </a:prstGeom>
          <a:solidFill>
            <a:srgbClr val="F0F0F4"/>
          </a:solidFill>
          <a:ln w="12700">
            <a:solidFill>
              <a:srgbClr val="E2E8F0"/>
            </a:solidFill>
            <a:prstDash val="solid"/>
          </a:ln>
        </p:spPr>
      </p:sp>
      <p:sp>
        <p:nvSpPr>
          <p:cNvPr id="11" name="Shape 9"/>
          <p:cNvSpPr/>
          <p:nvPr/>
        </p:nvSpPr>
        <p:spPr>
          <a:xfrm>
            <a:off x="548640" y="4983480"/>
            <a:ext cx="64008" cy="457200"/>
          </a:xfrm>
          <a:prstGeom prst="rect">
            <a:avLst/>
          </a:prstGeom>
          <a:solidFill>
            <a:srgbClr val="FF6600"/>
          </a:solidFill>
          <a:ln/>
        </p:spPr>
      </p:sp>
      <p:sp>
        <p:nvSpPr>
          <p:cNvPr id="12" name="Text 10"/>
          <p:cNvSpPr/>
          <p:nvPr/>
        </p:nvSpPr>
        <p:spPr>
          <a:xfrm>
            <a:off x="777240" y="4983480"/>
            <a:ext cx="10725912" cy="457200"/>
          </a:xfrm>
          <a:prstGeom prst="rect">
            <a:avLst/>
          </a:prstGeom>
          <a:noFill/>
          <a:ln/>
        </p:spPr>
        <p:txBody>
          <a:bodyPr wrap="square" lIns="0" tIns="0" rIns="0" bIns="0" rtlCol="0" anchor="ctr"/>
          <a:lstStyle/>
          <a:p>
            <a:pPr algn="l" indent="0" marL="0">
              <a:buNone/>
            </a:pPr>
            <a:r>
              <a:rPr lang="en-US" sz="1250" dirty="0">
                <a:solidFill>
                  <a:srgbClr val="3A0F69"/>
                </a:solidFill>
                <a:latin typeface="Consolas" pitchFamily="34" charset="0"/>
                <a:ea typeface="Consolas" pitchFamily="34" charset="-122"/>
                <a:cs typeface="Consolas" pitchFamily="34" charset="-120"/>
              </a:rPr>
              <a:t>docs/daily-ops-playbook.md</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841248"/>
            <a:ext cx="11091672" cy="777240"/>
          </a:xfrm>
          <a:prstGeom prst="rect">
            <a:avLst/>
          </a:prstGeom>
          <a:noFill/>
          <a:ln/>
        </p:spPr>
        <p:txBody>
          <a:bodyPr wrap="square" lIns="0" tIns="0" rIns="0" bIns="0" rtlCol="0" anchor="ctr"/>
          <a:lstStyle/>
          <a:p>
            <a:pPr algn="l" indent="0" marL="0">
              <a:buNone/>
            </a:pPr>
            <a:r>
              <a:rPr lang="en-US" sz="3000" b="1" dirty="0">
                <a:solidFill>
                  <a:srgbClr val="4D148C"/>
                </a:solidFill>
                <a:latin typeface="Trebuchet MS" pitchFamily="34" charset="0"/>
                <a:ea typeface="Trebuchet MS" pitchFamily="34" charset="-122"/>
                <a:cs typeface="Trebuchet MS" pitchFamily="34" charset="-120"/>
              </a:rPr>
              <a:t>Featured Project: Logistics Intelligence System</a:t>
            </a:r>
            <a:endParaRPr lang="en-US" sz="3000" dirty="0"/>
          </a:p>
        </p:txBody>
      </p:sp>
      <p:sp>
        <p:nvSpPr>
          <p:cNvPr id="3" name="Text 1"/>
          <p:cNvSpPr/>
          <p:nvPr/>
        </p:nvSpPr>
        <p:spPr>
          <a:xfrm>
            <a:off x="548640" y="1572768"/>
            <a:ext cx="11091672" cy="640080"/>
          </a:xfrm>
          <a:prstGeom prst="rect">
            <a:avLst/>
          </a:prstGeom>
          <a:noFill/>
          <a:ln/>
        </p:spPr>
        <p:txBody>
          <a:bodyPr wrap="square" lIns="0" tIns="0" rIns="0" bIns="0" rtlCol="0" anchor="t"/>
          <a:lstStyle/>
          <a:p>
            <a:pPr algn="l" indent="0" marL="0">
              <a:buNone/>
            </a:pPr>
            <a:r>
              <a:rPr lang="en-US" sz="1500" dirty="0">
                <a:solidFill>
                  <a:srgbClr val="1A1D23"/>
                </a:solidFill>
                <a:latin typeface="Calibri" pitchFamily="34" charset="0"/>
                <a:ea typeface="Calibri" pitchFamily="34" charset="-122"/>
                <a:cs typeface="Calibri" pitchFamily="34" charset="-120"/>
              </a:rPr>
              <a:t>A live demo tool (not a production system) that turns public risk signals into draft shift briefings — for any station in your district.</a:t>
            </a:r>
            <a:endParaRPr lang="en-US" sz="1500" dirty="0"/>
          </a:p>
        </p:txBody>
      </p:sp>
      <p:sp>
        <p:nvSpPr>
          <p:cNvPr id="4" name="Shape 2"/>
          <p:cNvSpPr/>
          <p:nvPr/>
        </p:nvSpPr>
        <p:spPr>
          <a:xfrm>
            <a:off x="6117336" y="2432304"/>
            <a:ext cx="5559552" cy="3930777"/>
          </a:xfrm>
          <a:prstGeom prst="rect">
            <a:avLst/>
          </a:prstGeom>
          <a:solidFill>
            <a:srgbClr val="E2E8F0"/>
          </a:solidFill>
          <a:ln/>
        </p:spPr>
      </p:sp>
      <p:pic>
        <p:nvPicPr>
          <p:cNvPr id="5" name="Image 0" descr="/Users/aribs/Code/AI-Efficiency/assets/dashboard-screenshot.png">    </p:cNvPr>
          <p:cNvPicPr>
            <a:picLocks noChangeAspect="1"/>
          </p:cNvPicPr>
          <p:nvPr/>
        </p:nvPicPr>
        <p:blipFill>
          <a:blip r:embed="rId1"/>
          <a:stretch>
            <a:fillRect/>
          </a:stretch>
        </p:blipFill>
        <p:spPr>
          <a:xfrm>
            <a:off x="6153912" y="2468880"/>
            <a:ext cx="5486400" cy="3857625"/>
          </a:xfrm>
          <a:prstGeom prst="rect">
            <a:avLst/>
          </a:prstGeom>
        </p:spPr>
      </p:pic>
      <p:sp>
        <p:nvSpPr>
          <p:cNvPr id="6" name="Shape 3"/>
          <p:cNvSpPr/>
          <p:nvPr/>
        </p:nvSpPr>
        <p:spPr>
          <a:xfrm>
            <a:off x="548640" y="2468880"/>
            <a:ext cx="5239512" cy="1783080"/>
          </a:xfrm>
          <a:prstGeom prst="roundRect">
            <a:avLst>
              <a:gd name="adj" fmla="val 4103"/>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7" name="Text 4"/>
          <p:cNvSpPr/>
          <p:nvPr/>
        </p:nvSpPr>
        <p:spPr>
          <a:xfrm>
            <a:off x="749808" y="2651760"/>
            <a:ext cx="4837176" cy="1417320"/>
          </a:xfrm>
          <a:prstGeom prst="rect">
            <a:avLst/>
          </a:prstGeom>
          <a:noFill/>
          <a:ln/>
        </p:spPr>
        <p:txBody>
          <a:bodyPr wrap="square" lIns="0" tIns="0" rIns="0" bIns="0" rtlCol="0" anchor="t"/>
          <a:lstStyle/>
          <a:p>
            <a:pPr algn="l" indent="0" marL="0">
              <a:lnSpc>
                <a:spcPct val="105000"/>
              </a:lnSpc>
              <a:spcAft>
                <a:spcPts val="600"/>
              </a:spcAft>
              <a:buNone/>
            </a:pPr>
            <a:r>
              <a:rPr lang="en-US" sz="1450" b="1" dirty="0">
                <a:solidFill>
                  <a:srgbClr val="4D148C"/>
                </a:solidFill>
                <a:latin typeface="Calibri" pitchFamily="34" charset="0"/>
                <a:ea typeface="Calibri" pitchFamily="34" charset="-122"/>
                <a:cs typeface="Calibri" pitchFamily="34" charset="-120"/>
              </a:rPr>
              <a:t>What it does</a:t>
            </a:r>
            <a:endParaRPr lang="en-US" sz="1450" dirty="0"/>
          </a:p>
          <a:p>
            <a:pPr algn="l" indent="0" marL="0">
              <a:lnSpc>
                <a:spcPct val="105000"/>
              </a:lnSpc>
              <a:spcAft>
                <a:spcPts val="600"/>
              </a:spcAft>
              <a:buNone/>
            </a:pPr>
            <a:r>
              <a:rPr lang="en-US" sz="1250" dirty="0">
                <a:solidFill>
                  <a:srgbClr val="6B7280"/>
                </a:solidFill>
                <a:latin typeface="Calibri" pitchFamily="34" charset="0"/>
                <a:ea typeface="Calibri" pitchFamily="34" charset="-122"/>
                <a:cs typeface="Calibri" pitchFamily="34" charset="-120"/>
              </a:rPr>
              <a:t>Shows public weather, road risk, and regional disruption before a shift, then drafts a briefing a manager can edit. Every number is labeled with its source.</a:t>
            </a:r>
            <a:endParaRPr lang="en-US" sz="1450" dirty="0"/>
          </a:p>
        </p:txBody>
      </p:sp>
      <p:sp>
        <p:nvSpPr>
          <p:cNvPr id="8" name="Shape 5"/>
          <p:cNvSpPr/>
          <p:nvPr/>
        </p:nvSpPr>
        <p:spPr>
          <a:xfrm>
            <a:off x="548640" y="4389120"/>
            <a:ext cx="5239512" cy="1417320"/>
          </a:xfrm>
          <a:prstGeom prst="roundRect">
            <a:avLst>
              <a:gd name="adj" fmla="val 5161"/>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9" name="Text 6"/>
          <p:cNvSpPr/>
          <p:nvPr/>
        </p:nvSpPr>
        <p:spPr>
          <a:xfrm>
            <a:off x="749808" y="4572000"/>
            <a:ext cx="4837176" cy="1051560"/>
          </a:xfrm>
          <a:prstGeom prst="rect">
            <a:avLst/>
          </a:prstGeom>
          <a:noFill/>
          <a:ln/>
        </p:spPr>
        <p:txBody>
          <a:bodyPr wrap="square" lIns="0" tIns="0" rIns="0" bIns="0" rtlCol="0" anchor="t"/>
          <a:lstStyle/>
          <a:p>
            <a:pPr algn="l" indent="0" marL="0">
              <a:lnSpc>
                <a:spcPct val="105000"/>
              </a:lnSpc>
              <a:spcAft>
                <a:spcPts val="600"/>
              </a:spcAft>
              <a:buNone/>
            </a:pPr>
            <a:r>
              <a:rPr lang="en-US" sz="1450" b="1" dirty="0">
                <a:solidFill>
                  <a:srgbClr val="FF6600"/>
                </a:solidFill>
                <a:latin typeface="Calibri" pitchFamily="34" charset="0"/>
                <a:ea typeface="Calibri" pitchFamily="34" charset="-122"/>
                <a:cs typeface="Calibri" pitchFamily="34" charset="-120"/>
              </a:rPr>
              <a:t>What it never does</a:t>
            </a:r>
            <a:endParaRPr lang="en-US" sz="1450" dirty="0"/>
          </a:p>
          <a:p>
            <a:pPr algn="l" indent="0" marL="0">
              <a:lnSpc>
                <a:spcPct val="105000"/>
              </a:lnSpc>
              <a:spcAft>
                <a:spcPts val="600"/>
              </a:spcAft>
              <a:buNone/>
            </a:pPr>
            <a:r>
              <a:rPr lang="en-US" sz="1250" dirty="0">
                <a:solidFill>
                  <a:srgbClr val="6B7280"/>
                </a:solidFill>
                <a:latin typeface="Calibri" pitchFamily="34" charset="0"/>
                <a:ea typeface="Calibri" pitchFamily="34" charset="-122"/>
                <a:cs typeface="Calibri" pitchFamily="34" charset="-120"/>
              </a:rPr>
              <a:t>No package data. No route manifests. No customer info. No live dispatch. No production claims.</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841248"/>
            <a:ext cx="11091672" cy="777240"/>
          </a:xfrm>
          <a:prstGeom prst="rect">
            <a:avLst/>
          </a:prstGeom>
          <a:noFill/>
          <a:ln/>
        </p:spPr>
        <p:txBody>
          <a:bodyPr wrap="square" lIns="0" tIns="0" rIns="0" bIns="0" rtlCol="0" anchor="ctr"/>
          <a:lstStyle/>
          <a:p>
            <a:pPr algn="l" indent="0" marL="0">
              <a:buNone/>
            </a:pPr>
            <a:r>
              <a:rPr lang="en-US" sz="3000" b="1" dirty="0">
                <a:solidFill>
                  <a:srgbClr val="4D148C"/>
                </a:solidFill>
                <a:latin typeface="Trebuchet MS" pitchFamily="34" charset="0"/>
                <a:ea typeface="Trebuchet MS" pitchFamily="34" charset="-122"/>
                <a:cs typeface="Trebuchet MS" pitchFamily="34" charset="-120"/>
              </a:rPr>
              <a:t>Live Demo</a:t>
            </a:r>
            <a:endParaRPr lang="en-US" sz="3000" dirty="0"/>
          </a:p>
        </p:txBody>
      </p:sp>
      <p:sp>
        <p:nvSpPr>
          <p:cNvPr id="3" name="Text 1"/>
          <p:cNvSpPr/>
          <p:nvPr/>
        </p:nvSpPr>
        <p:spPr>
          <a:xfrm>
            <a:off x="548640" y="1572768"/>
            <a:ext cx="11091672" cy="640080"/>
          </a:xfrm>
          <a:prstGeom prst="rect">
            <a:avLst/>
          </a:prstGeom>
          <a:noFill/>
          <a:ln/>
        </p:spPr>
        <p:txBody>
          <a:bodyPr wrap="square" lIns="0" tIns="0" rIns="0" bIns="0" rtlCol="0" anchor="t"/>
          <a:lstStyle/>
          <a:p>
            <a:pPr algn="l" indent="0" marL="0">
              <a:buNone/>
            </a:pPr>
            <a:r>
              <a:rPr lang="en-US" sz="1500" dirty="0">
                <a:solidFill>
                  <a:srgbClr val="1A1D23"/>
                </a:solidFill>
                <a:latin typeface="Calibri" pitchFamily="34" charset="0"/>
                <a:ea typeface="Calibri" pitchFamily="34" charset="-122"/>
                <a:cs typeface="Calibri" pitchFamily="34" charset="-120"/>
              </a:rPr>
              <a:t>Pick any station — the tool tailors the risks and the draft brief to that exact location. Four very different station types:</a:t>
            </a:r>
            <a:endParaRPr lang="en-US" sz="1500" dirty="0"/>
          </a:p>
        </p:txBody>
      </p:sp>
      <p:sp>
        <p:nvSpPr>
          <p:cNvPr id="4" name="Shape 2"/>
          <p:cNvSpPr/>
          <p:nvPr/>
        </p:nvSpPr>
        <p:spPr>
          <a:xfrm>
            <a:off x="548640" y="2331720"/>
            <a:ext cx="5362956" cy="1143000"/>
          </a:xfrm>
          <a:prstGeom prst="roundRect">
            <a:avLst>
              <a:gd name="adj" fmla="val 6400"/>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5" name="Text 3"/>
          <p:cNvSpPr/>
          <p:nvPr/>
        </p:nvSpPr>
        <p:spPr>
          <a:xfrm>
            <a:off x="749808" y="2514600"/>
            <a:ext cx="4960620" cy="777240"/>
          </a:xfrm>
          <a:prstGeom prst="rect">
            <a:avLst/>
          </a:prstGeom>
          <a:noFill/>
          <a:ln/>
        </p:spPr>
        <p:txBody>
          <a:bodyPr wrap="square" lIns="0" tIns="0" rIns="0" bIns="0" rtlCol="0" anchor="t"/>
          <a:lstStyle/>
          <a:p>
            <a:pPr algn="l" indent="0" marL="0">
              <a:lnSpc>
                <a:spcPct val="105000"/>
              </a:lnSpc>
              <a:spcAft>
                <a:spcPts val="600"/>
              </a:spcAft>
              <a:buNone/>
            </a:pPr>
            <a:r>
              <a:rPr lang="en-US" sz="1450" b="1" dirty="0">
                <a:solidFill>
                  <a:srgbClr val="4D148C"/>
                </a:solidFill>
                <a:latin typeface="Calibri" pitchFamily="34" charset="0"/>
                <a:ea typeface="Calibri" pitchFamily="34" charset="-122"/>
                <a:cs typeface="Calibri" pitchFamily="34" charset="-120"/>
              </a:rPr>
              <a:t>Gunnison, CO</a:t>
            </a:r>
            <a:endParaRPr lang="en-US" sz="1450" dirty="0"/>
          </a:p>
          <a:p>
            <a:pPr algn="l" indent="0" marL="0">
              <a:lnSpc>
                <a:spcPct val="105000"/>
              </a:lnSpc>
              <a:spcAft>
                <a:spcPts val="600"/>
              </a:spcAft>
              <a:buNone/>
            </a:pPr>
            <a:r>
              <a:rPr lang="en-US" sz="1250" dirty="0">
                <a:solidFill>
                  <a:srgbClr val="6B7280"/>
                </a:solidFill>
                <a:latin typeface="Calibri" pitchFamily="34" charset="0"/>
                <a:ea typeface="Calibri" pitchFamily="34" charset="-122"/>
                <a:cs typeface="Calibri" pitchFamily="34" charset="-120"/>
              </a:rPr>
              <a:t>Mountain station — winter weather, chain laws, I-70 restrictions</a:t>
            </a:r>
            <a:endParaRPr lang="en-US" sz="1450" dirty="0"/>
          </a:p>
        </p:txBody>
      </p:sp>
      <p:sp>
        <p:nvSpPr>
          <p:cNvPr id="6" name="Shape 4"/>
          <p:cNvSpPr/>
          <p:nvPr/>
        </p:nvSpPr>
        <p:spPr>
          <a:xfrm>
            <a:off x="6277356" y="2331720"/>
            <a:ext cx="5362956" cy="1143000"/>
          </a:xfrm>
          <a:prstGeom prst="roundRect">
            <a:avLst>
              <a:gd name="adj" fmla="val 6400"/>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7" name="Text 5"/>
          <p:cNvSpPr/>
          <p:nvPr/>
        </p:nvSpPr>
        <p:spPr>
          <a:xfrm>
            <a:off x="6478524" y="2514600"/>
            <a:ext cx="4960620" cy="777240"/>
          </a:xfrm>
          <a:prstGeom prst="rect">
            <a:avLst/>
          </a:prstGeom>
          <a:noFill/>
          <a:ln/>
        </p:spPr>
        <p:txBody>
          <a:bodyPr wrap="square" lIns="0" tIns="0" rIns="0" bIns="0" rtlCol="0" anchor="t"/>
          <a:lstStyle/>
          <a:p>
            <a:pPr algn="l" indent="0" marL="0">
              <a:lnSpc>
                <a:spcPct val="105000"/>
              </a:lnSpc>
              <a:spcAft>
                <a:spcPts val="600"/>
              </a:spcAft>
              <a:buNone/>
            </a:pPr>
            <a:r>
              <a:rPr lang="en-US" sz="1450" b="1" dirty="0">
                <a:solidFill>
                  <a:srgbClr val="4D148C"/>
                </a:solidFill>
                <a:latin typeface="Calibri" pitchFamily="34" charset="0"/>
                <a:ea typeface="Calibri" pitchFamily="34" charset="-122"/>
                <a:cs typeface="Calibri" pitchFamily="34" charset="-120"/>
              </a:rPr>
              <a:t>Memphis, TN</a:t>
            </a:r>
            <a:endParaRPr lang="en-US" sz="1450" dirty="0"/>
          </a:p>
          <a:p>
            <a:pPr algn="l" indent="0" marL="0">
              <a:lnSpc>
                <a:spcPct val="105000"/>
              </a:lnSpc>
              <a:spcAft>
                <a:spcPts val="600"/>
              </a:spcAft>
              <a:buNone/>
            </a:pPr>
            <a:r>
              <a:rPr lang="en-US" sz="1250" dirty="0">
                <a:solidFill>
                  <a:srgbClr val="6B7280"/>
                </a:solidFill>
                <a:latin typeface="Calibri" pitchFamily="34" charset="0"/>
                <a:ea typeface="Calibri" pitchFamily="34" charset="-122"/>
                <a:cs typeface="Calibri" pitchFamily="34" charset="-120"/>
              </a:rPr>
              <a:t>World Hub area — thunderstorms, construction, air cargo windows</a:t>
            </a:r>
            <a:endParaRPr lang="en-US" sz="1450" dirty="0"/>
          </a:p>
        </p:txBody>
      </p:sp>
      <p:sp>
        <p:nvSpPr>
          <p:cNvPr id="8" name="Shape 6"/>
          <p:cNvSpPr/>
          <p:nvPr/>
        </p:nvSpPr>
        <p:spPr>
          <a:xfrm>
            <a:off x="548640" y="3794760"/>
            <a:ext cx="5362956" cy="1143000"/>
          </a:xfrm>
          <a:prstGeom prst="roundRect">
            <a:avLst>
              <a:gd name="adj" fmla="val 6400"/>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9" name="Text 7"/>
          <p:cNvSpPr/>
          <p:nvPr/>
        </p:nvSpPr>
        <p:spPr>
          <a:xfrm>
            <a:off x="749808" y="3977640"/>
            <a:ext cx="4960620" cy="777240"/>
          </a:xfrm>
          <a:prstGeom prst="rect">
            <a:avLst/>
          </a:prstGeom>
          <a:noFill/>
          <a:ln/>
        </p:spPr>
        <p:txBody>
          <a:bodyPr wrap="square" lIns="0" tIns="0" rIns="0" bIns="0" rtlCol="0" anchor="t"/>
          <a:lstStyle/>
          <a:p>
            <a:pPr algn="l" indent="0" marL="0">
              <a:lnSpc>
                <a:spcPct val="105000"/>
              </a:lnSpc>
              <a:spcAft>
                <a:spcPts val="600"/>
              </a:spcAft>
              <a:buNone/>
            </a:pPr>
            <a:r>
              <a:rPr lang="en-US" sz="1450" b="1" dirty="0">
                <a:solidFill>
                  <a:srgbClr val="4D148C"/>
                </a:solidFill>
                <a:latin typeface="Calibri" pitchFamily="34" charset="0"/>
                <a:ea typeface="Calibri" pitchFamily="34" charset="-122"/>
                <a:cs typeface="Calibri" pitchFamily="34" charset="-120"/>
              </a:rPr>
              <a:t>Indianapolis, IN</a:t>
            </a:r>
            <a:endParaRPr lang="en-US" sz="1450" dirty="0"/>
          </a:p>
          <a:p>
            <a:pPr algn="l" indent="0" marL="0">
              <a:lnSpc>
                <a:spcPct val="105000"/>
              </a:lnSpc>
              <a:spcAft>
                <a:spcPts val="600"/>
              </a:spcAft>
              <a:buNone/>
            </a:pPr>
            <a:r>
              <a:rPr lang="en-US" sz="1250" dirty="0">
                <a:solidFill>
                  <a:srgbClr val="6B7280"/>
                </a:solidFill>
                <a:latin typeface="Calibri" pitchFamily="34" charset="0"/>
                <a:ea typeface="Calibri" pitchFamily="34" charset="-122"/>
                <a:cs typeface="Calibri" pitchFamily="34" charset="-120"/>
              </a:rPr>
              <a:t>Secondary hub — highway accidents, wind advisories, yard safety</a:t>
            </a:r>
            <a:endParaRPr lang="en-US" sz="1450" dirty="0"/>
          </a:p>
        </p:txBody>
      </p:sp>
      <p:sp>
        <p:nvSpPr>
          <p:cNvPr id="10" name="Shape 8"/>
          <p:cNvSpPr/>
          <p:nvPr/>
        </p:nvSpPr>
        <p:spPr>
          <a:xfrm>
            <a:off x="6277356" y="3794760"/>
            <a:ext cx="5362956" cy="1143000"/>
          </a:xfrm>
          <a:prstGeom prst="roundRect">
            <a:avLst>
              <a:gd name="adj" fmla="val 6400"/>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11" name="Text 9"/>
          <p:cNvSpPr/>
          <p:nvPr/>
        </p:nvSpPr>
        <p:spPr>
          <a:xfrm>
            <a:off x="6478524" y="3977640"/>
            <a:ext cx="4960620" cy="777240"/>
          </a:xfrm>
          <a:prstGeom prst="rect">
            <a:avLst/>
          </a:prstGeom>
          <a:noFill/>
          <a:ln/>
        </p:spPr>
        <p:txBody>
          <a:bodyPr wrap="square" lIns="0" tIns="0" rIns="0" bIns="0" rtlCol="0" anchor="t"/>
          <a:lstStyle/>
          <a:p>
            <a:pPr algn="l" indent="0" marL="0">
              <a:lnSpc>
                <a:spcPct val="105000"/>
              </a:lnSpc>
              <a:spcAft>
                <a:spcPts val="600"/>
              </a:spcAft>
              <a:buNone/>
            </a:pPr>
            <a:r>
              <a:rPr lang="en-US" sz="1450" b="1" dirty="0">
                <a:solidFill>
                  <a:srgbClr val="4D148C"/>
                </a:solidFill>
                <a:latin typeface="Calibri" pitchFamily="34" charset="0"/>
                <a:ea typeface="Calibri" pitchFamily="34" charset="-122"/>
                <a:cs typeface="Calibri" pitchFamily="34" charset="-120"/>
              </a:rPr>
              <a:t>Phoenix, AZ</a:t>
            </a:r>
            <a:endParaRPr lang="en-US" sz="1450" dirty="0"/>
          </a:p>
          <a:p>
            <a:pPr algn="l" indent="0" marL="0">
              <a:lnSpc>
                <a:spcPct val="105000"/>
              </a:lnSpc>
              <a:spcAft>
                <a:spcPts val="600"/>
              </a:spcAft>
              <a:buNone/>
            </a:pPr>
            <a:r>
              <a:rPr lang="en-US" sz="1250" dirty="0">
                <a:solidFill>
                  <a:srgbClr val="6B7280"/>
                </a:solidFill>
                <a:latin typeface="Calibri" pitchFamily="34" charset="0"/>
                <a:ea typeface="Calibri" pitchFamily="34" charset="-122"/>
                <a:cs typeface="Calibri" pitchFamily="34" charset="-120"/>
              </a:rPr>
              <a:t>Desert station — excessive heat, dust storms, hydration protocols</a:t>
            </a:r>
            <a:endParaRPr lang="en-US" sz="1450" dirty="0"/>
          </a:p>
        </p:txBody>
      </p:sp>
      <p:sp>
        <p:nvSpPr>
          <p:cNvPr id="12" name="Shape 10"/>
          <p:cNvSpPr/>
          <p:nvPr/>
        </p:nvSpPr>
        <p:spPr>
          <a:xfrm>
            <a:off x="548640" y="5440680"/>
            <a:ext cx="11091672" cy="457200"/>
          </a:xfrm>
          <a:prstGeom prst="roundRect">
            <a:avLst>
              <a:gd name="adj" fmla="val 10000"/>
            </a:avLst>
          </a:prstGeom>
          <a:solidFill>
            <a:srgbClr val="F0F0F4"/>
          </a:solidFill>
          <a:ln w="12700">
            <a:solidFill>
              <a:srgbClr val="E2E8F0"/>
            </a:solidFill>
            <a:prstDash val="solid"/>
          </a:ln>
        </p:spPr>
      </p:sp>
      <p:sp>
        <p:nvSpPr>
          <p:cNvPr id="13" name="Shape 11"/>
          <p:cNvSpPr/>
          <p:nvPr/>
        </p:nvSpPr>
        <p:spPr>
          <a:xfrm>
            <a:off x="548640" y="5440680"/>
            <a:ext cx="64008" cy="457200"/>
          </a:xfrm>
          <a:prstGeom prst="rect">
            <a:avLst/>
          </a:prstGeom>
          <a:solidFill>
            <a:srgbClr val="FF6600"/>
          </a:solidFill>
          <a:ln/>
        </p:spPr>
      </p:sp>
      <p:sp>
        <p:nvSpPr>
          <p:cNvPr id="14" name="Text 12"/>
          <p:cNvSpPr/>
          <p:nvPr/>
        </p:nvSpPr>
        <p:spPr>
          <a:xfrm>
            <a:off x="777240" y="5440680"/>
            <a:ext cx="10725912" cy="457200"/>
          </a:xfrm>
          <a:prstGeom prst="rect">
            <a:avLst/>
          </a:prstGeom>
          <a:noFill/>
          <a:ln/>
        </p:spPr>
        <p:txBody>
          <a:bodyPr wrap="square" lIns="0" tIns="0" rIns="0" bIns="0" rtlCol="0" anchor="ctr"/>
          <a:lstStyle/>
          <a:p>
            <a:pPr algn="l" indent="0" marL="0">
              <a:buNone/>
            </a:pPr>
            <a:r>
              <a:rPr lang="en-US" sz="1250" dirty="0">
                <a:solidFill>
                  <a:srgbClr val="3A0F69"/>
                </a:solidFill>
                <a:latin typeface="Consolas" pitchFamily="34" charset="0"/>
                <a:ea typeface="Consolas" pitchFamily="34" charset="-122"/>
                <a:cs typeface="Consolas" pitchFamily="34" charset="-120"/>
              </a:rPr>
              <a:t>https://fedex-logistics-intelligence-system-267358751314.us-east1.run.app</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2472538" cy="292608"/>
          </a:xfrm>
          <a:prstGeom prst="roundRect">
            <a:avLst>
              <a:gd name="adj" fmla="val 50000"/>
            </a:avLst>
          </a:prstGeom>
          <a:solidFill>
            <a:srgbClr val="FF6600"/>
          </a:solidFill>
          <a:ln/>
        </p:spPr>
      </p:sp>
      <p:sp>
        <p:nvSpPr>
          <p:cNvPr id="3" name="Text 1"/>
          <p:cNvSpPr/>
          <p:nvPr/>
        </p:nvSpPr>
        <p:spPr>
          <a:xfrm>
            <a:off x="548640" y="457200"/>
            <a:ext cx="2472538"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Trebuchet MS" pitchFamily="34" charset="0"/>
                <a:ea typeface="Trebuchet MS" pitchFamily="34" charset="-122"/>
                <a:cs typeface="Trebuchet MS" pitchFamily="34" charset="-120"/>
              </a:rPr>
              <a:t>BUILT · RUNS ON YOUR LAPTOP</a:t>
            </a:r>
            <a:endParaRPr lang="en-US" sz="1050" dirty="0"/>
          </a:p>
        </p:txBody>
      </p:sp>
      <p:sp>
        <p:nvSpPr>
          <p:cNvPr id="4" name="Text 2"/>
          <p:cNvSpPr/>
          <p:nvPr/>
        </p:nvSpPr>
        <p:spPr>
          <a:xfrm>
            <a:off x="548640" y="841248"/>
            <a:ext cx="11091672" cy="777240"/>
          </a:xfrm>
          <a:prstGeom prst="rect">
            <a:avLst/>
          </a:prstGeom>
          <a:noFill/>
          <a:ln/>
        </p:spPr>
        <p:txBody>
          <a:bodyPr wrap="square" lIns="0" tIns="0" rIns="0" bIns="0" rtlCol="0" anchor="ctr"/>
          <a:lstStyle/>
          <a:p>
            <a:pPr algn="l" indent="0" marL="0">
              <a:buNone/>
            </a:pPr>
            <a:r>
              <a:rPr lang="en-US" sz="3000" b="1" dirty="0">
                <a:solidFill>
                  <a:srgbClr val="4D148C"/>
                </a:solidFill>
                <a:latin typeface="Trebuchet MS" pitchFamily="34" charset="0"/>
                <a:ea typeface="Trebuchet MS" pitchFamily="34" charset="-122"/>
                <a:cs typeface="Trebuchet MS" pitchFamily="34" charset="-120"/>
              </a:rPr>
              <a:t>The Efficiency Toolkit: Two Review Tools</a:t>
            </a:r>
            <a:endParaRPr lang="en-US" sz="3000" dirty="0"/>
          </a:p>
        </p:txBody>
      </p:sp>
      <p:sp>
        <p:nvSpPr>
          <p:cNvPr id="5" name="Text 3"/>
          <p:cNvSpPr/>
          <p:nvPr/>
        </p:nvSpPr>
        <p:spPr>
          <a:xfrm>
            <a:off x="548640" y="1627632"/>
            <a:ext cx="11091672" cy="640080"/>
          </a:xfrm>
          <a:prstGeom prst="rect">
            <a:avLst/>
          </a:prstGeom>
          <a:noFill/>
          <a:ln/>
        </p:spPr>
        <p:txBody>
          <a:bodyPr wrap="square" lIns="0" tIns="0" rIns="0" bIns="0" rtlCol="0" anchor="t"/>
          <a:lstStyle/>
          <a:p>
            <a:pPr algn="l" indent="0" marL="0">
              <a:buNone/>
            </a:pPr>
            <a:r>
              <a:rPr lang="en-US" sz="1500" dirty="0">
                <a:solidFill>
                  <a:srgbClr val="1A1D23"/>
                </a:solidFill>
                <a:latin typeface="Calibri" pitchFamily="34" charset="0"/>
                <a:ea typeface="Calibri" pitchFamily="34" charset="-122"/>
                <a:cs typeface="Calibri" pitchFamily="34" charset="-120"/>
              </a:rPr>
              <a:t>After the week closes, two simple tools answer the two questions every efficiency review asks. Both open in a browser with no install and no internet — your real numbers never leave your machine.</a:t>
            </a:r>
            <a:endParaRPr lang="en-US" sz="1500" dirty="0"/>
          </a:p>
        </p:txBody>
      </p:sp>
      <p:sp>
        <p:nvSpPr>
          <p:cNvPr id="6" name="Shape 4"/>
          <p:cNvSpPr/>
          <p:nvPr/>
        </p:nvSpPr>
        <p:spPr>
          <a:xfrm>
            <a:off x="548640" y="2697480"/>
            <a:ext cx="5362956" cy="1828800"/>
          </a:xfrm>
          <a:prstGeom prst="roundRect">
            <a:avLst>
              <a:gd name="adj" fmla="val 4000"/>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7" name="Text 5"/>
          <p:cNvSpPr/>
          <p:nvPr/>
        </p:nvSpPr>
        <p:spPr>
          <a:xfrm>
            <a:off x="749808" y="2880360"/>
            <a:ext cx="4960620" cy="1463040"/>
          </a:xfrm>
          <a:prstGeom prst="rect">
            <a:avLst/>
          </a:prstGeom>
          <a:noFill/>
          <a:ln/>
        </p:spPr>
        <p:txBody>
          <a:bodyPr wrap="square" lIns="0" tIns="0" rIns="0" bIns="0" rtlCol="0" anchor="t"/>
          <a:lstStyle/>
          <a:p>
            <a:pPr algn="l" indent="0" marL="0">
              <a:lnSpc>
                <a:spcPct val="105000"/>
              </a:lnSpc>
              <a:spcAft>
                <a:spcPts val="600"/>
              </a:spcAft>
              <a:buNone/>
            </a:pPr>
            <a:r>
              <a:rPr lang="en-US" sz="1400" b="1" dirty="0">
                <a:solidFill>
                  <a:srgbClr val="4D148C"/>
                </a:solidFill>
                <a:latin typeface="Calibri" pitchFamily="34" charset="0"/>
                <a:ea typeface="Calibri" pitchFamily="34" charset="-122"/>
                <a:cs typeface="Calibri" pitchFamily="34" charset="-120"/>
              </a:rPr>
              <a:t>Dock Efficiency Signal Lab — “Is the change real?”</a:t>
            </a:r>
            <a:endParaRPr lang="en-US" sz="1400" dirty="0"/>
          </a:p>
          <a:p>
            <a:pPr algn="l" indent="0" marL="0">
              <a:lnSpc>
                <a:spcPct val="105000"/>
              </a:lnSpc>
              <a:spcAft>
                <a:spcPts val="600"/>
              </a:spcAft>
              <a:buNone/>
            </a:pPr>
            <a:r>
              <a:rPr lang="en-US" sz="1250" dirty="0">
                <a:solidFill>
                  <a:srgbClr val="6B7280"/>
                </a:solidFill>
                <a:latin typeface="Calibri" pitchFamily="34" charset="0"/>
                <a:ea typeface="Calibri" pitchFamily="34" charset="-122"/>
                <a:cs typeface="Calibri" pitchFamily="34" charset="-120"/>
              </a:rPr>
              <a:t>Looks at your weekly dock numbers and flags which moves are a genuine trend versus normal week-to-week noise — so you chase what matters. Ranks best and worst facilities and shows the gap-to-goal in dollars.</a:t>
            </a:r>
            <a:endParaRPr lang="en-US" sz="1400" dirty="0"/>
          </a:p>
        </p:txBody>
      </p:sp>
      <p:sp>
        <p:nvSpPr>
          <p:cNvPr id="8" name="Shape 6"/>
          <p:cNvSpPr/>
          <p:nvPr/>
        </p:nvSpPr>
        <p:spPr>
          <a:xfrm>
            <a:off x="6277356" y="2697480"/>
            <a:ext cx="5362956" cy="1828800"/>
          </a:xfrm>
          <a:prstGeom prst="roundRect">
            <a:avLst>
              <a:gd name="adj" fmla="val 4000"/>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9" name="Text 7"/>
          <p:cNvSpPr/>
          <p:nvPr/>
        </p:nvSpPr>
        <p:spPr>
          <a:xfrm>
            <a:off x="6478524" y="2880360"/>
            <a:ext cx="4960620" cy="1463040"/>
          </a:xfrm>
          <a:prstGeom prst="rect">
            <a:avLst/>
          </a:prstGeom>
          <a:noFill/>
          <a:ln/>
        </p:spPr>
        <p:txBody>
          <a:bodyPr wrap="square" lIns="0" tIns="0" rIns="0" bIns="0" rtlCol="0" anchor="t"/>
          <a:lstStyle/>
          <a:p>
            <a:pPr algn="l" indent="0" marL="0">
              <a:lnSpc>
                <a:spcPct val="105000"/>
              </a:lnSpc>
              <a:spcAft>
                <a:spcPts val="600"/>
              </a:spcAft>
              <a:buNone/>
            </a:pPr>
            <a:r>
              <a:rPr lang="en-US" sz="1400" b="1" dirty="0">
                <a:solidFill>
                  <a:srgbClr val="4D148C"/>
                </a:solidFill>
                <a:latin typeface="Calibri" pitchFamily="34" charset="0"/>
                <a:ea typeface="Calibri" pitchFamily="34" charset="-122"/>
                <a:cs typeface="Calibri" pitchFamily="34" charset="-120"/>
              </a:rPr>
              <a:t>TLH / SPH Explorer — “Which lever moved it?”</a:t>
            </a:r>
            <a:endParaRPr lang="en-US" sz="1400" dirty="0"/>
          </a:p>
          <a:p>
            <a:pPr algn="l" indent="0" marL="0">
              <a:lnSpc>
                <a:spcPct val="105000"/>
              </a:lnSpc>
              <a:spcAft>
                <a:spcPts val="600"/>
              </a:spcAft>
              <a:buNone/>
            </a:pPr>
            <a:r>
              <a:rPr lang="en-US" sz="1250" dirty="0">
                <a:solidFill>
                  <a:srgbClr val="6B7280"/>
                </a:solidFill>
                <a:latin typeface="Calibri" pitchFamily="34" charset="0"/>
                <a:ea typeface="Calibri" pitchFamily="34" charset="-122"/>
                <a:cs typeface="Calibri" pitchFamily="34" charset="-120"/>
              </a:rPr>
              <a:t>For any week-over-week efficiency change, it separates how much came from doing more per hour (SPH) versus simply cutting hours (TLH) — so a staffing cut is never mistaken for a real productivity gain.</a:t>
            </a:r>
            <a:endParaRPr lang="en-US" sz="1400" dirty="0"/>
          </a:p>
        </p:txBody>
      </p:sp>
      <p:sp>
        <p:nvSpPr>
          <p:cNvPr id="10" name="Shape 8"/>
          <p:cNvSpPr/>
          <p:nvPr/>
        </p:nvSpPr>
        <p:spPr>
          <a:xfrm>
            <a:off x="548640" y="4800600"/>
            <a:ext cx="11091672" cy="841248"/>
          </a:xfrm>
          <a:prstGeom prst="roundRect">
            <a:avLst>
              <a:gd name="adj" fmla="val 6522"/>
            </a:avLst>
          </a:prstGeom>
          <a:solidFill>
            <a:srgbClr val="F4ECFC"/>
          </a:solidFill>
          <a:ln w="12700">
            <a:solidFill>
              <a:srgbClr val="E7D9FB"/>
            </a:solidFill>
            <a:prstDash val="solid"/>
          </a:ln>
        </p:spPr>
      </p:sp>
      <p:sp>
        <p:nvSpPr>
          <p:cNvPr id="11" name="Shape 9"/>
          <p:cNvSpPr/>
          <p:nvPr/>
        </p:nvSpPr>
        <p:spPr>
          <a:xfrm>
            <a:off x="548640" y="4800600"/>
            <a:ext cx="73152" cy="841248"/>
          </a:xfrm>
          <a:prstGeom prst="rect">
            <a:avLst/>
          </a:prstGeom>
          <a:solidFill>
            <a:srgbClr val="4D148C"/>
          </a:solidFill>
          <a:ln/>
        </p:spPr>
      </p:sp>
      <p:sp>
        <p:nvSpPr>
          <p:cNvPr id="12" name="Text 10"/>
          <p:cNvSpPr/>
          <p:nvPr/>
        </p:nvSpPr>
        <p:spPr>
          <a:xfrm>
            <a:off x="822960" y="4800600"/>
            <a:ext cx="10588752" cy="841248"/>
          </a:xfrm>
          <a:prstGeom prst="rect">
            <a:avLst/>
          </a:prstGeom>
          <a:noFill/>
          <a:ln/>
        </p:spPr>
        <p:txBody>
          <a:bodyPr wrap="square" lIns="0" tIns="0" rIns="0" bIns="0" rtlCol="0" anchor="ctr"/>
          <a:lstStyle/>
          <a:p>
            <a:pPr algn="l" indent="0" marL="0">
              <a:lnSpc>
                <a:spcPct val="105000"/>
              </a:lnSpc>
              <a:buNone/>
            </a:pPr>
            <a:r>
              <a:rPr lang="en-US" sz="1300" b="1" dirty="0">
                <a:solidFill>
                  <a:srgbClr val="4D148C"/>
                </a:solidFill>
                <a:latin typeface="Calibri" pitchFamily="34" charset="0"/>
                <a:ea typeface="Calibri" pitchFamily="34" charset="-122"/>
                <a:cs typeface="Calibri" pitchFamily="34" charset="-120"/>
              </a:rPr>
              <a:t>Built for your view:  </a:t>
            </a:r>
            <a:pPr algn="l" indent="0" marL="0">
              <a:lnSpc>
                <a:spcPct val="105000"/>
              </a:lnSpc>
              <a:buNone/>
            </a:pPr>
            <a:r>
              <a:rPr lang="en-US" sz="1300" dirty="0">
                <a:solidFill>
                  <a:srgbClr val="1A1D23"/>
                </a:solidFill>
                <a:latin typeface="Calibri" pitchFamily="34" charset="0"/>
                <a:ea typeface="Calibri" pitchFamily="34" charset="-122"/>
                <a:cs typeface="Calibri" pitchFamily="34" charset="-120"/>
              </a:rPr>
              <a:t>filter by region or district (set up around the six Western focus districts) so you see your facilities, not the whole network. Demo data today; load a real weekly CSV locally during a pilot.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841248"/>
            <a:ext cx="11091672" cy="777240"/>
          </a:xfrm>
          <a:prstGeom prst="rect">
            <a:avLst/>
          </a:prstGeom>
          <a:noFill/>
          <a:ln/>
        </p:spPr>
        <p:txBody>
          <a:bodyPr wrap="square" lIns="0" tIns="0" rIns="0" bIns="0" rtlCol="0" anchor="ctr"/>
          <a:lstStyle/>
          <a:p>
            <a:pPr algn="l" indent="0" marL="0">
              <a:buNone/>
            </a:pPr>
            <a:r>
              <a:rPr lang="en-US" sz="3000" b="1" dirty="0">
                <a:solidFill>
                  <a:srgbClr val="4D148C"/>
                </a:solidFill>
                <a:latin typeface="Trebuchet MS" pitchFamily="34" charset="0"/>
                <a:ea typeface="Trebuchet MS" pitchFamily="34" charset="-122"/>
                <a:cs typeface="Trebuchet MS" pitchFamily="34" charset="-120"/>
              </a:rPr>
              <a:t>Safety &amp; Governance Built In</a:t>
            </a:r>
            <a:endParaRPr lang="en-US" sz="3000" dirty="0"/>
          </a:p>
        </p:txBody>
      </p:sp>
      <p:sp>
        <p:nvSpPr>
          <p:cNvPr id="3" name="Text 1"/>
          <p:cNvSpPr/>
          <p:nvPr/>
        </p:nvSpPr>
        <p:spPr>
          <a:xfrm>
            <a:off x="548640" y="1828800"/>
            <a:ext cx="5362956" cy="411480"/>
          </a:xfrm>
          <a:prstGeom prst="rect">
            <a:avLst/>
          </a:prstGeom>
          <a:noFill/>
          <a:ln/>
        </p:spPr>
        <p:txBody>
          <a:bodyPr wrap="square" lIns="0" tIns="0" rIns="0" bIns="0" rtlCol="0" anchor="ctr"/>
          <a:lstStyle/>
          <a:p>
            <a:pPr algn="l" indent="0" marL="0">
              <a:buNone/>
            </a:pPr>
            <a:r>
              <a:rPr lang="en-US" sz="1700" b="1" dirty="0">
                <a:solidFill>
                  <a:srgbClr val="1A1D23"/>
                </a:solidFill>
                <a:latin typeface="Trebuchet MS" pitchFamily="34" charset="0"/>
                <a:ea typeface="Trebuchet MS" pitchFamily="34" charset="-122"/>
                <a:cs typeface="Trebuchet MS" pitchFamily="34" charset="-120"/>
              </a:rPr>
              <a:t>Data boundaries</a:t>
            </a:r>
            <a:endParaRPr lang="en-US" sz="1700" dirty="0"/>
          </a:p>
        </p:txBody>
      </p:sp>
      <p:sp>
        <p:nvSpPr>
          <p:cNvPr id="4" name="Text 2"/>
          <p:cNvSpPr/>
          <p:nvPr/>
        </p:nvSpPr>
        <p:spPr>
          <a:xfrm>
            <a:off x="548640" y="2331720"/>
            <a:ext cx="5362956" cy="2011680"/>
          </a:xfrm>
          <a:prstGeom prst="rect">
            <a:avLst/>
          </a:prstGeom>
          <a:noFill/>
          <a:ln/>
        </p:spPr>
        <p:txBody>
          <a:bodyPr wrap="square" lIns="0" tIns="0" rIns="0" bIns="0" rtlCol="0" anchor="t"/>
          <a:lstStyle/>
          <a:p>
            <a:pPr algn="l" marL="203200" indent="-203200">
              <a:spcAft>
                <a:spcPts val="800"/>
              </a:spcAft>
              <a:buSzPct val="100000"/>
              <a:buChar char="•"/>
            </a:pPr>
            <a:r>
              <a:rPr lang="en-US" sz="1400" dirty="0">
                <a:solidFill>
                  <a:srgbClr val="1A1D23"/>
                </a:solidFill>
                <a:latin typeface="Calibri" pitchFamily="34" charset="0"/>
                <a:ea typeface="Calibri" pitchFamily="34" charset="-122"/>
                <a:cs typeface="Calibri" pitchFamily="34" charset="-120"/>
              </a:rPr>
              <a:t>Public or synthetic data only</a:t>
            </a:r>
            <a:endParaRPr lang="en-US" sz="1400" dirty="0"/>
          </a:p>
          <a:p>
            <a:pPr algn="l" marL="203200" indent="-203200">
              <a:spcAft>
                <a:spcPts val="800"/>
              </a:spcAft>
              <a:buSzPct val="100000"/>
              <a:buChar char="•"/>
            </a:pPr>
            <a:r>
              <a:rPr lang="en-US" sz="1400" dirty="0">
                <a:solidFill>
                  <a:srgbClr val="1A1D23"/>
                </a:solidFill>
                <a:latin typeface="Calibri" pitchFamily="34" charset="0"/>
                <a:ea typeface="Calibri" pitchFamily="34" charset="-122"/>
                <a:cs typeface="Calibri" pitchFamily="34" charset="-120"/>
              </a:rPr>
              <a:t>Every signal has a source label</a:t>
            </a:r>
            <a:endParaRPr lang="en-US" sz="1400" dirty="0"/>
          </a:p>
          <a:p>
            <a:pPr algn="l" marL="203200" indent="-203200">
              <a:spcAft>
                <a:spcPts val="800"/>
              </a:spcAft>
              <a:buSzPct val="100000"/>
              <a:buChar char="•"/>
            </a:pPr>
            <a:r>
              <a:rPr lang="en-US" sz="1400" dirty="0">
                <a:solidFill>
                  <a:srgbClr val="1A1D23"/>
                </a:solidFill>
                <a:latin typeface="Calibri" pitchFamily="34" charset="0"/>
                <a:ea typeface="Calibri" pitchFamily="34" charset="-122"/>
                <a:cs typeface="Calibri" pitchFamily="34" charset="-120"/>
              </a:rPr>
              <a:t>Synthetic values marked “demo”</a:t>
            </a:r>
            <a:endParaRPr lang="en-US" sz="1400" dirty="0"/>
          </a:p>
          <a:p>
            <a:pPr algn="l" marL="203200" indent="-203200">
              <a:spcAft>
                <a:spcPts val="800"/>
              </a:spcAft>
              <a:buSzPct val="100000"/>
              <a:buChar char="•"/>
            </a:pPr>
            <a:r>
              <a:rPr lang="en-US" sz="1400" dirty="0">
                <a:solidFill>
                  <a:srgbClr val="1A1D23"/>
                </a:solidFill>
                <a:latin typeface="Calibri" pitchFamily="34" charset="0"/>
                <a:ea typeface="Calibri" pitchFamily="34" charset="-122"/>
                <a:cs typeface="Calibri" pitchFamily="34" charset="-120"/>
              </a:rPr>
              <a:t>No internal FedEx systems touched</a:t>
            </a:r>
            <a:endParaRPr lang="en-US" sz="1400" dirty="0"/>
          </a:p>
        </p:txBody>
      </p:sp>
      <p:sp>
        <p:nvSpPr>
          <p:cNvPr id="5" name="Text 3"/>
          <p:cNvSpPr/>
          <p:nvPr/>
        </p:nvSpPr>
        <p:spPr>
          <a:xfrm>
            <a:off x="6277356" y="1828800"/>
            <a:ext cx="5362956" cy="411480"/>
          </a:xfrm>
          <a:prstGeom prst="rect">
            <a:avLst/>
          </a:prstGeom>
          <a:noFill/>
          <a:ln/>
        </p:spPr>
        <p:txBody>
          <a:bodyPr wrap="square" lIns="0" tIns="0" rIns="0" bIns="0" rtlCol="0" anchor="ctr"/>
          <a:lstStyle/>
          <a:p>
            <a:pPr algn="l" indent="0" marL="0">
              <a:buNone/>
            </a:pPr>
            <a:r>
              <a:rPr lang="en-US" sz="1700" b="1" dirty="0">
                <a:solidFill>
                  <a:srgbClr val="1A1D23"/>
                </a:solidFill>
                <a:latin typeface="Trebuchet MS" pitchFamily="34" charset="0"/>
                <a:ea typeface="Trebuchet MS" pitchFamily="34" charset="-122"/>
                <a:cs typeface="Trebuchet MS" pitchFamily="34" charset="-120"/>
              </a:rPr>
              <a:t>Human review</a:t>
            </a:r>
            <a:endParaRPr lang="en-US" sz="1700" dirty="0"/>
          </a:p>
        </p:txBody>
      </p:sp>
      <p:sp>
        <p:nvSpPr>
          <p:cNvPr id="6" name="Text 4"/>
          <p:cNvSpPr/>
          <p:nvPr/>
        </p:nvSpPr>
        <p:spPr>
          <a:xfrm>
            <a:off x="6277356" y="2331720"/>
            <a:ext cx="5362956" cy="2011680"/>
          </a:xfrm>
          <a:prstGeom prst="rect">
            <a:avLst/>
          </a:prstGeom>
          <a:noFill/>
          <a:ln/>
        </p:spPr>
        <p:txBody>
          <a:bodyPr wrap="square" lIns="0" tIns="0" rIns="0" bIns="0" rtlCol="0" anchor="t"/>
          <a:lstStyle/>
          <a:p>
            <a:pPr algn="l" marL="203200" indent="-203200">
              <a:spcAft>
                <a:spcPts val="800"/>
              </a:spcAft>
              <a:buSzPct val="100000"/>
              <a:buChar char="•"/>
            </a:pPr>
            <a:r>
              <a:rPr lang="en-US" sz="1400" dirty="0">
                <a:solidFill>
                  <a:srgbClr val="1A1D23"/>
                </a:solidFill>
                <a:latin typeface="Calibri" pitchFamily="34" charset="0"/>
                <a:ea typeface="Calibri" pitchFamily="34" charset="-122"/>
                <a:cs typeface="Calibri" pitchFamily="34" charset="-120"/>
              </a:rPr>
              <a:t>Every AI draft says “Needs manager verification”</a:t>
            </a:r>
            <a:endParaRPr lang="en-US" sz="1400" dirty="0"/>
          </a:p>
          <a:p>
            <a:pPr algn="l" marL="203200" indent="-203200">
              <a:spcAft>
                <a:spcPts val="800"/>
              </a:spcAft>
              <a:buSzPct val="100000"/>
              <a:buChar char="•"/>
            </a:pPr>
            <a:r>
              <a:rPr lang="en-US" sz="1400" dirty="0">
                <a:solidFill>
                  <a:srgbClr val="1A1D23"/>
                </a:solidFill>
                <a:latin typeface="Calibri" pitchFamily="34" charset="0"/>
                <a:ea typeface="Calibri" pitchFamily="34" charset="-122"/>
                <a:cs typeface="Calibri" pitchFamily="34" charset="-120"/>
              </a:rPr>
              <a:t>No live-action buttons</a:t>
            </a:r>
            <a:endParaRPr lang="en-US" sz="1400" dirty="0"/>
          </a:p>
          <a:p>
            <a:pPr algn="l" marL="203200" indent="-203200">
              <a:spcAft>
                <a:spcPts val="800"/>
              </a:spcAft>
              <a:buSzPct val="100000"/>
              <a:buChar char="•"/>
            </a:pPr>
            <a:r>
              <a:rPr lang="en-US" sz="1400" dirty="0">
                <a:solidFill>
                  <a:srgbClr val="1A1D23"/>
                </a:solidFill>
                <a:latin typeface="Calibri" pitchFamily="34" charset="0"/>
                <a:ea typeface="Calibri" pitchFamily="34" charset="-122"/>
                <a:cs typeface="Calibri" pitchFamily="34" charset="-120"/>
              </a:rPr>
              <a:t>No automatic external sends</a:t>
            </a:r>
            <a:endParaRPr lang="en-US" sz="1400" dirty="0"/>
          </a:p>
          <a:p>
            <a:pPr algn="l" marL="203200" indent="-203200">
              <a:spcAft>
                <a:spcPts val="800"/>
              </a:spcAft>
              <a:buSzPct val="100000"/>
              <a:buChar char="•"/>
            </a:pPr>
            <a:r>
              <a:rPr lang="en-US" sz="1400" dirty="0">
                <a:solidFill>
                  <a:srgbClr val="1A1D23"/>
                </a:solidFill>
                <a:latin typeface="Calibri" pitchFamily="34" charset="0"/>
                <a:ea typeface="Calibri" pitchFamily="34" charset="-122"/>
                <a:cs typeface="Calibri" pitchFamily="34" charset="-120"/>
              </a:rPr>
              <a:t>Prototype banner on every screen</a:t>
            </a:r>
            <a:endParaRPr lang="en-US" sz="1400" dirty="0"/>
          </a:p>
        </p:txBody>
      </p:sp>
      <p:sp>
        <p:nvSpPr>
          <p:cNvPr id="7" name="Shape 5"/>
          <p:cNvSpPr/>
          <p:nvPr/>
        </p:nvSpPr>
        <p:spPr>
          <a:xfrm>
            <a:off x="548640" y="4800600"/>
            <a:ext cx="11091672" cy="1097280"/>
          </a:xfrm>
          <a:prstGeom prst="roundRect">
            <a:avLst>
              <a:gd name="adj" fmla="val 5000"/>
            </a:avLst>
          </a:prstGeom>
          <a:solidFill>
            <a:srgbClr val="F4ECFC"/>
          </a:solidFill>
          <a:ln w="12700">
            <a:solidFill>
              <a:srgbClr val="E7D9FB"/>
            </a:solidFill>
            <a:prstDash val="solid"/>
          </a:ln>
        </p:spPr>
      </p:sp>
      <p:sp>
        <p:nvSpPr>
          <p:cNvPr id="8" name="Shape 6"/>
          <p:cNvSpPr/>
          <p:nvPr/>
        </p:nvSpPr>
        <p:spPr>
          <a:xfrm>
            <a:off x="548640" y="4800600"/>
            <a:ext cx="73152" cy="1097280"/>
          </a:xfrm>
          <a:prstGeom prst="rect">
            <a:avLst/>
          </a:prstGeom>
          <a:solidFill>
            <a:srgbClr val="FF6600"/>
          </a:solidFill>
          <a:ln/>
        </p:spPr>
      </p:sp>
      <p:sp>
        <p:nvSpPr>
          <p:cNvPr id="9" name="Text 7"/>
          <p:cNvSpPr/>
          <p:nvPr/>
        </p:nvSpPr>
        <p:spPr>
          <a:xfrm>
            <a:off x="822960" y="4800600"/>
            <a:ext cx="10543032" cy="1097280"/>
          </a:xfrm>
          <a:prstGeom prst="rect">
            <a:avLst/>
          </a:prstGeom>
          <a:noFill/>
          <a:ln/>
        </p:spPr>
        <p:txBody>
          <a:bodyPr wrap="square" lIns="0" tIns="0" rIns="0" bIns="0" rtlCol="0" anchor="ctr"/>
          <a:lstStyle/>
          <a:p>
            <a:pPr algn="l" indent="0" marL="0">
              <a:lnSpc>
                <a:spcPct val="105000"/>
              </a:lnSpc>
              <a:buNone/>
            </a:pPr>
            <a:r>
              <a:rPr lang="en-US" sz="1350" i="1" dirty="0">
                <a:solidFill>
                  <a:srgbClr val="1A1D23"/>
                </a:solidFill>
                <a:latin typeface="Calibri" pitchFamily="34" charset="0"/>
                <a:ea typeface="Calibri" pitchFamily="34" charset="-122"/>
                <a:cs typeface="Calibri" pitchFamily="34" charset="-120"/>
              </a:rPr>
              <a:t>This is a public-data decision-support prototype. It helps managers notice and explain regional risk faster, but it does not make operational decisions and it does not use FedEx internal data.</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841248"/>
            <a:ext cx="11091672" cy="777240"/>
          </a:xfrm>
          <a:prstGeom prst="rect">
            <a:avLst/>
          </a:prstGeom>
          <a:noFill/>
          <a:ln/>
        </p:spPr>
        <p:txBody>
          <a:bodyPr wrap="square" lIns="0" tIns="0" rIns="0" bIns="0" rtlCol="0" anchor="ctr"/>
          <a:lstStyle/>
          <a:p>
            <a:pPr algn="l" indent="0" marL="0">
              <a:buNone/>
            </a:pPr>
            <a:r>
              <a:rPr lang="en-US" sz="3000" b="1" dirty="0">
                <a:solidFill>
                  <a:srgbClr val="4D148C"/>
                </a:solidFill>
                <a:latin typeface="Trebuchet MS" pitchFamily="34" charset="0"/>
                <a:ea typeface="Trebuchet MS" pitchFamily="34" charset="-122"/>
                <a:cs typeface="Trebuchet MS" pitchFamily="34" charset="-120"/>
              </a:rPr>
              <a:t>From Prototype to Pilot</a:t>
            </a:r>
            <a:endParaRPr lang="en-US" sz="3000" dirty="0"/>
          </a:p>
        </p:txBody>
      </p:sp>
      <p:sp>
        <p:nvSpPr>
          <p:cNvPr id="3" name="Text 1"/>
          <p:cNvSpPr/>
          <p:nvPr/>
        </p:nvSpPr>
        <p:spPr>
          <a:xfrm>
            <a:off x="548640" y="1600200"/>
            <a:ext cx="11091672" cy="640080"/>
          </a:xfrm>
          <a:prstGeom prst="rect">
            <a:avLst/>
          </a:prstGeom>
          <a:noFill/>
          <a:ln/>
        </p:spPr>
        <p:txBody>
          <a:bodyPr wrap="square" lIns="0" tIns="0" rIns="0" bIns="0" rtlCol="0" anchor="t"/>
          <a:lstStyle/>
          <a:p>
            <a:pPr algn="l" indent="0" marL="0">
              <a:buNone/>
            </a:pPr>
            <a:r>
              <a:rPr lang="en-US" sz="1500" dirty="0">
                <a:solidFill>
                  <a:srgbClr val="1A1D23"/>
                </a:solidFill>
                <a:latin typeface="Calibri" pitchFamily="34" charset="0"/>
                <a:ea typeface="Calibri" pitchFamily="34" charset="-122"/>
                <a:cs typeface="Calibri" pitchFamily="34" charset="-120"/>
              </a:rPr>
              <a:t>We are not asking for production approval today. We are asking to run small, measurable pilots that you control.</a:t>
            </a:r>
            <a:endParaRPr lang="en-US" sz="1500" dirty="0"/>
          </a:p>
        </p:txBody>
      </p:sp>
      <p:sp>
        <p:nvSpPr>
          <p:cNvPr id="4" name="Shape 2"/>
          <p:cNvSpPr/>
          <p:nvPr/>
        </p:nvSpPr>
        <p:spPr>
          <a:xfrm>
            <a:off x="548640" y="2468880"/>
            <a:ext cx="3483864" cy="2286000"/>
          </a:xfrm>
          <a:prstGeom prst="roundRect">
            <a:avLst>
              <a:gd name="adj" fmla="val 3200"/>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5" name="Shape 3"/>
          <p:cNvSpPr/>
          <p:nvPr/>
        </p:nvSpPr>
        <p:spPr>
          <a:xfrm>
            <a:off x="749808" y="2670048"/>
            <a:ext cx="457200" cy="457200"/>
          </a:xfrm>
          <a:prstGeom prst="ellipse">
            <a:avLst/>
          </a:prstGeom>
          <a:solidFill>
            <a:srgbClr val="4D148C"/>
          </a:solidFill>
          <a:ln/>
        </p:spPr>
      </p:sp>
      <p:sp>
        <p:nvSpPr>
          <p:cNvPr id="6" name="Text 4"/>
          <p:cNvSpPr/>
          <p:nvPr/>
        </p:nvSpPr>
        <p:spPr>
          <a:xfrm>
            <a:off x="749808" y="267004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rebuchet MS" pitchFamily="34" charset="0"/>
                <a:ea typeface="Trebuchet MS" pitchFamily="34" charset="-122"/>
                <a:cs typeface="Trebuchet MS" pitchFamily="34" charset="-120"/>
              </a:rPr>
              <a:t>1</a:t>
            </a:r>
            <a:endParaRPr lang="en-US" sz="1600" dirty="0"/>
          </a:p>
        </p:txBody>
      </p:sp>
      <p:sp>
        <p:nvSpPr>
          <p:cNvPr id="7" name="Text 5"/>
          <p:cNvSpPr/>
          <p:nvPr/>
        </p:nvSpPr>
        <p:spPr>
          <a:xfrm>
            <a:off x="1316736" y="2670048"/>
            <a:ext cx="2569464" cy="457200"/>
          </a:xfrm>
          <a:prstGeom prst="rect">
            <a:avLst/>
          </a:prstGeom>
          <a:noFill/>
          <a:ln/>
        </p:spPr>
        <p:txBody>
          <a:bodyPr wrap="square" lIns="0" tIns="0" rIns="0" bIns="0" rtlCol="0" anchor="ctr"/>
          <a:lstStyle/>
          <a:p>
            <a:pPr algn="l" indent="0" marL="0">
              <a:buNone/>
            </a:pPr>
            <a:r>
              <a:rPr lang="en-US" sz="1400" b="1" dirty="0">
                <a:solidFill>
                  <a:srgbClr val="4D148C"/>
                </a:solidFill>
                <a:latin typeface="Trebuchet MS" pitchFamily="34" charset="0"/>
                <a:ea typeface="Trebuchet MS" pitchFamily="34" charset="-122"/>
                <a:cs typeface="Trebuchet MS" pitchFamily="34" charset="-120"/>
              </a:rPr>
              <a:t>Propose</a:t>
            </a:r>
            <a:endParaRPr lang="en-US" sz="1400" dirty="0"/>
          </a:p>
        </p:txBody>
      </p:sp>
      <p:sp>
        <p:nvSpPr>
          <p:cNvPr id="8" name="Text 6"/>
          <p:cNvSpPr/>
          <p:nvPr/>
        </p:nvSpPr>
        <p:spPr>
          <a:xfrm>
            <a:off x="749808" y="3255264"/>
            <a:ext cx="3081528" cy="1371600"/>
          </a:xfrm>
          <a:prstGeom prst="rect">
            <a:avLst/>
          </a:prstGeom>
          <a:noFill/>
          <a:ln/>
        </p:spPr>
        <p:txBody>
          <a:bodyPr wrap="square" lIns="0" tIns="0" rIns="0" bIns="0" rtlCol="0" anchor="t"/>
          <a:lstStyle/>
          <a:p>
            <a:pPr algn="l" indent="0" marL="0">
              <a:lnSpc>
                <a:spcPct val="105000"/>
              </a:lnSpc>
              <a:buNone/>
            </a:pPr>
            <a:r>
              <a:rPr lang="en-US" sz="1200" dirty="0">
                <a:solidFill>
                  <a:srgbClr val="6B7280"/>
                </a:solidFill>
                <a:latin typeface="Calibri" pitchFamily="34" charset="0"/>
                <a:ea typeface="Calibri" pitchFamily="34" charset="-122"/>
                <a:cs typeface="Calibri" pitchFamily="34" charset="-120"/>
              </a:rPr>
              <a:t>Use the pilot template: problem, scope, data classification, success criteria, risk review.</a:t>
            </a:r>
            <a:endParaRPr lang="en-US" sz="1200" dirty="0"/>
          </a:p>
        </p:txBody>
      </p:sp>
      <p:sp>
        <p:nvSpPr>
          <p:cNvPr id="9" name="Shape 7"/>
          <p:cNvSpPr/>
          <p:nvPr/>
        </p:nvSpPr>
        <p:spPr>
          <a:xfrm>
            <a:off x="4352544" y="2468880"/>
            <a:ext cx="3483864" cy="2286000"/>
          </a:xfrm>
          <a:prstGeom prst="roundRect">
            <a:avLst>
              <a:gd name="adj" fmla="val 3200"/>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10" name="Shape 8"/>
          <p:cNvSpPr/>
          <p:nvPr/>
        </p:nvSpPr>
        <p:spPr>
          <a:xfrm>
            <a:off x="4553712" y="2670048"/>
            <a:ext cx="457200" cy="457200"/>
          </a:xfrm>
          <a:prstGeom prst="ellipse">
            <a:avLst/>
          </a:prstGeom>
          <a:solidFill>
            <a:srgbClr val="4D148C"/>
          </a:solidFill>
          <a:ln/>
        </p:spPr>
      </p:sp>
      <p:sp>
        <p:nvSpPr>
          <p:cNvPr id="11" name="Text 9"/>
          <p:cNvSpPr/>
          <p:nvPr/>
        </p:nvSpPr>
        <p:spPr>
          <a:xfrm>
            <a:off x="4553712" y="267004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rebuchet MS" pitchFamily="34" charset="0"/>
                <a:ea typeface="Trebuchet MS" pitchFamily="34" charset="-122"/>
                <a:cs typeface="Trebuchet MS" pitchFamily="34" charset="-120"/>
              </a:rPr>
              <a:t>2</a:t>
            </a:r>
            <a:endParaRPr lang="en-US" sz="1600" dirty="0"/>
          </a:p>
        </p:txBody>
      </p:sp>
      <p:sp>
        <p:nvSpPr>
          <p:cNvPr id="12" name="Text 10"/>
          <p:cNvSpPr/>
          <p:nvPr/>
        </p:nvSpPr>
        <p:spPr>
          <a:xfrm>
            <a:off x="5120640" y="2670048"/>
            <a:ext cx="2569464" cy="457200"/>
          </a:xfrm>
          <a:prstGeom prst="rect">
            <a:avLst/>
          </a:prstGeom>
          <a:noFill/>
          <a:ln/>
        </p:spPr>
        <p:txBody>
          <a:bodyPr wrap="square" lIns="0" tIns="0" rIns="0" bIns="0" rtlCol="0" anchor="ctr"/>
          <a:lstStyle/>
          <a:p>
            <a:pPr algn="l" indent="0" marL="0">
              <a:buNone/>
            </a:pPr>
            <a:r>
              <a:rPr lang="en-US" sz="1400" b="1" dirty="0">
                <a:solidFill>
                  <a:srgbClr val="4D148C"/>
                </a:solidFill>
                <a:latin typeface="Trebuchet MS" pitchFamily="34" charset="0"/>
                <a:ea typeface="Trebuchet MS" pitchFamily="34" charset="-122"/>
                <a:cs typeface="Trebuchet MS" pitchFamily="34" charset="-120"/>
              </a:rPr>
              <a:t>Run</a:t>
            </a:r>
            <a:endParaRPr lang="en-US" sz="1400" dirty="0"/>
          </a:p>
        </p:txBody>
      </p:sp>
      <p:sp>
        <p:nvSpPr>
          <p:cNvPr id="13" name="Text 11"/>
          <p:cNvSpPr/>
          <p:nvPr/>
        </p:nvSpPr>
        <p:spPr>
          <a:xfrm>
            <a:off x="4553712" y="3255264"/>
            <a:ext cx="3081528" cy="1371600"/>
          </a:xfrm>
          <a:prstGeom prst="rect">
            <a:avLst/>
          </a:prstGeom>
          <a:noFill/>
          <a:ln/>
        </p:spPr>
        <p:txBody>
          <a:bodyPr wrap="square" lIns="0" tIns="0" rIns="0" bIns="0" rtlCol="0" anchor="t"/>
          <a:lstStyle/>
          <a:p>
            <a:pPr algn="l" indent="0" marL="0">
              <a:lnSpc>
                <a:spcPct val="105000"/>
              </a:lnSpc>
              <a:buNone/>
            </a:pPr>
            <a:r>
              <a:rPr lang="en-US" sz="1200" dirty="0">
                <a:solidFill>
                  <a:srgbClr val="6B7280"/>
                </a:solidFill>
                <a:latin typeface="Calibri" pitchFamily="34" charset="0"/>
                <a:ea typeface="Calibri" pitchFamily="34" charset="-122"/>
                <a:cs typeface="Calibri" pitchFamily="34" charset="-120"/>
              </a:rPr>
              <a:t>Small experiment with synthetic data, clear metrics, and a human review step.</a:t>
            </a:r>
            <a:endParaRPr lang="en-US" sz="1200" dirty="0"/>
          </a:p>
        </p:txBody>
      </p:sp>
      <p:sp>
        <p:nvSpPr>
          <p:cNvPr id="14" name="Shape 12"/>
          <p:cNvSpPr/>
          <p:nvPr/>
        </p:nvSpPr>
        <p:spPr>
          <a:xfrm>
            <a:off x="8156448" y="2468880"/>
            <a:ext cx="3483864" cy="2286000"/>
          </a:xfrm>
          <a:prstGeom prst="roundRect">
            <a:avLst>
              <a:gd name="adj" fmla="val 3200"/>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15" name="Shape 13"/>
          <p:cNvSpPr/>
          <p:nvPr/>
        </p:nvSpPr>
        <p:spPr>
          <a:xfrm>
            <a:off x="8357616" y="2670048"/>
            <a:ext cx="457200" cy="457200"/>
          </a:xfrm>
          <a:prstGeom prst="ellipse">
            <a:avLst/>
          </a:prstGeom>
          <a:solidFill>
            <a:srgbClr val="4D148C"/>
          </a:solidFill>
          <a:ln/>
        </p:spPr>
      </p:sp>
      <p:sp>
        <p:nvSpPr>
          <p:cNvPr id="16" name="Text 14"/>
          <p:cNvSpPr/>
          <p:nvPr/>
        </p:nvSpPr>
        <p:spPr>
          <a:xfrm>
            <a:off x="8357616" y="267004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rebuchet MS" pitchFamily="34" charset="0"/>
                <a:ea typeface="Trebuchet MS" pitchFamily="34" charset="-122"/>
                <a:cs typeface="Trebuchet MS" pitchFamily="34" charset="-120"/>
              </a:rPr>
              <a:t>3</a:t>
            </a:r>
            <a:endParaRPr lang="en-US" sz="1600" dirty="0"/>
          </a:p>
        </p:txBody>
      </p:sp>
      <p:sp>
        <p:nvSpPr>
          <p:cNvPr id="17" name="Text 15"/>
          <p:cNvSpPr/>
          <p:nvPr/>
        </p:nvSpPr>
        <p:spPr>
          <a:xfrm>
            <a:off x="8924544" y="2670048"/>
            <a:ext cx="2569464" cy="457200"/>
          </a:xfrm>
          <a:prstGeom prst="rect">
            <a:avLst/>
          </a:prstGeom>
          <a:noFill/>
          <a:ln/>
        </p:spPr>
        <p:txBody>
          <a:bodyPr wrap="square" lIns="0" tIns="0" rIns="0" bIns="0" rtlCol="0" anchor="ctr"/>
          <a:lstStyle/>
          <a:p>
            <a:pPr algn="l" indent="0" marL="0">
              <a:buNone/>
            </a:pPr>
            <a:r>
              <a:rPr lang="en-US" sz="1400" b="1" dirty="0">
                <a:solidFill>
                  <a:srgbClr val="4D148C"/>
                </a:solidFill>
                <a:latin typeface="Trebuchet MS" pitchFamily="34" charset="0"/>
                <a:ea typeface="Trebuchet MS" pitchFamily="34" charset="-122"/>
                <a:cs typeface="Trebuchet MS" pitchFamily="34" charset="-120"/>
              </a:rPr>
              <a:t>Decide</a:t>
            </a:r>
            <a:endParaRPr lang="en-US" sz="1400" dirty="0"/>
          </a:p>
        </p:txBody>
      </p:sp>
      <p:sp>
        <p:nvSpPr>
          <p:cNvPr id="18" name="Text 16"/>
          <p:cNvSpPr/>
          <p:nvPr/>
        </p:nvSpPr>
        <p:spPr>
          <a:xfrm>
            <a:off x="8357616" y="3255264"/>
            <a:ext cx="3081528" cy="1371600"/>
          </a:xfrm>
          <a:prstGeom prst="rect">
            <a:avLst/>
          </a:prstGeom>
          <a:noFill/>
          <a:ln/>
        </p:spPr>
        <p:txBody>
          <a:bodyPr wrap="square" lIns="0" tIns="0" rIns="0" bIns="0" rtlCol="0" anchor="t"/>
          <a:lstStyle/>
          <a:p>
            <a:pPr algn="l" indent="0" marL="0">
              <a:lnSpc>
                <a:spcPct val="105000"/>
              </a:lnSpc>
              <a:buNone/>
            </a:pPr>
            <a:r>
              <a:rPr lang="en-US" sz="1200" dirty="0">
                <a:solidFill>
                  <a:srgbClr val="6B7280"/>
                </a:solidFill>
                <a:latin typeface="Calibri" pitchFamily="34" charset="0"/>
                <a:ea typeface="Calibri" pitchFamily="34" charset="-122"/>
                <a:cs typeface="Calibri" pitchFamily="34" charset="-120"/>
              </a:rPr>
              <a:t>Evidence-based go / no-go. Bring IT, legal, and compliance into the conversation with data, not just ideas.</a:t>
            </a:r>
            <a:endParaRPr lang="en-US" sz="1200" dirty="0"/>
          </a:p>
        </p:txBody>
      </p:sp>
      <p:sp>
        <p:nvSpPr>
          <p:cNvPr id="19" name="Text 17"/>
          <p:cNvSpPr/>
          <p:nvPr/>
        </p:nvSpPr>
        <p:spPr>
          <a:xfrm>
            <a:off x="548640" y="6355080"/>
            <a:ext cx="11091672" cy="36576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The template includes demo readiness checklists, failure criteria, and governance review steps.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841248"/>
            <a:ext cx="11091672" cy="777240"/>
          </a:xfrm>
          <a:prstGeom prst="rect">
            <a:avLst/>
          </a:prstGeom>
          <a:noFill/>
          <a:ln/>
        </p:spPr>
        <p:txBody>
          <a:bodyPr wrap="square" lIns="0" tIns="0" rIns="0" bIns="0" rtlCol="0" anchor="ctr"/>
          <a:lstStyle/>
          <a:p>
            <a:pPr algn="l" indent="0" marL="0">
              <a:buNone/>
            </a:pPr>
            <a:r>
              <a:rPr lang="en-US" sz="3000" b="1" dirty="0">
                <a:solidFill>
                  <a:srgbClr val="4D148C"/>
                </a:solidFill>
                <a:latin typeface="Trebuchet MS" pitchFamily="34" charset="0"/>
                <a:ea typeface="Trebuchet MS" pitchFamily="34" charset="-122"/>
                <a:cs typeface="Trebuchet MS" pitchFamily="34" charset="-120"/>
              </a:rPr>
              <a:t>Decision Requested Today</a:t>
            </a:r>
            <a:endParaRPr lang="en-US" sz="3000" dirty="0"/>
          </a:p>
        </p:txBody>
      </p:sp>
      <p:sp>
        <p:nvSpPr>
          <p:cNvPr id="3" name="Text 1"/>
          <p:cNvSpPr/>
          <p:nvPr/>
        </p:nvSpPr>
        <p:spPr>
          <a:xfrm>
            <a:off x="548640" y="1600200"/>
            <a:ext cx="11091672" cy="640080"/>
          </a:xfrm>
          <a:prstGeom prst="rect">
            <a:avLst/>
          </a:prstGeom>
          <a:noFill/>
          <a:ln/>
        </p:spPr>
        <p:txBody>
          <a:bodyPr wrap="square" lIns="0" tIns="0" rIns="0" bIns="0" rtlCol="0" anchor="t"/>
          <a:lstStyle/>
          <a:p>
            <a:pPr algn="l" indent="0" marL="0">
              <a:buNone/>
            </a:pPr>
            <a:r>
              <a:rPr lang="en-US" sz="1500" dirty="0">
                <a:solidFill>
                  <a:srgbClr val="1A1D23"/>
                </a:solidFill>
                <a:latin typeface="Calibri" pitchFamily="34" charset="0"/>
                <a:ea typeface="Calibri" pitchFamily="34" charset="-122"/>
                <a:cs typeface="Calibri" pitchFamily="34" charset="-120"/>
              </a:rPr>
              <a:t>One small, reversible next step — with public, synthetic, or scrubbed data only, and you in control:</a:t>
            </a:r>
            <a:endParaRPr lang="en-US" sz="1500" dirty="0"/>
          </a:p>
        </p:txBody>
      </p:sp>
      <p:sp>
        <p:nvSpPr>
          <p:cNvPr id="4" name="Shape 2"/>
          <p:cNvSpPr/>
          <p:nvPr/>
        </p:nvSpPr>
        <p:spPr>
          <a:xfrm>
            <a:off x="548640" y="2468880"/>
            <a:ext cx="3483864" cy="2286000"/>
          </a:xfrm>
          <a:prstGeom prst="roundRect">
            <a:avLst>
              <a:gd name="adj" fmla="val 3200"/>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5" name="Shape 3"/>
          <p:cNvSpPr/>
          <p:nvPr/>
        </p:nvSpPr>
        <p:spPr>
          <a:xfrm>
            <a:off x="749808" y="2670048"/>
            <a:ext cx="457200" cy="457200"/>
          </a:xfrm>
          <a:prstGeom prst="ellipse">
            <a:avLst/>
          </a:prstGeom>
          <a:solidFill>
            <a:srgbClr val="4D148C"/>
          </a:solidFill>
          <a:ln/>
        </p:spPr>
      </p:sp>
      <p:sp>
        <p:nvSpPr>
          <p:cNvPr id="6" name="Text 4"/>
          <p:cNvSpPr/>
          <p:nvPr/>
        </p:nvSpPr>
        <p:spPr>
          <a:xfrm>
            <a:off x="749808" y="267004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rebuchet MS" pitchFamily="34" charset="0"/>
                <a:ea typeface="Trebuchet MS" pitchFamily="34" charset="-122"/>
                <a:cs typeface="Trebuchet MS" pitchFamily="34" charset="-120"/>
              </a:rPr>
              <a:t>1</a:t>
            </a:r>
            <a:endParaRPr lang="en-US" sz="1600" dirty="0"/>
          </a:p>
        </p:txBody>
      </p:sp>
      <p:sp>
        <p:nvSpPr>
          <p:cNvPr id="7" name="Text 5"/>
          <p:cNvSpPr/>
          <p:nvPr/>
        </p:nvSpPr>
        <p:spPr>
          <a:xfrm>
            <a:off x="1316736" y="2670048"/>
            <a:ext cx="2569464" cy="457200"/>
          </a:xfrm>
          <a:prstGeom prst="rect">
            <a:avLst/>
          </a:prstGeom>
          <a:noFill/>
          <a:ln/>
        </p:spPr>
        <p:txBody>
          <a:bodyPr wrap="square" lIns="0" tIns="0" rIns="0" bIns="0" rtlCol="0" anchor="ctr"/>
          <a:lstStyle/>
          <a:p>
            <a:pPr algn="l" indent="0" marL="0">
              <a:buNone/>
            </a:pPr>
            <a:r>
              <a:rPr lang="en-US" sz="1400" b="1" dirty="0">
                <a:solidFill>
                  <a:srgbClr val="4D148C"/>
                </a:solidFill>
                <a:latin typeface="Trebuchet MS" pitchFamily="34" charset="0"/>
                <a:ea typeface="Trebuchet MS" pitchFamily="34" charset="-122"/>
                <a:cs typeface="Trebuchet MS" pitchFamily="34" charset="-120"/>
              </a:rPr>
              <a:t>Name an owner</a:t>
            </a:r>
            <a:endParaRPr lang="en-US" sz="1400" dirty="0"/>
          </a:p>
        </p:txBody>
      </p:sp>
      <p:sp>
        <p:nvSpPr>
          <p:cNvPr id="8" name="Text 6"/>
          <p:cNvSpPr/>
          <p:nvPr/>
        </p:nvSpPr>
        <p:spPr>
          <a:xfrm>
            <a:off x="749808" y="3255264"/>
            <a:ext cx="3081528" cy="1371600"/>
          </a:xfrm>
          <a:prstGeom prst="rect">
            <a:avLst/>
          </a:prstGeom>
          <a:noFill/>
          <a:ln/>
        </p:spPr>
        <p:txBody>
          <a:bodyPr wrap="square" lIns="0" tIns="0" rIns="0" bIns="0" rtlCol="0" anchor="t"/>
          <a:lstStyle/>
          <a:p>
            <a:pPr algn="l" indent="0" marL="0">
              <a:lnSpc>
                <a:spcPct val="105000"/>
              </a:lnSpc>
              <a:buNone/>
            </a:pPr>
            <a:r>
              <a:rPr lang="en-US" sz="1200" dirty="0">
                <a:solidFill>
                  <a:srgbClr val="6B7280"/>
                </a:solidFill>
                <a:latin typeface="Calibri" pitchFamily="34" charset="0"/>
                <a:ea typeface="Calibri" pitchFamily="34" charset="-122"/>
                <a:cs typeface="Calibri" pitchFamily="34" charset="-120"/>
              </a:rPr>
              <a:t>Nominate one low-risk pilot owner and backup owner from your district.</a:t>
            </a:r>
            <a:endParaRPr lang="en-US" sz="1200" dirty="0"/>
          </a:p>
        </p:txBody>
      </p:sp>
      <p:sp>
        <p:nvSpPr>
          <p:cNvPr id="9" name="Shape 7"/>
          <p:cNvSpPr/>
          <p:nvPr/>
        </p:nvSpPr>
        <p:spPr>
          <a:xfrm>
            <a:off x="4352544" y="2468880"/>
            <a:ext cx="3483864" cy="2286000"/>
          </a:xfrm>
          <a:prstGeom prst="roundRect">
            <a:avLst>
              <a:gd name="adj" fmla="val 3200"/>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10" name="Shape 8"/>
          <p:cNvSpPr/>
          <p:nvPr/>
        </p:nvSpPr>
        <p:spPr>
          <a:xfrm>
            <a:off x="4553712" y="2670048"/>
            <a:ext cx="457200" cy="457200"/>
          </a:xfrm>
          <a:prstGeom prst="ellipse">
            <a:avLst/>
          </a:prstGeom>
          <a:solidFill>
            <a:srgbClr val="4D148C"/>
          </a:solidFill>
          <a:ln/>
        </p:spPr>
      </p:sp>
      <p:sp>
        <p:nvSpPr>
          <p:cNvPr id="11" name="Text 9"/>
          <p:cNvSpPr/>
          <p:nvPr/>
        </p:nvSpPr>
        <p:spPr>
          <a:xfrm>
            <a:off x="4553712" y="267004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rebuchet MS" pitchFamily="34" charset="0"/>
                <a:ea typeface="Trebuchet MS" pitchFamily="34" charset="-122"/>
                <a:cs typeface="Trebuchet MS" pitchFamily="34" charset="-120"/>
              </a:rPr>
              <a:t>2</a:t>
            </a:r>
            <a:endParaRPr lang="en-US" sz="1600" dirty="0"/>
          </a:p>
        </p:txBody>
      </p:sp>
      <p:sp>
        <p:nvSpPr>
          <p:cNvPr id="12" name="Text 10"/>
          <p:cNvSpPr/>
          <p:nvPr/>
        </p:nvSpPr>
        <p:spPr>
          <a:xfrm>
            <a:off x="5120640" y="2670048"/>
            <a:ext cx="2569464" cy="457200"/>
          </a:xfrm>
          <a:prstGeom prst="rect">
            <a:avLst/>
          </a:prstGeom>
          <a:noFill/>
          <a:ln/>
        </p:spPr>
        <p:txBody>
          <a:bodyPr wrap="square" lIns="0" tIns="0" rIns="0" bIns="0" rtlCol="0" anchor="ctr"/>
          <a:lstStyle/>
          <a:p>
            <a:pPr algn="l" indent="0" marL="0">
              <a:buNone/>
            </a:pPr>
            <a:r>
              <a:rPr lang="en-US" sz="1400" b="1" dirty="0">
                <a:solidFill>
                  <a:srgbClr val="4D148C"/>
                </a:solidFill>
                <a:latin typeface="Trebuchet MS" pitchFamily="34" charset="0"/>
                <a:ea typeface="Trebuchet MS" pitchFamily="34" charset="-122"/>
                <a:cs typeface="Trebuchet MS" pitchFamily="34" charset="-120"/>
              </a:rPr>
              <a:t>Open prompt intake</a:t>
            </a:r>
            <a:endParaRPr lang="en-US" sz="1400" dirty="0"/>
          </a:p>
        </p:txBody>
      </p:sp>
      <p:sp>
        <p:nvSpPr>
          <p:cNvPr id="13" name="Text 11"/>
          <p:cNvSpPr/>
          <p:nvPr/>
        </p:nvSpPr>
        <p:spPr>
          <a:xfrm>
            <a:off x="4553712" y="3255264"/>
            <a:ext cx="3081528" cy="1371600"/>
          </a:xfrm>
          <a:prstGeom prst="rect">
            <a:avLst/>
          </a:prstGeom>
          <a:noFill/>
          <a:ln/>
        </p:spPr>
        <p:txBody>
          <a:bodyPr wrap="square" lIns="0" tIns="0" rIns="0" bIns="0" rtlCol="0" anchor="t"/>
          <a:lstStyle/>
          <a:p>
            <a:pPr algn="l" indent="0" marL="0">
              <a:lnSpc>
                <a:spcPct val="105000"/>
              </a:lnSpc>
              <a:buNone/>
            </a:pPr>
            <a:r>
              <a:rPr lang="en-US" sz="1200" dirty="0">
                <a:solidFill>
                  <a:srgbClr val="6B7280"/>
                </a:solidFill>
                <a:latin typeface="Calibri" pitchFamily="34" charset="0"/>
                <a:ea typeface="Calibri" pitchFamily="34" charset="-122"/>
                <a:cs typeface="Calibri" pitchFamily="34" charset="-120"/>
              </a:rPr>
              <a:t>Collect 10 manager workflow prompts over 30 days, with sensitive details removed.</a:t>
            </a:r>
            <a:endParaRPr lang="en-US" sz="1200" dirty="0"/>
          </a:p>
        </p:txBody>
      </p:sp>
      <p:sp>
        <p:nvSpPr>
          <p:cNvPr id="14" name="Shape 12"/>
          <p:cNvSpPr/>
          <p:nvPr/>
        </p:nvSpPr>
        <p:spPr>
          <a:xfrm>
            <a:off x="8156448" y="2468880"/>
            <a:ext cx="3483864" cy="2286000"/>
          </a:xfrm>
          <a:prstGeom prst="roundRect">
            <a:avLst>
              <a:gd name="adj" fmla="val 3200"/>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15" name="Shape 13"/>
          <p:cNvSpPr/>
          <p:nvPr/>
        </p:nvSpPr>
        <p:spPr>
          <a:xfrm>
            <a:off x="8357616" y="2670048"/>
            <a:ext cx="457200" cy="457200"/>
          </a:xfrm>
          <a:prstGeom prst="ellipse">
            <a:avLst/>
          </a:prstGeom>
          <a:solidFill>
            <a:srgbClr val="4D148C"/>
          </a:solidFill>
          <a:ln/>
        </p:spPr>
      </p:sp>
      <p:sp>
        <p:nvSpPr>
          <p:cNvPr id="16" name="Text 14"/>
          <p:cNvSpPr/>
          <p:nvPr/>
        </p:nvSpPr>
        <p:spPr>
          <a:xfrm>
            <a:off x="8357616" y="267004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rebuchet MS" pitchFamily="34" charset="0"/>
                <a:ea typeface="Trebuchet MS" pitchFamily="34" charset="-122"/>
                <a:cs typeface="Trebuchet MS" pitchFamily="34" charset="-120"/>
              </a:rPr>
              <a:t>3</a:t>
            </a:r>
            <a:endParaRPr lang="en-US" sz="1600" dirty="0"/>
          </a:p>
        </p:txBody>
      </p:sp>
      <p:sp>
        <p:nvSpPr>
          <p:cNvPr id="17" name="Text 15"/>
          <p:cNvSpPr/>
          <p:nvPr/>
        </p:nvSpPr>
        <p:spPr>
          <a:xfrm>
            <a:off x="8924544" y="2670048"/>
            <a:ext cx="2569464" cy="457200"/>
          </a:xfrm>
          <a:prstGeom prst="rect">
            <a:avLst/>
          </a:prstGeom>
          <a:noFill/>
          <a:ln/>
        </p:spPr>
        <p:txBody>
          <a:bodyPr wrap="square" lIns="0" tIns="0" rIns="0" bIns="0" rtlCol="0" anchor="ctr"/>
          <a:lstStyle/>
          <a:p>
            <a:pPr algn="l" indent="0" marL="0">
              <a:buNone/>
            </a:pPr>
            <a:r>
              <a:rPr lang="en-US" sz="1400" b="1" dirty="0">
                <a:solidFill>
                  <a:srgbClr val="4D148C"/>
                </a:solidFill>
                <a:latin typeface="Trebuchet MS" pitchFamily="34" charset="0"/>
                <a:ea typeface="Trebuchet MS" pitchFamily="34" charset="-122"/>
                <a:cs typeface="Trebuchet MS" pitchFamily="34" charset="-120"/>
              </a:rPr>
              <a:t>Keep the gate</a:t>
            </a:r>
            <a:endParaRPr lang="en-US" sz="1400" dirty="0"/>
          </a:p>
        </p:txBody>
      </p:sp>
      <p:sp>
        <p:nvSpPr>
          <p:cNvPr id="18" name="Text 16"/>
          <p:cNvSpPr/>
          <p:nvPr/>
        </p:nvSpPr>
        <p:spPr>
          <a:xfrm>
            <a:off x="8357616" y="3255264"/>
            <a:ext cx="3081528" cy="1371600"/>
          </a:xfrm>
          <a:prstGeom prst="rect">
            <a:avLst/>
          </a:prstGeom>
          <a:noFill/>
          <a:ln/>
        </p:spPr>
        <p:txBody>
          <a:bodyPr wrap="square" lIns="0" tIns="0" rIns="0" bIns="0" rtlCol="0" anchor="t"/>
          <a:lstStyle/>
          <a:p>
            <a:pPr algn="l" indent="0" marL="0">
              <a:lnSpc>
                <a:spcPct val="105000"/>
              </a:lnSpc>
              <a:buNone/>
            </a:pPr>
            <a:r>
              <a:rPr lang="en-US" sz="1200" dirty="0">
                <a:solidFill>
                  <a:srgbClr val="6B7280"/>
                </a:solidFill>
                <a:latin typeface="Calibri" pitchFamily="34" charset="0"/>
                <a:ea typeface="Calibri" pitchFamily="34" charset="-122"/>
                <a:cs typeface="Calibri" pitchFamily="34" charset="-120"/>
              </a:rPr>
              <a:t>No internal data, production workflow, or external messages until the project checklist is complete.</a:t>
            </a:r>
            <a:endParaRPr lang="en-US" sz="1200" dirty="0"/>
          </a:p>
        </p:txBody>
      </p:sp>
      <p:sp>
        <p:nvSpPr>
          <p:cNvPr id="19" name="Text 17"/>
          <p:cNvSpPr/>
          <p:nvPr/>
        </p:nvSpPr>
        <p:spPr>
          <a:xfrm>
            <a:off x="548640" y="6355080"/>
            <a:ext cx="11091672" cy="36576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Candidate first pilots are listed in docs/pilot-candidate-shortlist.md.</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A0F6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FF6600"/>
          </a:solidFill>
          <a:ln/>
        </p:spPr>
      </p:sp>
      <p:sp>
        <p:nvSpPr>
          <p:cNvPr id="3" name="Text 1"/>
          <p:cNvSpPr/>
          <p:nvPr/>
        </p:nvSpPr>
        <p:spPr>
          <a:xfrm>
            <a:off x="914400" y="1371600"/>
            <a:ext cx="10058400" cy="1005840"/>
          </a:xfrm>
          <a:prstGeom prst="rect">
            <a:avLst/>
          </a:prstGeom>
          <a:noFill/>
          <a:ln/>
        </p:spPr>
        <p:txBody>
          <a:bodyPr wrap="square" lIns="0" tIns="0" rIns="0" bIns="0" rtlCol="0" anchor="ctr"/>
          <a:lstStyle/>
          <a:p>
            <a:pPr algn="l" indent="0" marL="0">
              <a:buNone/>
            </a:pPr>
            <a:r>
              <a:rPr lang="en-US" sz="4800" b="1" dirty="0">
                <a:solidFill>
                  <a:srgbClr val="FFFFFF"/>
                </a:solidFill>
                <a:latin typeface="Trebuchet MS" pitchFamily="34" charset="0"/>
                <a:ea typeface="Trebuchet MS" pitchFamily="34" charset="-122"/>
                <a:cs typeface="Trebuchet MS" pitchFamily="34" charset="-120"/>
              </a:rPr>
              <a:t>Questions?</a:t>
            </a:r>
            <a:endParaRPr lang="en-US" sz="4800" dirty="0"/>
          </a:p>
        </p:txBody>
      </p:sp>
      <p:sp>
        <p:nvSpPr>
          <p:cNvPr id="4" name="Text 2"/>
          <p:cNvSpPr/>
          <p:nvPr/>
        </p:nvSpPr>
        <p:spPr>
          <a:xfrm>
            <a:off x="914400" y="2514600"/>
            <a:ext cx="9601200" cy="640080"/>
          </a:xfrm>
          <a:prstGeom prst="rect">
            <a:avLst/>
          </a:prstGeom>
          <a:noFill/>
          <a:ln/>
        </p:spPr>
        <p:txBody>
          <a:bodyPr wrap="square" lIns="0" tIns="0" rIns="0" bIns="0" rtlCol="0" anchor="t"/>
          <a:lstStyle/>
          <a:p>
            <a:pPr algn="l" indent="0" marL="0">
              <a:buNone/>
            </a:pPr>
            <a:r>
              <a:rPr lang="en-US" sz="1800" dirty="0">
                <a:solidFill>
                  <a:srgbClr val="CADCFC"/>
                </a:solidFill>
                <a:latin typeface="Calibri" pitchFamily="34" charset="0"/>
                <a:ea typeface="Calibri" pitchFamily="34" charset="-122"/>
                <a:cs typeface="Calibri" pitchFamily="34" charset="-120"/>
              </a:rPr>
              <a:t>The repo is public. The prompts are copy-paste ready. The prototype source is available for review.</a:t>
            </a:r>
            <a:endParaRPr lang="en-US" sz="1800" dirty="0"/>
          </a:p>
        </p:txBody>
      </p:sp>
      <p:sp>
        <p:nvSpPr>
          <p:cNvPr id="5" name="Shape 3"/>
          <p:cNvSpPr/>
          <p:nvPr/>
        </p:nvSpPr>
        <p:spPr>
          <a:xfrm>
            <a:off x="914400" y="3383280"/>
            <a:ext cx="6583680" cy="548640"/>
          </a:xfrm>
          <a:prstGeom prst="roundRect">
            <a:avLst>
              <a:gd name="adj" fmla="val 8333"/>
            </a:avLst>
          </a:prstGeom>
          <a:solidFill>
            <a:srgbClr val="2C0B4F"/>
          </a:solidFill>
          <a:ln w="12700">
            <a:solidFill>
              <a:srgbClr val="FF6600"/>
            </a:solidFill>
            <a:prstDash val="solid"/>
          </a:ln>
        </p:spPr>
      </p:sp>
      <p:sp>
        <p:nvSpPr>
          <p:cNvPr id="6" name="Shape 4"/>
          <p:cNvSpPr/>
          <p:nvPr/>
        </p:nvSpPr>
        <p:spPr>
          <a:xfrm>
            <a:off x="914400" y="3383280"/>
            <a:ext cx="73152" cy="548640"/>
          </a:xfrm>
          <a:prstGeom prst="rect">
            <a:avLst/>
          </a:prstGeom>
          <a:solidFill>
            <a:srgbClr val="FF6600"/>
          </a:solidFill>
          <a:ln/>
        </p:spPr>
      </p:sp>
      <p:sp>
        <p:nvSpPr>
          <p:cNvPr id="7" name="Text 5"/>
          <p:cNvSpPr/>
          <p:nvPr/>
        </p:nvSpPr>
        <p:spPr>
          <a:xfrm>
            <a:off x="1143000" y="3383280"/>
            <a:ext cx="6217920" cy="548640"/>
          </a:xfrm>
          <a:prstGeom prst="rect">
            <a:avLst/>
          </a:prstGeom>
          <a:noFill/>
          <a:ln/>
        </p:spPr>
        <p:txBody>
          <a:bodyPr wrap="square" lIns="0" tIns="0" rIns="0" bIns="0" rtlCol="0" anchor="ctr"/>
          <a:lstStyle/>
          <a:p>
            <a:pPr algn="l" indent="0" marL="0">
              <a:buNone/>
            </a:pPr>
            <a:r>
              <a:rPr lang="en-US" sz="1300" dirty="0">
                <a:solidFill>
                  <a:srgbClr val="FFFFFF"/>
                </a:solidFill>
                <a:latin typeface="Consolas" pitchFamily="34" charset="0"/>
                <a:ea typeface="Consolas" pitchFamily="34" charset="-122"/>
                <a:cs typeface="Consolas" pitchFamily="34" charset="-120"/>
              </a:rPr>
              <a:t>https://github.com/arigatoexpress/AI-Efficiency</a:t>
            </a:r>
            <a:endParaRPr lang="en-US" sz="1300" dirty="0"/>
          </a:p>
        </p:txBody>
      </p:sp>
      <p:sp>
        <p:nvSpPr>
          <p:cNvPr id="8" name="Text 6"/>
          <p:cNvSpPr/>
          <p:nvPr/>
        </p:nvSpPr>
        <p:spPr>
          <a:xfrm>
            <a:off x="914400" y="4754880"/>
            <a:ext cx="9601200" cy="914400"/>
          </a:xfrm>
          <a:prstGeom prst="rect">
            <a:avLst/>
          </a:prstGeom>
          <a:noFill/>
          <a:ln/>
        </p:spPr>
        <p:txBody>
          <a:bodyPr wrap="square" lIns="0" tIns="0" rIns="0" bIns="0" rtlCol="0" anchor="t"/>
          <a:lstStyle/>
          <a:p>
            <a:pPr algn="l" indent="0" marL="0">
              <a:spcAft>
                <a:spcPts val="800"/>
              </a:spcAft>
              <a:buNone/>
            </a:pPr>
            <a:r>
              <a:rPr lang="en-US" sz="1200" dirty="0">
                <a:solidFill>
                  <a:srgbClr val="CADCFC"/>
                </a:solidFill>
                <a:latin typeface="Calibri" pitchFamily="34" charset="0"/>
                <a:ea typeface="Calibri" pitchFamily="34" charset="-122"/>
                <a:cs typeface="Calibri" pitchFamily="34" charset="-120"/>
              </a:rPr>
              <a:t>Appendix follows for technical questions: how we test before we trust, and the engineering forward path.</a:t>
            </a:r>
            <a:endParaRPr lang="en-US" sz="1200" dirty="0"/>
          </a:p>
          <a:p>
            <a:pPr algn="l" indent="0" marL="0">
              <a:spcAft>
                <a:spcPts val="800"/>
              </a:spcAft>
              <a:buNone/>
            </a:pPr>
            <a:r>
              <a:rPr lang="en-US" sz="1100" dirty="0">
                <a:solidFill>
                  <a:srgbClr val="9C8FB8"/>
                </a:solidFill>
                <a:latin typeface="Calibri" pitchFamily="34" charset="0"/>
                <a:ea typeface="Calibri" pitchFamily="34" charset="-122"/>
                <a:cs typeface="Calibri" pitchFamily="34" charset="-120"/>
              </a:rPr>
              <a:t>FedEx AI Efficiency Team — District Manager Briefing  ·  Built with Safety Above All.</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FF0F3"/>
        </a:solidFill>
      </p:bgPr>
    </p:bg>
    <p:spTree>
      <p:nvGrpSpPr>
        <p:cNvPr id="1" name=""/>
        <p:cNvGrpSpPr/>
        <p:nvPr/>
      </p:nvGrpSpPr>
      <p:grpSpPr>
        <a:xfrm>
          <a:off x="0" y="0"/>
          <a:ext cx="0" cy="0"/>
          <a:chOff x="0" y="0"/>
          <a:chExt cx="0" cy="0"/>
        </a:xfrm>
      </p:grpSpPr>
      <p:sp>
        <p:nvSpPr>
          <p:cNvPr id="2" name="Shape 0"/>
          <p:cNvSpPr/>
          <p:nvPr/>
        </p:nvSpPr>
        <p:spPr>
          <a:xfrm>
            <a:off x="548640" y="457200"/>
            <a:ext cx="1799539" cy="292608"/>
          </a:xfrm>
          <a:prstGeom prst="roundRect">
            <a:avLst>
              <a:gd name="adj" fmla="val 50000"/>
            </a:avLst>
          </a:prstGeom>
          <a:solidFill>
            <a:srgbClr val="6B7280"/>
          </a:solidFill>
          <a:ln/>
        </p:spPr>
      </p:sp>
      <p:sp>
        <p:nvSpPr>
          <p:cNvPr id="3" name="Text 1"/>
          <p:cNvSpPr/>
          <p:nvPr/>
        </p:nvSpPr>
        <p:spPr>
          <a:xfrm>
            <a:off x="548640" y="457200"/>
            <a:ext cx="1799539"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Trebuchet MS" pitchFamily="34" charset="0"/>
                <a:ea typeface="Trebuchet MS" pitchFamily="34" charset="-122"/>
                <a:cs typeface="Trebuchet MS" pitchFamily="34" charset="-120"/>
              </a:rPr>
              <a:t>APPENDIX · OPTIONAL</a:t>
            </a:r>
            <a:endParaRPr lang="en-US" sz="1050" dirty="0"/>
          </a:p>
        </p:txBody>
      </p:sp>
      <p:sp>
        <p:nvSpPr>
          <p:cNvPr id="4" name="Text 2"/>
          <p:cNvSpPr/>
          <p:nvPr/>
        </p:nvSpPr>
        <p:spPr>
          <a:xfrm>
            <a:off x="548640" y="841248"/>
            <a:ext cx="11091672" cy="777240"/>
          </a:xfrm>
          <a:prstGeom prst="rect">
            <a:avLst/>
          </a:prstGeom>
          <a:noFill/>
          <a:ln/>
        </p:spPr>
        <p:txBody>
          <a:bodyPr wrap="square" lIns="0" tIns="0" rIns="0" bIns="0" rtlCol="0" anchor="ctr"/>
          <a:lstStyle/>
          <a:p>
            <a:pPr algn="l" indent="0" marL="0">
              <a:buNone/>
            </a:pPr>
            <a:r>
              <a:rPr lang="en-US" sz="3000" b="1" dirty="0">
                <a:solidFill>
                  <a:srgbClr val="4D148C"/>
                </a:solidFill>
                <a:latin typeface="Trebuchet MS" pitchFamily="34" charset="0"/>
                <a:ea typeface="Trebuchet MS" pitchFamily="34" charset="-122"/>
                <a:cs typeface="Trebuchet MS" pitchFamily="34" charset="-120"/>
              </a:rPr>
              <a:t>We Test Before We Trust</a:t>
            </a:r>
            <a:endParaRPr lang="en-US" sz="3000" dirty="0"/>
          </a:p>
        </p:txBody>
      </p:sp>
      <p:sp>
        <p:nvSpPr>
          <p:cNvPr id="5" name="Text 3"/>
          <p:cNvSpPr/>
          <p:nvPr/>
        </p:nvSpPr>
        <p:spPr>
          <a:xfrm>
            <a:off x="548640" y="1627632"/>
            <a:ext cx="11091672" cy="640080"/>
          </a:xfrm>
          <a:prstGeom prst="rect">
            <a:avLst/>
          </a:prstGeom>
          <a:noFill/>
          <a:ln/>
        </p:spPr>
        <p:txBody>
          <a:bodyPr wrap="square" lIns="0" tIns="0" rIns="0" bIns="0" rtlCol="0" anchor="t"/>
          <a:lstStyle/>
          <a:p>
            <a:pPr algn="l" indent="0" marL="0">
              <a:buNone/>
            </a:pPr>
            <a:r>
              <a:rPr lang="en-US" sz="1500" dirty="0">
                <a:solidFill>
                  <a:srgbClr val="1A1D23"/>
                </a:solidFill>
                <a:latin typeface="Calibri" pitchFamily="34" charset="0"/>
                <a:ea typeface="Calibri" pitchFamily="34" charset="-122"/>
                <a:cs typeface="Calibri" pitchFamily="34" charset="-120"/>
              </a:rPr>
              <a:t>When a flashier AI tool shows up, we don't just adopt it. We make it prove it beats the simple, explainable tool we already trust — in a fair head-to-head test — before it earns a pilot.</a:t>
            </a:r>
            <a:endParaRPr lang="en-US" sz="1500" dirty="0"/>
          </a:p>
        </p:txBody>
      </p:sp>
      <p:sp>
        <p:nvSpPr>
          <p:cNvPr id="6" name="Shape 4"/>
          <p:cNvSpPr/>
          <p:nvPr/>
        </p:nvSpPr>
        <p:spPr>
          <a:xfrm>
            <a:off x="548640" y="2697480"/>
            <a:ext cx="5362956" cy="1828800"/>
          </a:xfrm>
          <a:prstGeom prst="roundRect">
            <a:avLst>
              <a:gd name="adj" fmla="val 4000"/>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7" name="Text 5"/>
          <p:cNvSpPr/>
          <p:nvPr/>
        </p:nvSpPr>
        <p:spPr>
          <a:xfrm>
            <a:off x="749808" y="2880360"/>
            <a:ext cx="4960620" cy="1463040"/>
          </a:xfrm>
          <a:prstGeom prst="rect">
            <a:avLst/>
          </a:prstGeom>
          <a:noFill/>
          <a:ln/>
        </p:spPr>
        <p:txBody>
          <a:bodyPr wrap="square" lIns="0" tIns="0" rIns="0" bIns="0" rtlCol="0" anchor="t"/>
          <a:lstStyle/>
          <a:p>
            <a:pPr algn="l" indent="0" marL="0">
              <a:lnSpc>
                <a:spcPct val="105000"/>
              </a:lnSpc>
              <a:spcAft>
                <a:spcPts val="600"/>
              </a:spcAft>
              <a:buNone/>
            </a:pPr>
            <a:r>
              <a:rPr lang="en-US" sz="1400" b="1" dirty="0">
                <a:solidFill>
                  <a:srgbClr val="4D148C"/>
                </a:solidFill>
                <a:latin typeface="Calibri" pitchFamily="34" charset="0"/>
                <a:ea typeface="Calibri" pitchFamily="34" charset="-122"/>
                <a:cs typeface="Calibri" pitchFamily="34" charset="-120"/>
              </a:rPr>
              <a:t>The first test we ran</a:t>
            </a:r>
            <a:endParaRPr lang="en-US" sz="1400" dirty="0"/>
          </a:p>
          <a:p>
            <a:pPr algn="l" indent="0" marL="0">
              <a:lnSpc>
                <a:spcPct val="105000"/>
              </a:lnSpc>
              <a:spcAft>
                <a:spcPts val="600"/>
              </a:spcAft>
              <a:buNone/>
            </a:pPr>
            <a:r>
              <a:rPr lang="en-US" sz="1300" dirty="0">
                <a:solidFill>
                  <a:srgbClr val="6B7280"/>
                </a:solidFill>
                <a:latin typeface="Calibri" pitchFamily="34" charset="0"/>
                <a:ea typeface="Calibri" pitchFamily="34" charset="-122"/>
                <a:cs typeface="Calibri" pitchFamily="34" charset="-120"/>
              </a:rPr>
              <a:t>A fancy AI forecasting model versus our simple, explainable one, on the same data. The simple tool won. So we kept it and spent no pilot, no budget, and no team time on the upgrade.</a:t>
            </a:r>
            <a:endParaRPr lang="en-US" sz="1400" dirty="0"/>
          </a:p>
        </p:txBody>
      </p:sp>
      <p:sp>
        <p:nvSpPr>
          <p:cNvPr id="8" name="Shape 6"/>
          <p:cNvSpPr/>
          <p:nvPr/>
        </p:nvSpPr>
        <p:spPr>
          <a:xfrm>
            <a:off x="6277356" y="2697480"/>
            <a:ext cx="5362956" cy="1828800"/>
          </a:xfrm>
          <a:prstGeom prst="roundRect">
            <a:avLst>
              <a:gd name="adj" fmla="val 4000"/>
            </a:avLst>
          </a:prstGeom>
          <a:solidFill>
            <a:srgbClr val="F7F8FA"/>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9" name="Text 7"/>
          <p:cNvSpPr/>
          <p:nvPr/>
        </p:nvSpPr>
        <p:spPr>
          <a:xfrm>
            <a:off x="6478524" y="2880360"/>
            <a:ext cx="4960620" cy="1463040"/>
          </a:xfrm>
          <a:prstGeom prst="rect">
            <a:avLst/>
          </a:prstGeom>
          <a:noFill/>
          <a:ln/>
        </p:spPr>
        <p:txBody>
          <a:bodyPr wrap="square" lIns="0" tIns="0" rIns="0" bIns="0" rtlCol="0" anchor="t"/>
          <a:lstStyle/>
          <a:p>
            <a:pPr algn="l" indent="0" marL="0">
              <a:lnSpc>
                <a:spcPct val="105000"/>
              </a:lnSpc>
              <a:spcAft>
                <a:spcPts val="600"/>
              </a:spcAft>
              <a:buNone/>
            </a:pPr>
            <a:r>
              <a:rPr lang="en-US" sz="1400" b="1" dirty="0">
                <a:solidFill>
                  <a:srgbClr val="4D148C"/>
                </a:solidFill>
                <a:latin typeface="Calibri" pitchFamily="34" charset="0"/>
                <a:ea typeface="Calibri" pitchFamily="34" charset="-122"/>
                <a:cs typeface="Calibri" pitchFamily="34" charset="-120"/>
              </a:rPr>
              <a:t>Why it matters to a district</a:t>
            </a:r>
            <a:endParaRPr lang="en-US" sz="1400" dirty="0"/>
          </a:p>
          <a:p>
            <a:pPr algn="l" indent="0" marL="0">
              <a:lnSpc>
                <a:spcPct val="105000"/>
              </a:lnSpc>
              <a:spcAft>
                <a:spcPts val="600"/>
              </a:spcAft>
              <a:buNone/>
            </a:pPr>
            <a:r>
              <a:rPr lang="en-US" sz="1300" dirty="0">
                <a:solidFill>
                  <a:srgbClr val="6B7280"/>
                </a:solidFill>
                <a:latin typeface="Calibri" pitchFamily="34" charset="0"/>
                <a:ea typeface="Calibri" pitchFamily="34" charset="-122"/>
                <a:cs typeface="Calibri" pitchFamily="34" charset="-120"/>
              </a:rPr>
              <a:t>This is how we keep hype from wasting your team's time and money. Nothing gets adopted on a sales pitch — only on measured results — and we write down exactly when it's worth a second look.</a:t>
            </a:r>
            <a:endParaRPr lang="en-US" sz="1400" dirty="0"/>
          </a:p>
        </p:txBody>
      </p:sp>
      <p:sp>
        <p:nvSpPr>
          <p:cNvPr id="10" name="Text 8"/>
          <p:cNvSpPr/>
          <p:nvPr/>
        </p:nvSpPr>
        <p:spPr>
          <a:xfrm>
            <a:off x="548640" y="6355080"/>
            <a:ext cx="11091672" cy="36576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We also confirmed privacy-preserving (encrypted) scoring is feasible — kept on the research shelf pending a security review.</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FF0F3"/>
        </a:solidFill>
      </p:bgPr>
    </p:bg>
    <p:spTree>
      <p:nvGrpSpPr>
        <p:cNvPr id="1" name=""/>
        <p:cNvGrpSpPr/>
        <p:nvPr/>
      </p:nvGrpSpPr>
      <p:grpSpPr>
        <a:xfrm>
          <a:off x="0" y="0"/>
          <a:ext cx="0" cy="0"/>
          <a:chOff x="0" y="0"/>
          <a:chExt cx="0" cy="0"/>
        </a:xfrm>
      </p:grpSpPr>
      <p:sp>
        <p:nvSpPr>
          <p:cNvPr id="2" name="Shape 0"/>
          <p:cNvSpPr/>
          <p:nvPr/>
        </p:nvSpPr>
        <p:spPr>
          <a:xfrm>
            <a:off x="548640" y="457200"/>
            <a:ext cx="2556662" cy="292608"/>
          </a:xfrm>
          <a:prstGeom prst="roundRect">
            <a:avLst>
              <a:gd name="adj" fmla="val 50000"/>
            </a:avLst>
          </a:prstGeom>
          <a:solidFill>
            <a:srgbClr val="6B7280"/>
          </a:solidFill>
          <a:ln/>
        </p:spPr>
      </p:sp>
      <p:sp>
        <p:nvSpPr>
          <p:cNvPr id="3" name="Text 1"/>
          <p:cNvSpPr/>
          <p:nvPr/>
        </p:nvSpPr>
        <p:spPr>
          <a:xfrm>
            <a:off x="548640" y="457200"/>
            <a:ext cx="2556662"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Trebuchet MS" pitchFamily="34" charset="0"/>
                <a:ea typeface="Trebuchet MS" pitchFamily="34" charset="-122"/>
                <a:cs typeface="Trebuchet MS" pitchFamily="34" charset="-120"/>
              </a:rPr>
              <a:t>APPENDIX · FOR TECHNICAL Q&amp;A</a:t>
            </a:r>
            <a:endParaRPr lang="en-US" sz="1050" dirty="0"/>
          </a:p>
        </p:txBody>
      </p:sp>
      <p:sp>
        <p:nvSpPr>
          <p:cNvPr id="4" name="Text 2"/>
          <p:cNvSpPr/>
          <p:nvPr/>
        </p:nvSpPr>
        <p:spPr>
          <a:xfrm>
            <a:off x="548640" y="841248"/>
            <a:ext cx="11091672" cy="777240"/>
          </a:xfrm>
          <a:prstGeom prst="rect">
            <a:avLst/>
          </a:prstGeom>
          <a:noFill/>
          <a:ln/>
        </p:spPr>
        <p:txBody>
          <a:bodyPr wrap="square" lIns="0" tIns="0" rIns="0" bIns="0" rtlCol="0" anchor="ctr"/>
          <a:lstStyle/>
          <a:p>
            <a:pPr algn="l" indent="0" marL="0">
              <a:buNone/>
            </a:pPr>
            <a:r>
              <a:rPr lang="en-US" sz="3000" b="1" dirty="0">
                <a:solidFill>
                  <a:srgbClr val="4D148C"/>
                </a:solidFill>
                <a:latin typeface="Trebuchet MS" pitchFamily="34" charset="0"/>
                <a:ea typeface="Trebuchet MS" pitchFamily="34" charset="-122"/>
                <a:cs typeface="Trebuchet MS" pitchFamily="34" charset="-120"/>
              </a:rPr>
              <a:t>The Engineering Forward Path</a:t>
            </a:r>
            <a:endParaRPr lang="en-US" sz="3000" dirty="0"/>
          </a:p>
        </p:txBody>
      </p:sp>
      <p:sp>
        <p:nvSpPr>
          <p:cNvPr id="5" name="Text 3"/>
          <p:cNvSpPr/>
          <p:nvPr/>
        </p:nvSpPr>
        <p:spPr>
          <a:xfrm>
            <a:off x="548640" y="1627632"/>
            <a:ext cx="11091672" cy="640080"/>
          </a:xfrm>
          <a:prstGeom prst="rect">
            <a:avLst/>
          </a:prstGeom>
          <a:noFill/>
          <a:ln/>
        </p:spPr>
        <p:txBody>
          <a:bodyPr wrap="square" lIns="0" tIns="0" rIns="0" bIns="0" rtlCol="0" anchor="t"/>
          <a:lstStyle/>
          <a:p>
            <a:pPr algn="l" indent="0" marL="0">
              <a:buNone/>
            </a:pPr>
            <a:r>
              <a:rPr lang="en-US" sz="1500" dirty="0">
                <a:solidFill>
                  <a:srgbClr val="1A1D23"/>
                </a:solidFill>
                <a:latin typeface="Calibri" pitchFamily="34" charset="0"/>
                <a:ea typeface="Calibri" pitchFamily="34" charset="-122"/>
                <a:cs typeface="Calibri" pitchFamily="34" charset="-120"/>
              </a:rPr>
              <a:t>If a pilot earns it, here is the governed path from today's demo to a real tool — built entirely on Google Cloud and Gemini tools FedEx already uses. Internal FedEx data stays locked behind governance the entire way.</a:t>
            </a:r>
            <a:endParaRPr lang="en-US" sz="1500" dirty="0"/>
          </a:p>
        </p:txBody>
      </p:sp>
      <p:sp>
        <p:nvSpPr>
          <p:cNvPr id="6" name="Shape 4"/>
          <p:cNvSpPr/>
          <p:nvPr/>
        </p:nvSpPr>
        <p:spPr>
          <a:xfrm>
            <a:off x="548640" y="3200400"/>
            <a:ext cx="1635252" cy="868680"/>
          </a:xfrm>
          <a:prstGeom prst="roundRect">
            <a:avLst>
              <a:gd name="adj" fmla="val 7368"/>
            </a:avLst>
          </a:prstGeom>
          <a:solidFill>
            <a:srgbClr val="FFFFFF"/>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7" name="Text 5"/>
          <p:cNvSpPr/>
          <p:nvPr/>
        </p:nvSpPr>
        <p:spPr>
          <a:xfrm>
            <a:off x="621792" y="3200400"/>
            <a:ext cx="1488948" cy="868680"/>
          </a:xfrm>
          <a:prstGeom prst="rect">
            <a:avLst/>
          </a:prstGeom>
          <a:noFill/>
          <a:ln/>
        </p:spPr>
        <p:txBody>
          <a:bodyPr wrap="square" lIns="0" tIns="0" rIns="0" bIns="0" rtlCol="0" anchor="ctr"/>
          <a:lstStyle/>
          <a:p>
            <a:pPr algn="ctr" indent="0" marL="0">
              <a:lnSpc>
                <a:spcPct val="95000"/>
              </a:lnSpc>
              <a:buNone/>
            </a:pPr>
            <a:r>
              <a:rPr lang="en-US" sz="1050" b="1" dirty="0">
                <a:solidFill>
                  <a:srgbClr val="4D148C"/>
                </a:solidFill>
                <a:latin typeface="Trebuchet MS" pitchFamily="34" charset="0"/>
                <a:ea typeface="Trebuchet MS" pitchFamily="34" charset="-122"/>
                <a:cs typeface="Trebuchet MS" pitchFamily="34" charset="-120"/>
              </a:rPr>
              <a:t>Google AI Studio</a:t>
            </a:r>
            <a:endParaRPr lang="en-US" sz="1050" dirty="0"/>
          </a:p>
        </p:txBody>
      </p:sp>
      <p:sp>
        <p:nvSpPr>
          <p:cNvPr id="8" name="Text 6"/>
          <p:cNvSpPr/>
          <p:nvPr/>
        </p:nvSpPr>
        <p:spPr>
          <a:xfrm>
            <a:off x="2165604" y="3200400"/>
            <a:ext cx="256032" cy="868680"/>
          </a:xfrm>
          <a:prstGeom prst="rect">
            <a:avLst/>
          </a:prstGeom>
          <a:noFill/>
          <a:ln/>
        </p:spPr>
        <p:txBody>
          <a:bodyPr wrap="square" lIns="0" tIns="0" rIns="0" bIns="0" rtlCol="0" anchor="ctr"/>
          <a:lstStyle/>
          <a:p>
            <a:pPr algn="ctr" indent="0" marL="0">
              <a:buNone/>
            </a:pPr>
            <a:r>
              <a:rPr lang="en-US" sz="1800" b="1" dirty="0">
                <a:solidFill>
                  <a:srgbClr val="6B7280"/>
                </a:solidFill>
                <a:latin typeface="Trebuchet MS" pitchFamily="34" charset="0"/>
                <a:ea typeface="Trebuchet MS" pitchFamily="34" charset="-122"/>
                <a:cs typeface="Trebuchet MS" pitchFamily="34" charset="-120"/>
              </a:rPr>
              <a:t>›</a:t>
            </a:r>
            <a:endParaRPr lang="en-US" sz="1800" dirty="0"/>
          </a:p>
        </p:txBody>
      </p:sp>
      <p:sp>
        <p:nvSpPr>
          <p:cNvPr id="9" name="Shape 7"/>
          <p:cNvSpPr/>
          <p:nvPr/>
        </p:nvSpPr>
        <p:spPr>
          <a:xfrm>
            <a:off x="2439924" y="3200400"/>
            <a:ext cx="1635252" cy="868680"/>
          </a:xfrm>
          <a:prstGeom prst="roundRect">
            <a:avLst>
              <a:gd name="adj" fmla="val 7368"/>
            </a:avLst>
          </a:prstGeom>
          <a:solidFill>
            <a:srgbClr val="FFFFFF"/>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10" name="Text 8"/>
          <p:cNvSpPr/>
          <p:nvPr/>
        </p:nvSpPr>
        <p:spPr>
          <a:xfrm>
            <a:off x="2513076" y="3200400"/>
            <a:ext cx="1488948" cy="868680"/>
          </a:xfrm>
          <a:prstGeom prst="rect">
            <a:avLst/>
          </a:prstGeom>
          <a:noFill/>
          <a:ln/>
        </p:spPr>
        <p:txBody>
          <a:bodyPr wrap="square" lIns="0" tIns="0" rIns="0" bIns="0" rtlCol="0" anchor="ctr"/>
          <a:lstStyle/>
          <a:p>
            <a:pPr algn="ctr" indent="0" marL="0">
              <a:lnSpc>
                <a:spcPct val="95000"/>
              </a:lnSpc>
              <a:buNone/>
            </a:pPr>
            <a:r>
              <a:rPr lang="en-US" sz="1050" b="1" dirty="0">
                <a:solidFill>
                  <a:srgbClr val="4D148C"/>
                </a:solidFill>
                <a:latin typeface="Trebuchet MS" pitchFamily="34" charset="0"/>
                <a:ea typeface="Trebuchet MS" pitchFamily="34" charset="-122"/>
                <a:cs typeface="Trebuchet MS" pitchFamily="34" charset="-120"/>
              </a:rPr>
              <a:t>Gemini / Vertex AI</a:t>
            </a:r>
            <a:endParaRPr lang="en-US" sz="1050" dirty="0"/>
          </a:p>
        </p:txBody>
      </p:sp>
      <p:sp>
        <p:nvSpPr>
          <p:cNvPr id="11" name="Text 9"/>
          <p:cNvSpPr/>
          <p:nvPr/>
        </p:nvSpPr>
        <p:spPr>
          <a:xfrm>
            <a:off x="4056888" y="3200400"/>
            <a:ext cx="256032" cy="868680"/>
          </a:xfrm>
          <a:prstGeom prst="rect">
            <a:avLst/>
          </a:prstGeom>
          <a:noFill/>
          <a:ln/>
        </p:spPr>
        <p:txBody>
          <a:bodyPr wrap="square" lIns="0" tIns="0" rIns="0" bIns="0" rtlCol="0" anchor="ctr"/>
          <a:lstStyle/>
          <a:p>
            <a:pPr algn="ctr" indent="0" marL="0">
              <a:buNone/>
            </a:pPr>
            <a:r>
              <a:rPr lang="en-US" sz="1800" b="1" dirty="0">
                <a:solidFill>
                  <a:srgbClr val="6B7280"/>
                </a:solidFill>
                <a:latin typeface="Trebuchet MS" pitchFamily="34" charset="0"/>
                <a:ea typeface="Trebuchet MS" pitchFamily="34" charset="-122"/>
                <a:cs typeface="Trebuchet MS" pitchFamily="34" charset="-120"/>
              </a:rPr>
              <a:t>›</a:t>
            </a:r>
            <a:endParaRPr lang="en-US" sz="1800" dirty="0"/>
          </a:p>
        </p:txBody>
      </p:sp>
      <p:sp>
        <p:nvSpPr>
          <p:cNvPr id="12" name="Shape 10"/>
          <p:cNvSpPr/>
          <p:nvPr/>
        </p:nvSpPr>
        <p:spPr>
          <a:xfrm>
            <a:off x="4331208" y="3200400"/>
            <a:ext cx="1635252" cy="868680"/>
          </a:xfrm>
          <a:prstGeom prst="roundRect">
            <a:avLst>
              <a:gd name="adj" fmla="val 7368"/>
            </a:avLst>
          </a:prstGeom>
          <a:solidFill>
            <a:srgbClr val="FFFFFF"/>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13" name="Text 11"/>
          <p:cNvSpPr/>
          <p:nvPr/>
        </p:nvSpPr>
        <p:spPr>
          <a:xfrm>
            <a:off x="4404360" y="3200400"/>
            <a:ext cx="1488948" cy="868680"/>
          </a:xfrm>
          <a:prstGeom prst="rect">
            <a:avLst/>
          </a:prstGeom>
          <a:noFill/>
          <a:ln/>
        </p:spPr>
        <p:txBody>
          <a:bodyPr wrap="square" lIns="0" tIns="0" rIns="0" bIns="0" rtlCol="0" anchor="ctr"/>
          <a:lstStyle/>
          <a:p>
            <a:pPr algn="ctr" indent="0" marL="0">
              <a:lnSpc>
                <a:spcPct val="95000"/>
              </a:lnSpc>
              <a:buNone/>
            </a:pPr>
            <a:r>
              <a:rPr lang="en-US" sz="1050" b="1" dirty="0">
                <a:solidFill>
                  <a:srgbClr val="4D148C"/>
                </a:solidFill>
                <a:latin typeface="Trebuchet MS" pitchFamily="34" charset="0"/>
                <a:ea typeface="Trebuchet MS" pitchFamily="34" charset="-122"/>
                <a:cs typeface="Trebuchet MS" pitchFamily="34" charset="-120"/>
              </a:rPr>
              <a:t>Agent Development Kit (ADK)</a:t>
            </a:r>
            <a:endParaRPr lang="en-US" sz="1050" dirty="0"/>
          </a:p>
        </p:txBody>
      </p:sp>
      <p:sp>
        <p:nvSpPr>
          <p:cNvPr id="14" name="Text 12"/>
          <p:cNvSpPr/>
          <p:nvPr/>
        </p:nvSpPr>
        <p:spPr>
          <a:xfrm>
            <a:off x="5948172" y="3200400"/>
            <a:ext cx="256032" cy="868680"/>
          </a:xfrm>
          <a:prstGeom prst="rect">
            <a:avLst/>
          </a:prstGeom>
          <a:noFill/>
          <a:ln/>
        </p:spPr>
        <p:txBody>
          <a:bodyPr wrap="square" lIns="0" tIns="0" rIns="0" bIns="0" rtlCol="0" anchor="ctr"/>
          <a:lstStyle/>
          <a:p>
            <a:pPr algn="ctr" indent="0" marL="0">
              <a:buNone/>
            </a:pPr>
            <a:r>
              <a:rPr lang="en-US" sz="1800" b="1" dirty="0">
                <a:solidFill>
                  <a:srgbClr val="6B7280"/>
                </a:solidFill>
                <a:latin typeface="Trebuchet MS" pitchFamily="34" charset="0"/>
                <a:ea typeface="Trebuchet MS" pitchFamily="34" charset="-122"/>
                <a:cs typeface="Trebuchet MS" pitchFamily="34" charset="-120"/>
              </a:rPr>
              <a:t>›</a:t>
            </a:r>
            <a:endParaRPr lang="en-US" sz="1800" dirty="0"/>
          </a:p>
        </p:txBody>
      </p:sp>
      <p:sp>
        <p:nvSpPr>
          <p:cNvPr id="15" name="Shape 13"/>
          <p:cNvSpPr/>
          <p:nvPr/>
        </p:nvSpPr>
        <p:spPr>
          <a:xfrm>
            <a:off x="6222492" y="3200400"/>
            <a:ext cx="1635252" cy="868680"/>
          </a:xfrm>
          <a:prstGeom prst="roundRect">
            <a:avLst>
              <a:gd name="adj" fmla="val 7368"/>
            </a:avLst>
          </a:prstGeom>
          <a:solidFill>
            <a:srgbClr val="FFFFFF"/>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16" name="Text 14"/>
          <p:cNvSpPr/>
          <p:nvPr/>
        </p:nvSpPr>
        <p:spPr>
          <a:xfrm>
            <a:off x="6295644" y="3200400"/>
            <a:ext cx="1488948" cy="868680"/>
          </a:xfrm>
          <a:prstGeom prst="rect">
            <a:avLst/>
          </a:prstGeom>
          <a:noFill/>
          <a:ln/>
        </p:spPr>
        <p:txBody>
          <a:bodyPr wrap="square" lIns="0" tIns="0" rIns="0" bIns="0" rtlCol="0" anchor="ctr"/>
          <a:lstStyle/>
          <a:p>
            <a:pPr algn="ctr" indent="0" marL="0">
              <a:lnSpc>
                <a:spcPct val="95000"/>
              </a:lnSpc>
              <a:buNone/>
            </a:pPr>
            <a:r>
              <a:rPr lang="en-US" sz="1050" b="1" dirty="0">
                <a:solidFill>
                  <a:srgbClr val="4D148C"/>
                </a:solidFill>
                <a:latin typeface="Trebuchet MS" pitchFamily="34" charset="0"/>
                <a:ea typeface="Trebuchet MS" pitchFamily="34" charset="-122"/>
                <a:cs typeface="Trebuchet MS" pitchFamily="34" charset="-120"/>
              </a:rPr>
              <a:t>Vertex AI Agent Engine</a:t>
            </a:r>
            <a:endParaRPr lang="en-US" sz="1050" dirty="0"/>
          </a:p>
        </p:txBody>
      </p:sp>
      <p:sp>
        <p:nvSpPr>
          <p:cNvPr id="17" name="Text 15"/>
          <p:cNvSpPr/>
          <p:nvPr/>
        </p:nvSpPr>
        <p:spPr>
          <a:xfrm>
            <a:off x="7839456" y="3200400"/>
            <a:ext cx="256032" cy="868680"/>
          </a:xfrm>
          <a:prstGeom prst="rect">
            <a:avLst/>
          </a:prstGeom>
          <a:noFill/>
          <a:ln/>
        </p:spPr>
        <p:txBody>
          <a:bodyPr wrap="square" lIns="0" tIns="0" rIns="0" bIns="0" rtlCol="0" anchor="ctr"/>
          <a:lstStyle/>
          <a:p>
            <a:pPr algn="ctr" indent="0" marL="0">
              <a:buNone/>
            </a:pPr>
            <a:r>
              <a:rPr lang="en-US" sz="1800" b="1" dirty="0">
                <a:solidFill>
                  <a:srgbClr val="6B7280"/>
                </a:solidFill>
                <a:latin typeface="Trebuchet MS" pitchFamily="34" charset="0"/>
                <a:ea typeface="Trebuchet MS" pitchFamily="34" charset="-122"/>
                <a:cs typeface="Trebuchet MS" pitchFamily="34" charset="-120"/>
              </a:rPr>
              <a:t>›</a:t>
            </a:r>
            <a:endParaRPr lang="en-US" sz="1800" dirty="0"/>
          </a:p>
        </p:txBody>
      </p:sp>
      <p:sp>
        <p:nvSpPr>
          <p:cNvPr id="18" name="Shape 16"/>
          <p:cNvSpPr/>
          <p:nvPr/>
        </p:nvSpPr>
        <p:spPr>
          <a:xfrm>
            <a:off x="8113776" y="3200400"/>
            <a:ext cx="1635252" cy="868680"/>
          </a:xfrm>
          <a:prstGeom prst="roundRect">
            <a:avLst>
              <a:gd name="adj" fmla="val 7368"/>
            </a:avLst>
          </a:prstGeom>
          <a:solidFill>
            <a:srgbClr val="FFFFFF"/>
          </a:solidFill>
          <a:ln w="12700">
            <a:solidFill>
              <a:srgbClr val="E2E8F0"/>
            </a:solidFill>
            <a:prstDash val="solid"/>
          </a:ln>
          <a:effectLst>
            <a:outerShdw sx="100000" sy="100000" kx="0" ky="0" algn="bl" rotWithShape="0" blurRad="88900" dist="25400" dir="8100000">
              <a:srgbClr val="000000">
                <a:alpha val="12000"/>
              </a:srgbClr>
            </a:outerShdw>
          </a:effectLst>
        </p:spPr>
      </p:sp>
      <p:sp>
        <p:nvSpPr>
          <p:cNvPr id="19" name="Text 17"/>
          <p:cNvSpPr/>
          <p:nvPr/>
        </p:nvSpPr>
        <p:spPr>
          <a:xfrm>
            <a:off x="8186928" y="3200400"/>
            <a:ext cx="1488948" cy="868680"/>
          </a:xfrm>
          <a:prstGeom prst="rect">
            <a:avLst/>
          </a:prstGeom>
          <a:noFill/>
          <a:ln/>
        </p:spPr>
        <p:txBody>
          <a:bodyPr wrap="square" lIns="0" tIns="0" rIns="0" bIns="0" rtlCol="0" anchor="ctr"/>
          <a:lstStyle/>
          <a:p>
            <a:pPr algn="ctr" indent="0" marL="0">
              <a:lnSpc>
                <a:spcPct val="95000"/>
              </a:lnSpc>
              <a:buNone/>
            </a:pPr>
            <a:r>
              <a:rPr lang="en-US" sz="1050" b="1" dirty="0">
                <a:solidFill>
                  <a:srgbClr val="4D148C"/>
                </a:solidFill>
                <a:latin typeface="Trebuchet MS" pitchFamily="34" charset="0"/>
                <a:ea typeface="Trebuchet MS" pitchFamily="34" charset="-122"/>
                <a:cs typeface="Trebuchet MS" pitchFamily="34" charset="-120"/>
              </a:rPr>
              <a:t>Cloud Run</a:t>
            </a:r>
            <a:endParaRPr lang="en-US" sz="1050" dirty="0"/>
          </a:p>
        </p:txBody>
      </p:sp>
      <p:sp>
        <p:nvSpPr>
          <p:cNvPr id="20" name="Text 18"/>
          <p:cNvSpPr/>
          <p:nvPr/>
        </p:nvSpPr>
        <p:spPr>
          <a:xfrm>
            <a:off x="9730740" y="3200400"/>
            <a:ext cx="256032" cy="868680"/>
          </a:xfrm>
          <a:prstGeom prst="rect">
            <a:avLst/>
          </a:prstGeom>
          <a:noFill/>
          <a:ln/>
        </p:spPr>
        <p:txBody>
          <a:bodyPr wrap="square" lIns="0" tIns="0" rIns="0" bIns="0" rtlCol="0" anchor="ctr"/>
          <a:lstStyle/>
          <a:p>
            <a:pPr algn="ctr" indent="0" marL="0">
              <a:buNone/>
            </a:pPr>
            <a:r>
              <a:rPr lang="en-US" sz="1800" b="1" dirty="0">
                <a:solidFill>
                  <a:srgbClr val="6B7280"/>
                </a:solidFill>
                <a:latin typeface="Trebuchet MS" pitchFamily="34" charset="0"/>
                <a:ea typeface="Trebuchet MS" pitchFamily="34" charset="-122"/>
                <a:cs typeface="Trebuchet MS" pitchFamily="34" charset="-120"/>
              </a:rPr>
              <a:t>›</a:t>
            </a:r>
            <a:endParaRPr lang="en-US" sz="1800" dirty="0"/>
          </a:p>
        </p:txBody>
      </p:sp>
      <p:sp>
        <p:nvSpPr>
          <p:cNvPr id="21" name="Shape 19"/>
          <p:cNvSpPr/>
          <p:nvPr/>
        </p:nvSpPr>
        <p:spPr>
          <a:xfrm>
            <a:off x="10005060" y="3200400"/>
            <a:ext cx="1635252" cy="868680"/>
          </a:xfrm>
          <a:prstGeom prst="roundRect">
            <a:avLst>
              <a:gd name="adj" fmla="val 7368"/>
            </a:avLst>
          </a:prstGeom>
          <a:solidFill>
            <a:srgbClr val="FFF1E6"/>
          </a:solidFill>
          <a:ln w="19050">
            <a:solidFill>
              <a:srgbClr val="FF6600"/>
            </a:solidFill>
            <a:prstDash val="solid"/>
          </a:ln>
          <a:effectLst>
            <a:outerShdw sx="100000" sy="100000" kx="0" ky="0" algn="bl" rotWithShape="0" blurRad="88900" dist="25400" dir="8100000">
              <a:srgbClr val="000000">
                <a:alpha val="12000"/>
              </a:srgbClr>
            </a:outerShdw>
          </a:effectLst>
        </p:spPr>
      </p:sp>
      <p:sp>
        <p:nvSpPr>
          <p:cNvPr id="22" name="Text 20"/>
          <p:cNvSpPr/>
          <p:nvPr/>
        </p:nvSpPr>
        <p:spPr>
          <a:xfrm>
            <a:off x="10078212" y="3200400"/>
            <a:ext cx="1488948" cy="868680"/>
          </a:xfrm>
          <a:prstGeom prst="rect">
            <a:avLst/>
          </a:prstGeom>
          <a:noFill/>
          <a:ln/>
        </p:spPr>
        <p:txBody>
          <a:bodyPr wrap="square" lIns="0" tIns="0" rIns="0" bIns="0" rtlCol="0" anchor="ctr"/>
          <a:lstStyle/>
          <a:p>
            <a:pPr algn="ctr" indent="0" marL="0">
              <a:lnSpc>
                <a:spcPct val="95000"/>
              </a:lnSpc>
              <a:buNone/>
            </a:pPr>
            <a:r>
              <a:rPr lang="en-US" sz="1050" b="1" dirty="0">
                <a:solidFill>
                  <a:srgbClr val="FF6600"/>
                </a:solidFill>
                <a:latin typeface="Trebuchet MS" pitchFamily="34" charset="0"/>
                <a:ea typeface="Trebuchet MS" pitchFamily="34" charset="-122"/>
                <a:cs typeface="Trebuchet MS" pitchFamily="34" charset="-120"/>
              </a:rPr>
              <a:t>Foundry — governance-gated</a:t>
            </a:r>
            <a:endParaRPr lang="en-US" sz="1050" dirty="0"/>
          </a:p>
        </p:txBody>
      </p:sp>
      <p:sp>
        <p:nvSpPr>
          <p:cNvPr id="23" name="Text 21"/>
          <p:cNvSpPr/>
          <p:nvPr/>
        </p:nvSpPr>
        <p:spPr>
          <a:xfrm>
            <a:off x="548640" y="4572000"/>
            <a:ext cx="11091672" cy="731520"/>
          </a:xfrm>
          <a:prstGeom prst="rect">
            <a:avLst/>
          </a:prstGeom>
          <a:noFill/>
          <a:ln/>
        </p:spPr>
        <p:txBody>
          <a:bodyPr wrap="square" lIns="0" tIns="0" rIns="0" bIns="0" rtlCol="0" anchor="t"/>
          <a:lstStyle/>
          <a:p>
            <a:pPr algn="l" indent="0" marL="0">
              <a:buNone/>
            </a:pPr>
            <a:r>
              <a:rPr lang="en-US" sz="1300" i="1" dirty="0">
                <a:solidFill>
                  <a:srgbClr val="6B7280"/>
                </a:solidFill>
                <a:latin typeface="Calibri" pitchFamily="34" charset="0"/>
                <a:ea typeface="Calibri" pitchFamily="34" charset="-122"/>
                <a:cs typeface="Calibri" pitchFamily="34" charset="-120"/>
              </a:rPr>
              <a:t>Plain version: we would build it on the cloud tools FedEx already pays for, and access to internal data is earned with evidence from small pilots — never assumed.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FedEx AI Efficiency — District Manager Briefing</dc:title>
  <dc:subject>PptxGenJS Presentation</dc:subject>
  <dc:creator>FedEx AI Efficiency Team</dc:creator>
  <cp:lastModifiedBy>FedEx AI Efficiency Team</cp:lastModifiedBy>
  <cp:revision>1</cp:revision>
  <dcterms:created xsi:type="dcterms:W3CDTF">2026-06-16T14:00:57Z</dcterms:created>
  <dcterms:modified xsi:type="dcterms:W3CDTF">2026-06-16T14:00:57Z</dcterms:modified>
</cp:coreProperties>
</file>