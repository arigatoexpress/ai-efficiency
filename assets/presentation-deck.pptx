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9188e7050f45fe" /><Relationship Type="http://schemas.openxmlformats.org/officeDocument/2006/relationships/extended-properties" Target="/docProps/app.xml" Id="Re2aa2be7fb0b429e" /><Relationship Type="http://schemas.openxmlformats.org/officeDocument/2006/relationships/officeDocument" Target="/ppt/presentation.xml" Id="R4f6cbaa9094942d1" /></Relationships>
</file>

<file path=ppt/presentation.xml><?xml version="1.0" encoding="utf-8"?>
<p:presentation xmlns:p="http://schemas.openxmlformats.org/presentationml/2006/main">
  <p:sldMasterIdLst>
    <p:sldMasterId xmlns:r="http://schemas.openxmlformats.org/officeDocument/2006/relationships" id="2147483648" r:id="R69205d5aa5634ff9"/>
  </p:sldMasterIdLst>
  <p:notesMasterIdLst>
    <p:notesMasterId xmlns:r="http://schemas.openxmlformats.org/officeDocument/2006/relationships" r:id="R342a8fe6e7ec45b7"/>
  </p:notesMasterIdLst>
  <p:sldIdLst>
    <p:sldId xmlns:r="http://schemas.openxmlformats.org/officeDocument/2006/relationships" id="256" r:id="R247752a6f2764e74"/>
    <p:sldId xmlns:r="http://schemas.openxmlformats.org/officeDocument/2006/relationships" id="257" r:id="R987283bc9ad14b2a"/>
    <p:sldId xmlns:r="http://schemas.openxmlformats.org/officeDocument/2006/relationships" id="258" r:id="R5cd7d3a839a74259"/>
    <p:sldId xmlns:r="http://schemas.openxmlformats.org/officeDocument/2006/relationships" id="259" r:id="Re2fa7953ef004366"/>
    <p:sldId xmlns:r="http://schemas.openxmlformats.org/officeDocument/2006/relationships" id="260" r:id="Rb5d391443d824b9f"/>
    <p:sldId xmlns:r="http://schemas.openxmlformats.org/officeDocument/2006/relationships" id="261" r:id="R632313c984f34b26"/>
    <p:sldId xmlns:r="http://schemas.openxmlformats.org/officeDocument/2006/relationships" id="262" r:id="R6b2b6ddf072849be"/>
    <p:sldId xmlns:r="http://schemas.openxmlformats.org/officeDocument/2006/relationships" id="263" r:id="R61ef64dcccfa4cc7"/>
    <p:sldId xmlns:r="http://schemas.openxmlformats.org/officeDocument/2006/relationships" id="264" r:id="R6fb676e38fdf41b2"/>
    <p:sldId xmlns:r="http://schemas.openxmlformats.org/officeDocument/2006/relationships" id="265" r:id="R74bcd41518ee42da"/>
    <p:sldId xmlns:r="http://schemas.openxmlformats.org/officeDocument/2006/relationships" id="266" r:id="R1f88292c0086484e"/>
    <p:sldId xmlns:r="http://schemas.openxmlformats.org/officeDocument/2006/relationships" id="267" r:id="Rfa61df0aeba445bd"/>
    <p:sldId xmlns:r="http://schemas.openxmlformats.org/officeDocument/2006/relationships" id="268" r:id="R5a858ded956f4443"/>
    <p:sldId xmlns:r="http://schemas.openxmlformats.org/officeDocument/2006/relationships" id="269" r:id="R44bc15d7506e4ec1"/>
    <p:sldId xmlns:r="http://schemas.openxmlformats.org/officeDocument/2006/relationships" id="270" r:id="Rb5f1187fc9ef4cc4"/>
  </p:sldIdLst>
  <p:sldSz cx="12188952"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70fd6bc5d004e69" /><Relationship Type="http://schemas.openxmlformats.org/officeDocument/2006/relationships/slideMaster" Target="/ppt/slideMasters/slideMaster1.xml" Id="R69205d5aa5634ff9" /><Relationship Type="http://schemas.openxmlformats.org/officeDocument/2006/relationships/notesMaster" Target="/ppt/notesMasters/notesMaster1.xml" Id="R342a8fe6e7ec45b7" /><Relationship Type="http://schemas.openxmlformats.org/officeDocument/2006/relationships/presProps" Target="/ppt/presProps.xml" Id="Rd930c16f2ab347a9" /><Relationship Type="http://schemas.openxmlformats.org/officeDocument/2006/relationships/viewProps" Target="/ppt/viewProps.xml" Id="R03b32a34fc724e70" /><Relationship Type="http://schemas.openxmlformats.org/officeDocument/2006/relationships/tableStyles" Target="/ppt/tableStyles.xml" Id="R25675b1e42f14c99" /><Relationship Type="http://schemas.openxmlformats.org/officeDocument/2006/relationships/slide" Target="/ppt/slides/slide1.xml" Id="R247752a6f2764e74" /><Relationship Type="http://schemas.openxmlformats.org/officeDocument/2006/relationships/slide" Target="/ppt/slides/slide2.xml" Id="R987283bc9ad14b2a" /><Relationship Type="http://schemas.openxmlformats.org/officeDocument/2006/relationships/slide" Target="/ppt/slides/slide3.xml" Id="R5cd7d3a839a74259" /><Relationship Type="http://schemas.openxmlformats.org/officeDocument/2006/relationships/slide" Target="/ppt/slides/slide4.xml" Id="Re2fa7953ef004366" /><Relationship Type="http://schemas.openxmlformats.org/officeDocument/2006/relationships/slide" Target="/ppt/slides/slide5.xml" Id="Rb5d391443d824b9f" /><Relationship Type="http://schemas.openxmlformats.org/officeDocument/2006/relationships/slide" Target="/ppt/slides/slide6.xml" Id="R632313c984f34b26" /><Relationship Type="http://schemas.openxmlformats.org/officeDocument/2006/relationships/slide" Target="/ppt/slides/slide7.xml" Id="R6b2b6ddf072849be" /><Relationship Type="http://schemas.openxmlformats.org/officeDocument/2006/relationships/slide" Target="/ppt/slides/slide8.xml" Id="R61ef64dcccfa4cc7" /><Relationship Type="http://schemas.openxmlformats.org/officeDocument/2006/relationships/slide" Target="/ppt/slides/slide9.xml" Id="R6fb676e38fdf41b2" /><Relationship Type="http://schemas.openxmlformats.org/officeDocument/2006/relationships/slide" Target="/ppt/slides/slide10.xml" Id="R74bcd41518ee42da" /><Relationship Type="http://schemas.openxmlformats.org/officeDocument/2006/relationships/slide" Target="/ppt/slides/slide11.xml" Id="R1f88292c0086484e" /><Relationship Type="http://schemas.openxmlformats.org/officeDocument/2006/relationships/slide" Target="/ppt/slides/slide12.xml" Id="Rfa61df0aeba445bd" /><Relationship Type="http://schemas.openxmlformats.org/officeDocument/2006/relationships/slide" Target="/ppt/slides/slide13.xml" Id="R5a858ded956f4443" /><Relationship Type="http://schemas.openxmlformats.org/officeDocument/2006/relationships/slide" Target="/ppt/slides/slide14.xml" Id="R44bc15d7506e4ec1" /><Relationship Type="http://schemas.openxmlformats.org/officeDocument/2006/relationships/slide" Target="/ppt/slides/slide15.xml" Id="Rb5f1187fc9ef4c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11d8042adb44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5f68018eb34f7e" /><Relationship Type="http://schemas.openxmlformats.org/officeDocument/2006/relationships/notesMaster" Target="/ppt/notesMasters/notesMaster1.xml" Id="Rc9a10409cc6748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abcc2f4391429a" /><Relationship Type="http://schemas.openxmlformats.org/officeDocument/2006/relationships/notesMaster" Target="/ppt/notesMasters/notesMaster1.xml" Id="R84cb0aecc8184f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b76b0574e94d97" /><Relationship Type="http://schemas.openxmlformats.org/officeDocument/2006/relationships/notesMaster" Target="/ppt/notesMasters/notesMaster1.xml" Id="R55d02c3f11564b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e9a20cb0654d05" /><Relationship Type="http://schemas.openxmlformats.org/officeDocument/2006/relationships/notesMaster" Target="/ppt/notesMasters/notesMaster1.xml" Id="Rb1e58bea96344f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25371e2fd44e24" /><Relationship Type="http://schemas.openxmlformats.org/officeDocument/2006/relationships/notesMaster" Target="/ppt/notesMasters/notesMaster1.xml" Id="Ra5e4829c65c943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066b6bf6474842" /><Relationship Type="http://schemas.openxmlformats.org/officeDocument/2006/relationships/notesMaster" Target="/ppt/notesMasters/notesMaster1.xml" Id="Rbaff8329323f42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1733bf9b414d52" /><Relationship Type="http://schemas.openxmlformats.org/officeDocument/2006/relationships/notesMaster" Target="/ppt/notesMasters/notesMaster1.xml" Id="R5c69fe30d92740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a6e9c0103d46e8" /><Relationship Type="http://schemas.openxmlformats.org/officeDocument/2006/relationships/notesMaster" Target="/ppt/notesMasters/notesMaster1.xml" Id="Rc3d2c8c8730b49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074757a8cf46d2" /><Relationship Type="http://schemas.openxmlformats.org/officeDocument/2006/relationships/notesMaster" Target="/ppt/notesMasters/notesMaster1.xml" Id="R633512ac403143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62c34405154517" /><Relationship Type="http://schemas.openxmlformats.org/officeDocument/2006/relationships/notesMaster" Target="/ppt/notesMasters/notesMaster1.xml" Id="R02c1a414f9d745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c173e4ccab4d71" /><Relationship Type="http://schemas.openxmlformats.org/officeDocument/2006/relationships/notesMaster" Target="/ppt/notesMasters/notesMaster1.xml" Id="R0f73dce3a0c243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a1402cb36a48b3" /><Relationship Type="http://schemas.openxmlformats.org/officeDocument/2006/relationships/notesMaster" Target="/ppt/notesMasters/notesMaster1.xml" Id="Rfb2da42681f846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7ca1e31ddc47b8" /><Relationship Type="http://schemas.openxmlformats.org/officeDocument/2006/relationships/notesMaster" Target="/ppt/notesMasters/notesMaster1.xml" Id="R326119a7fd1445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9bc50f45624921" /><Relationship Type="http://schemas.openxmlformats.org/officeDocument/2006/relationships/notesMaster" Target="/ppt/notesMasters/notesMaster1.xml" Id="Rb15b6a51a45f48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977bba6b9641a4" /><Relationship Type="http://schemas.openxmlformats.org/officeDocument/2006/relationships/notesMaster" Target="/ppt/notesMasters/notesMaster1.xml" Id="R9c517bbb66c04c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dd931a1cdf4d8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73bfb64a0041f8" /><Relationship Type="http://schemas.openxmlformats.org/officeDocument/2006/relationships/slideLayout" Target="/ppt/slideLayouts/slideLayout1.xml" Id="Re93c7929ef60484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3c7929ef604842"/>
  </p:sldLayoutIdLst>
  <p:hf sldNum="0" hdr="0" ftr="0" dt="0"/>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506ffa0b2f4318" /><Relationship Type="http://schemas.openxmlformats.org/officeDocument/2006/relationships/notesSlide" Target="/ppt/notesSlides/notesSlide1.xml" Id="Rf1cfae3692b248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65b38db4874c94" /><Relationship Type="http://schemas.openxmlformats.org/officeDocument/2006/relationships/notesSlide" Target="/ppt/notesSlides/notesSlide2.xml" Id="R544c094e66b64b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7be8d232e64278" /><Relationship Type="http://schemas.openxmlformats.org/officeDocument/2006/relationships/notesSlide" Target="/ppt/notesSlides/notesSlide3.xml" Id="R81eeb2b659c544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d9c76706bb4cbc" /><Relationship Type="http://schemas.openxmlformats.org/officeDocument/2006/relationships/notesSlide" Target="/ppt/notesSlides/notesSlide4.xml" Id="Ref8b8501df3d45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ddcb40adcf42c3" /><Relationship Type="http://schemas.openxmlformats.org/officeDocument/2006/relationships/notesSlide" Target="/ppt/notesSlides/notesSlide5.xml" Id="R60e912a13c5247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15cb7ed2074d79" /><Relationship Type="http://schemas.openxmlformats.org/officeDocument/2006/relationships/notesSlide" Target="/ppt/notesSlides/notesSlide6.xml" Id="Rea4b8a7f7d6141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0c19d92edb4ee8" /><Relationship Type="http://schemas.openxmlformats.org/officeDocument/2006/relationships/image" Target="/ppt/media/image.png" Id="R6d9ba143762f4259" /><Relationship Type="http://schemas.openxmlformats.org/officeDocument/2006/relationships/notesSlide" Target="/ppt/notesSlides/notesSlide7.xml" Id="Rc537293d14034c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101477aedc4442" /><Relationship Type="http://schemas.openxmlformats.org/officeDocument/2006/relationships/notesSlide" Target="/ppt/notesSlides/notesSlide8.xml" Id="Rb815cbcd7c5c4a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9b6d6d913346ba" /><Relationship Type="http://schemas.openxmlformats.org/officeDocument/2006/relationships/notesSlide" Target="/ppt/notesSlides/notesSlide9.xml" Id="Reb4f91344df145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7ed4d87b464a1c" /><Relationship Type="http://schemas.openxmlformats.org/officeDocument/2006/relationships/notesSlide" Target="/ppt/notesSlides/notesSlide10.xml" Id="R153e5f5ba5e34d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d69d2835904737" /><Relationship Type="http://schemas.openxmlformats.org/officeDocument/2006/relationships/notesSlide" Target="/ppt/notesSlides/notesSlide11.xml" Id="R02f6b138a18f49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ff57f50464483c" /><Relationship Type="http://schemas.openxmlformats.org/officeDocument/2006/relationships/notesSlide" Target="/ppt/notesSlides/notesSlide12.xml" Id="Rc82648c366b14d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743cefc0e44058" /><Relationship Type="http://schemas.openxmlformats.org/officeDocument/2006/relationships/notesSlide" Target="/ppt/notesSlides/notesSlide13.xml" Id="R6365cf3721e84e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061051cebb47c3" /><Relationship Type="http://schemas.openxmlformats.org/officeDocument/2006/relationships/notesSlide" Target="/ppt/notesSlides/notesSlide14.xml" Id="R1adb43f370634f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3e380221cb04169" /><Relationship Type="http://schemas.openxmlformats.org/officeDocument/2006/relationships/notesSlide" Target="/ppt/notesSlides/notesSlide15.xml" Id="Re54ea076ebd740a0" /></Relationships>
</file>

<file path=ppt/slides/slide1.xml><?xml version="1.0" encoding="utf-8"?>
<p:sld xmlns:p="http://schemas.openxmlformats.org/presentationml/2006/main">
  <p:cSld>
    <p:bg>
      <p:bgPr>
        <a:solidFill xmlns:a="http://schemas.openxmlformats.org/drawingml/2006/main">
          <a:srgbClr val="3A0F69"/>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5C9D58-5783-4D4B-8B2B-B22B9B46D9AF}"/>
              </a:ext>
            </a:extLst>
          </p:cNvPr>
          <p:cNvSpPr>
            <a:spLocks xmlns:a="http://schemas.openxmlformats.org/drawingml/2006/main" noGrp="1"/>
          </p:cNvSpPr>
          <p:nvPr/>
        </p:nvSpPr>
        <p:spPr>
          <a:xfrm xmlns:a="http://schemas.openxmlformats.org/drawingml/2006/main">
            <a:off x="0" y="0"/>
            <a:ext cx="256032" cy="6858000"/>
          </a:xfrm>
          <a:prstGeom xmlns:a="http://schemas.openxmlformats.org/drawingml/2006/main" prst="rect">
            <a:avLst/>
          </a:prstGeom>
          <a:solidFill xmlns:a="http://schemas.openxmlformats.org/drawingml/2006/main">
            <a:srgbClr val="FF6600"/>
          </a:solidFill>
        </p:spPr>
      </p:sp>
      <p:sp>
        <p:nvSpPr>
          <p:cNvPr id="3" name="Shape 1">
            <a:extLst xmlns:a="http://schemas.openxmlformats.org/drawingml/2006/main">
              <a:ext uri="{FF2B5EF4-FFF2-40B4-BE49-F238E27FC236}">
                <a16:creationId xmlns:a16="http://schemas.microsoft.com/office/drawing/2014/main" id="{1C377142-7762-41DA-8271-F777C2C6A6FC}"/>
              </a:ext>
            </a:extLst>
          </p:cNvPr>
          <p:cNvSpPr>
            <a:spLocks xmlns:a="http://schemas.openxmlformats.org/drawingml/2006/main" noGrp="1"/>
          </p:cNvSpPr>
          <p:nvPr/>
        </p:nvSpPr>
        <p:spPr>
          <a:xfrm xmlns:a="http://schemas.openxmlformats.org/drawingml/2006/main">
            <a:off x="914400" y="1417320"/>
            <a:ext cx="2304288" cy="292608"/>
          </a:xfrm>
          <a:prstGeom xmlns:a="http://schemas.openxmlformats.org/drawingml/2006/main" prst="roundRect">
            <a:avLst>
              <a:gd name="adj" fmla="val 50000"/>
            </a:avLst>
          </a:prstGeom>
          <a:solidFill xmlns:a="http://schemas.openxmlformats.org/drawingml/2006/main">
            <a:srgbClr val="FF6600"/>
          </a:solidFill>
        </p:spPr>
      </p:sp>
      <p:sp>
        <p:nvSpPr>
          <p:cNvPr id="4" name="Text 2">
            <a:extLst xmlns:a="http://schemas.openxmlformats.org/drawingml/2006/main">
              <a:ext uri="{FF2B5EF4-FFF2-40B4-BE49-F238E27FC236}">
                <a16:creationId xmlns:a16="http://schemas.microsoft.com/office/drawing/2014/main" id="{36DFDFFD-450B-4FC8-B3E7-C37D1F77BDE2}"/>
              </a:ext>
            </a:extLst>
          </p:cNvPr>
          <p:cNvSpPr>
            <a:spLocks xmlns:a="http://schemas.openxmlformats.org/drawingml/2006/main" noGrp="1"/>
          </p:cNvSpPr>
          <p:nvPr/>
        </p:nvSpPr>
        <p:spPr>
          <a:xfrm xmlns:a="http://schemas.openxmlformats.org/drawingml/2006/main">
            <a:off x="914400" y="1417320"/>
            <a:ext cx="23042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Trebuchet MS"/>
                <a:ea typeface="Trebuchet MS"/>
                <a:cs typeface="Trebuchet MS"/>
              </a:rPr>
              <a:t>DISTRICT MANAGER BRIEFING</a:t>
            </a:r>
          </a:p>
        </p:txBody>
      </p:sp>
      <p:sp>
        <p:nvSpPr>
          <p:cNvPr id="5" name="Text 3">
            <a:extLst xmlns:a="http://schemas.openxmlformats.org/drawingml/2006/main">
              <a:ext uri="{FF2B5EF4-FFF2-40B4-BE49-F238E27FC236}">
                <a16:creationId xmlns:a16="http://schemas.microsoft.com/office/drawing/2014/main" id="{495D08C7-9C63-44E3-A74A-FAF6FF98BC71}"/>
              </a:ext>
            </a:extLst>
          </p:cNvPr>
          <p:cNvSpPr>
            <a:spLocks xmlns:a="http://schemas.openxmlformats.org/drawingml/2006/main" noGrp="1"/>
          </p:cNvSpPr>
          <p:nvPr/>
        </p:nvSpPr>
        <p:spPr>
          <a:xfrm xmlns:a="http://schemas.openxmlformats.org/drawingml/2006/main">
            <a:off x="868680" y="1828800"/>
            <a:ext cx="100584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5200" b="1">
                <a:solidFill>
                  <a:srgbClr val="FFFFFF"/>
                </a:solidFill>
                <a:latin typeface="Trebuchet MS"/>
                <a:ea typeface="Trebuchet MS"/>
                <a:cs typeface="Trebuchet MS"/>
              </a:rPr>
              <a:t>AI Efficiency Team</a:t>
            </a:r>
          </a:p>
        </p:txBody>
      </p:sp>
      <p:sp>
        <p:nvSpPr>
          <p:cNvPr id="6" name="Text 4">
            <a:extLst xmlns:a="http://schemas.openxmlformats.org/drawingml/2006/main">
              <a:ext uri="{FF2B5EF4-FFF2-40B4-BE49-F238E27FC236}">
                <a16:creationId xmlns:a16="http://schemas.microsoft.com/office/drawing/2014/main" id="{108B6D99-482D-4C12-9EA8-E0FC7F7097F9}"/>
              </a:ext>
            </a:extLst>
          </p:cNvPr>
          <p:cNvSpPr>
            <a:spLocks xmlns:a="http://schemas.openxmlformats.org/drawingml/2006/main" noGrp="1"/>
          </p:cNvSpPr>
          <p:nvPr/>
        </p:nvSpPr>
        <p:spPr>
          <a:xfrm xmlns:a="http://schemas.openxmlformats.org/drawingml/2006/main">
            <a:off x="914400" y="3063240"/>
            <a:ext cx="96926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2000"/>
              </a:lnSpc>
              <a:buNone/>
            </a:pPr>
            <a:r>
              <a:rPr sz="1900">
                <a:solidFill>
                  <a:srgbClr val="CADCFC"/>
                </a:solidFill>
                <a:latin typeface="Calibri"/>
                <a:ea typeface="Calibri"/>
                <a:cs typeface="Calibri"/>
              </a:rPr>
              <a:t>An operations-led AI hub that gives every manager in your district a faster, safer way to handle the writing, planning, and reporting that fills their day — with you in control of every step.</a:t>
            </a:r>
          </a:p>
        </p:txBody>
      </p:sp>
      <p:sp>
        <p:nvSpPr>
          <p:cNvPr id="7" name="Text 5">
            <a:extLst xmlns:a="http://schemas.openxmlformats.org/drawingml/2006/main">
              <a:ext uri="{FF2B5EF4-FFF2-40B4-BE49-F238E27FC236}">
                <a16:creationId xmlns:a16="http://schemas.microsoft.com/office/drawing/2014/main" id="{061943B5-82A7-46BF-B0C6-C6FB717E433F}"/>
              </a:ext>
            </a:extLst>
          </p:cNvPr>
          <p:cNvSpPr>
            <a:spLocks xmlns:a="http://schemas.openxmlformats.org/drawingml/2006/main" noGrp="1"/>
          </p:cNvSpPr>
          <p:nvPr/>
        </p:nvSpPr>
        <p:spPr>
          <a:xfrm xmlns:a="http://schemas.openxmlformats.org/drawingml/2006/main">
            <a:off x="914400" y="5120640"/>
            <a:ext cx="9692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00">
                <a:solidFill>
                  <a:srgbClr val="FFFFFF"/>
                </a:solidFill>
                <a:latin typeface="Calibri"/>
                <a:ea typeface="Calibri"/>
                <a:cs typeface="Calibri"/>
              </a:rPr>
              <a:t>Built by FedEx operations people, for FedEx operations people.</a:t>
            </a:r>
          </a:p>
          <a:p xmlns:a="http://schemas.openxmlformats.org/drawingml/2006/main">
            <a:pPr marL="0" indent="0" algn="l">
              <a:buNone/>
            </a:pPr>
            <a:r>
              <a:rPr sz="1200">
                <a:solidFill>
                  <a:srgbClr val="CADCFC"/>
                </a:solidFill>
                <a:latin typeface="Calibri"/>
                <a:ea typeface="Calibri"/>
                <a:cs typeface="Calibri"/>
              </a:rPr>
              <a:t>Public-safe  ·  Human-reviewed  ·  Safety Above All.</a:t>
            </a:r>
          </a:p>
        </p:txBody>
      </p:sp>
    </p:spTree>
    <p:extLst>
      <p:ext uri="{BB962C8B-B14F-4D97-AF65-F5344CB8AC3E}">
        <p14:creationId xmlns:p14="http://schemas.microsoft.com/office/powerpoint/2010/main" val="15487583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2673CFA-0883-49BF-A0A7-37B44AB2145B}"/>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Why This Matters for FedEx</a:t>
            </a:r>
          </a:p>
        </p:txBody>
      </p:sp>
      <p:sp>
        <p:nvSpPr>
          <p:cNvPr id="3" name="Text 1">
            <a:extLst xmlns:a="http://schemas.openxmlformats.org/drawingml/2006/main">
              <a:ext uri="{FF2B5EF4-FFF2-40B4-BE49-F238E27FC236}">
                <a16:creationId xmlns:a16="http://schemas.microsoft.com/office/drawing/2014/main" id="{470B3FAA-5E0B-4C9E-AAB4-0A88894D86B3}"/>
              </a:ext>
            </a:extLst>
          </p:cNvPr>
          <p:cNvSpPr>
            <a:spLocks xmlns:a="http://schemas.openxmlformats.org/drawingml/2006/main" noGrp="1"/>
          </p:cNvSpPr>
          <p:nvPr/>
        </p:nvSpPr>
        <p:spPr>
          <a:xfrm xmlns:a="http://schemas.openxmlformats.org/drawingml/2006/main">
            <a:off x="548640" y="1783080"/>
            <a:ext cx="34533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4D148C"/>
                </a:solidFill>
                <a:latin typeface="Trebuchet MS"/>
                <a:ea typeface="Trebuchet MS"/>
                <a:cs typeface="Trebuchet MS"/>
              </a:rPr>
              <a:t>2 PB+</a:t>
            </a:r>
          </a:p>
        </p:txBody>
      </p:sp>
      <p:sp>
        <p:nvSpPr>
          <p:cNvPr id="4" name="Text 2">
            <a:extLst xmlns:a="http://schemas.openxmlformats.org/drawingml/2006/main">
              <a:ext uri="{FF2B5EF4-FFF2-40B4-BE49-F238E27FC236}">
                <a16:creationId xmlns:a16="http://schemas.microsoft.com/office/drawing/2014/main" id="{ACBF70C1-73BC-4E0F-AE24-02C54408422B}"/>
              </a:ext>
            </a:extLst>
          </p:cNvPr>
          <p:cNvSpPr>
            <a:spLocks xmlns:a="http://schemas.openxmlformats.org/drawingml/2006/main" noGrp="1"/>
          </p:cNvSpPr>
          <p:nvPr/>
        </p:nvSpPr>
        <p:spPr>
          <a:xfrm xmlns:a="http://schemas.openxmlformats.org/drawingml/2006/main">
            <a:off x="548640" y="2578608"/>
            <a:ext cx="34533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1200">
                <a:solidFill>
                  <a:srgbClr val="6B7280"/>
                </a:solidFill>
                <a:latin typeface="Calibri"/>
                <a:ea typeface="Calibri"/>
                <a:cs typeface="Calibri"/>
              </a:rPr>
              <a:t>DATA GENERATED DAILY</a:t>
            </a:r>
          </a:p>
        </p:txBody>
      </p:sp>
      <p:sp>
        <p:nvSpPr>
          <p:cNvPr id="5" name="Text 3">
            <a:extLst xmlns:a="http://schemas.openxmlformats.org/drawingml/2006/main">
              <a:ext uri="{FF2B5EF4-FFF2-40B4-BE49-F238E27FC236}">
                <a16:creationId xmlns:a16="http://schemas.microsoft.com/office/drawing/2014/main" id="{456F19F9-9A4C-4749-B19C-A4FB5CE6D0BF}"/>
              </a:ext>
            </a:extLst>
          </p:cNvPr>
          <p:cNvSpPr>
            <a:spLocks xmlns:a="http://schemas.openxmlformats.org/drawingml/2006/main" noGrp="1"/>
          </p:cNvSpPr>
          <p:nvPr/>
        </p:nvSpPr>
        <p:spPr>
          <a:xfrm xmlns:a="http://schemas.openxmlformats.org/drawingml/2006/main">
            <a:off x="4367784" y="1783080"/>
            <a:ext cx="34533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4D148C"/>
                </a:solidFill>
                <a:latin typeface="Trebuchet MS"/>
                <a:ea typeface="Trebuchet MS"/>
                <a:cs typeface="Trebuchet MS"/>
              </a:rPr>
              <a:t>Dec 2025</a:t>
            </a:r>
          </a:p>
        </p:txBody>
      </p:sp>
      <p:sp>
        <p:nvSpPr>
          <p:cNvPr id="6" name="Text 4">
            <a:extLst xmlns:a="http://schemas.openxmlformats.org/drawingml/2006/main">
              <a:ext uri="{FF2B5EF4-FFF2-40B4-BE49-F238E27FC236}">
                <a16:creationId xmlns:a16="http://schemas.microsoft.com/office/drawing/2014/main" id="{65C62555-D5AD-4675-8772-A405D0D8ACC9}"/>
              </a:ext>
            </a:extLst>
          </p:cNvPr>
          <p:cNvSpPr>
            <a:spLocks xmlns:a="http://schemas.openxmlformats.org/drawingml/2006/main" noGrp="1"/>
          </p:cNvSpPr>
          <p:nvPr/>
        </p:nvSpPr>
        <p:spPr>
          <a:xfrm xmlns:a="http://schemas.openxmlformats.org/drawingml/2006/main">
            <a:off x="4367784" y="2578608"/>
            <a:ext cx="34533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1200">
                <a:solidFill>
                  <a:srgbClr val="6B7280"/>
                </a:solidFill>
                <a:latin typeface="Calibri"/>
                <a:ea typeface="Calibri"/>
                <a:cs typeface="Calibri"/>
              </a:rPr>
              <a:t>FEDEX AI EDUCATION PROGRAM LAUNCHED</a:t>
            </a:r>
          </a:p>
        </p:txBody>
      </p:sp>
      <p:sp>
        <p:nvSpPr>
          <p:cNvPr id="7" name="Text 5">
            <a:extLst xmlns:a="http://schemas.openxmlformats.org/drawingml/2006/main">
              <a:ext uri="{FF2B5EF4-FFF2-40B4-BE49-F238E27FC236}">
                <a16:creationId xmlns:a16="http://schemas.microsoft.com/office/drawing/2014/main" id="{B014A6AA-B997-4477-BD59-DA587FEB37FC}"/>
              </a:ext>
            </a:extLst>
          </p:cNvPr>
          <p:cNvSpPr>
            <a:spLocks xmlns:a="http://schemas.openxmlformats.org/drawingml/2006/main" noGrp="1"/>
          </p:cNvSpPr>
          <p:nvPr/>
        </p:nvSpPr>
        <p:spPr>
          <a:xfrm xmlns:a="http://schemas.openxmlformats.org/drawingml/2006/main">
            <a:off x="8186928" y="1783080"/>
            <a:ext cx="34533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4D148C"/>
                </a:solidFill>
                <a:latin typeface="Trebuchet MS"/>
                <a:ea typeface="Trebuchet MS"/>
                <a:cs typeface="Trebuchet MS"/>
              </a:rPr>
              <a:t>52</a:t>
            </a:r>
          </a:p>
        </p:txBody>
      </p:sp>
      <p:sp>
        <p:nvSpPr>
          <p:cNvPr id="8" name="Text 6">
            <a:extLst xmlns:a="http://schemas.openxmlformats.org/drawingml/2006/main">
              <a:ext uri="{FF2B5EF4-FFF2-40B4-BE49-F238E27FC236}">
                <a16:creationId xmlns:a16="http://schemas.microsoft.com/office/drawing/2014/main" id="{38E97F4C-7A3A-46DF-A1ED-4987BE5388AE}"/>
              </a:ext>
            </a:extLst>
          </p:cNvPr>
          <p:cNvSpPr>
            <a:spLocks xmlns:a="http://schemas.openxmlformats.org/drawingml/2006/main" noGrp="1"/>
          </p:cNvSpPr>
          <p:nvPr/>
        </p:nvSpPr>
        <p:spPr>
          <a:xfrm xmlns:a="http://schemas.openxmlformats.org/drawingml/2006/main">
            <a:off x="8186928" y="2578608"/>
            <a:ext cx="345338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00000"/>
              </a:lnSpc>
              <a:buNone/>
            </a:pPr>
            <a:r>
              <a:rPr sz="1200">
                <a:solidFill>
                  <a:srgbClr val="6B7280"/>
                </a:solidFill>
                <a:latin typeface="Calibri"/>
                <a:ea typeface="Calibri"/>
                <a:cs typeface="Calibri"/>
              </a:rPr>
              <a:t>COPY-PASTE PROMPTS READY NOW</a:t>
            </a:r>
          </a:p>
        </p:txBody>
      </p:sp>
      <p:sp>
        <p:nvSpPr>
          <p:cNvPr id="9" name="Shape 7">
            <a:extLst xmlns:a="http://schemas.openxmlformats.org/drawingml/2006/main">
              <a:ext uri="{FF2B5EF4-FFF2-40B4-BE49-F238E27FC236}">
                <a16:creationId xmlns:a16="http://schemas.microsoft.com/office/drawing/2014/main" id="{D5A45741-4D0D-473C-851F-0F17C59FB03B}"/>
              </a:ext>
            </a:extLst>
          </p:cNvPr>
          <p:cNvSpPr>
            <a:spLocks xmlns:a="http://schemas.openxmlformats.org/drawingml/2006/main" noGrp="1"/>
          </p:cNvSpPr>
          <p:nvPr/>
        </p:nvSpPr>
        <p:spPr>
          <a:xfrm xmlns:a="http://schemas.openxmlformats.org/drawingml/2006/main">
            <a:off x="548640" y="3429000"/>
            <a:ext cx="11091672" cy="1417320"/>
          </a:xfrm>
          <a:prstGeom xmlns:a="http://schemas.openxmlformats.org/drawingml/2006/main" prst="roundRect">
            <a:avLst>
              <a:gd name="adj" fmla="val 3871"/>
            </a:avLst>
          </a:prstGeom>
          <a:solidFill xmlns:a="http://schemas.openxmlformats.org/drawingml/2006/main">
            <a:srgbClr val="F4ECFC"/>
          </a:solidFill>
          <a:ln xmlns:a="http://schemas.openxmlformats.org/drawingml/2006/main" w="12700">
            <a:solidFill>
              <a:srgbClr val="E7D9FB"/>
            </a:solidFill>
            <a:prstDash val="solid"/>
          </a:ln>
        </p:spPr>
      </p:sp>
      <p:sp>
        <p:nvSpPr>
          <p:cNvPr id="10" name="Shape 8">
            <a:extLst xmlns:a="http://schemas.openxmlformats.org/drawingml/2006/main">
              <a:ext uri="{FF2B5EF4-FFF2-40B4-BE49-F238E27FC236}">
                <a16:creationId xmlns:a16="http://schemas.microsoft.com/office/drawing/2014/main" id="{B006005D-DED8-401D-B038-7831E9DF1DB9}"/>
              </a:ext>
            </a:extLst>
          </p:cNvPr>
          <p:cNvSpPr>
            <a:spLocks xmlns:a="http://schemas.openxmlformats.org/drawingml/2006/main" noGrp="1"/>
          </p:cNvSpPr>
          <p:nvPr/>
        </p:nvSpPr>
        <p:spPr>
          <a:xfrm xmlns:a="http://schemas.openxmlformats.org/drawingml/2006/main">
            <a:off x="548640" y="3429000"/>
            <a:ext cx="73152" cy="1417320"/>
          </a:xfrm>
          <a:prstGeom xmlns:a="http://schemas.openxmlformats.org/drawingml/2006/main" prst="rect">
            <a:avLst/>
          </a:prstGeom>
          <a:solidFill xmlns:a="http://schemas.openxmlformats.org/drawingml/2006/main">
            <a:srgbClr val="FF6600"/>
          </a:solidFill>
        </p:spPr>
      </p:sp>
      <p:sp>
        <p:nvSpPr>
          <p:cNvPr id="11" name="Text 9">
            <a:extLst xmlns:a="http://schemas.openxmlformats.org/drawingml/2006/main">
              <a:ext uri="{FF2B5EF4-FFF2-40B4-BE49-F238E27FC236}">
                <a16:creationId xmlns:a16="http://schemas.microsoft.com/office/drawing/2014/main" id="{C1545268-E258-4EA2-BEB8-0FDF33408713}"/>
              </a:ext>
            </a:extLst>
          </p:cNvPr>
          <p:cNvSpPr>
            <a:spLocks xmlns:a="http://schemas.openxmlformats.org/drawingml/2006/main" noGrp="1"/>
          </p:cNvSpPr>
          <p:nvPr/>
        </p:nvSpPr>
        <p:spPr>
          <a:xfrm xmlns:a="http://schemas.openxmlformats.org/drawingml/2006/main">
            <a:off x="822960" y="3429000"/>
            <a:ext cx="10543032"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5000"/>
              </a:lnSpc>
              <a:spcAft>
                <a:spcPts val="600"/>
              </a:spcAft>
              <a:buNone/>
            </a:pPr>
            <a:r>
              <a:rPr sz="1400" i="1">
                <a:solidFill>
                  <a:srgbClr val="1A1D23"/>
                </a:solidFill>
                <a:latin typeface="Calibri"/>
                <a:ea typeface="Calibri"/>
                <a:cs typeface="Calibri"/>
              </a:rPr>
              <a:t>“The future of business is being shaped by data and AI more than ever before. As FedEx continues its evolution into an AI-powered enterprise, our people remain at the heart of everything we do.”</a:t>
            </a:r>
          </a:p>
          <a:p xmlns:a="http://schemas.openxmlformats.org/drawingml/2006/main">
            <a:pPr marL="0" indent="0" algn="l">
              <a:lnSpc>
                <a:spcPct val="105000"/>
              </a:lnSpc>
              <a:spcAft>
                <a:spcPts val="600"/>
              </a:spcAft>
              <a:buNone/>
            </a:pPr>
            <a:r>
              <a:rPr sz="1200">
                <a:solidFill>
                  <a:srgbClr val="6B7280"/>
                </a:solidFill>
                <a:latin typeface="Calibri"/>
                <a:ea typeface="Calibri"/>
                <a:cs typeface="Calibri"/>
              </a:rPr>
              <a:t>— Raj Subramaniam, President &amp; CEO, FedEx Corporation</a:t>
            </a:r>
          </a:p>
        </p:txBody>
      </p:sp>
      <p:sp>
        <p:nvSpPr>
          <p:cNvPr id="12" name="Text 10">
            <a:extLst xmlns:a="http://schemas.openxmlformats.org/drawingml/2006/main">
              <a:ext uri="{FF2B5EF4-FFF2-40B4-BE49-F238E27FC236}">
                <a16:creationId xmlns:a16="http://schemas.microsoft.com/office/drawing/2014/main" id="{BDE037AD-EA49-4FD2-B952-DD673918177F}"/>
              </a:ext>
            </a:extLst>
          </p:cNvPr>
          <p:cNvSpPr>
            <a:spLocks xmlns:a="http://schemas.openxmlformats.org/drawingml/2006/main" noGrp="1"/>
          </p:cNvSpPr>
          <p:nvPr/>
        </p:nvSpPr>
        <p:spPr>
          <a:xfrm xmlns:a="http://schemas.openxmlformats.org/drawingml/2006/main">
            <a:off x="548640" y="5074920"/>
            <a:ext cx="110916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4D148C"/>
                </a:solidFill>
                <a:latin typeface="Trebuchet MS"/>
                <a:ea typeface="Trebuchet MS"/>
                <a:cs typeface="Trebuchet MS"/>
              </a:rPr>
              <a:t>This is our region's contribution to that company-wide mission — something your managers can use this week.</a:t>
            </a:r>
          </a:p>
        </p:txBody>
      </p:sp>
      <p:sp>
        <p:nvSpPr>
          <p:cNvPr id="13" name="Text 11">
            <a:extLst xmlns:a="http://schemas.openxmlformats.org/drawingml/2006/main">
              <a:ext uri="{FF2B5EF4-FFF2-40B4-BE49-F238E27FC236}">
                <a16:creationId xmlns:a16="http://schemas.microsoft.com/office/drawing/2014/main" id="{04047C79-F890-4E00-84EF-4F4E802DCB00}"/>
              </a:ext>
            </a:extLst>
          </p:cNvPr>
          <p:cNvSpPr>
            <a:spLocks xmlns:a="http://schemas.openxmlformats.org/drawingml/2006/main" noGrp="1"/>
          </p:cNvSpPr>
          <p:nvPr/>
        </p:nvSpPr>
        <p:spPr>
          <a:xfrm xmlns:a="http://schemas.openxmlformats.org/drawingml/2006/main">
            <a:off x="548640" y="6355080"/>
            <a:ext cx="11091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i="1">
                <a:solidFill>
                  <a:srgbClr val="6B7280"/>
                </a:solidFill>
                <a:latin typeface="Calibri"/>
                <a:ea typeface="Calibri"/>
                <a:cs typeface="Calibri"/>
              </a:rPr>
              <a:t>Public sources collected in docs/presentation-proof-points.md.</a:t>
            </a:r>
          </a:p>
        </p:txBody>
      </p:sp>
    </p:spTree>
    <p:extLst>
      <p:ext uri="{BB962C8B-B14F-4D97-AF65-F5344CB8AC3E}">
        <p14:creationId xmlns:p14="http://schemas.microsoft.com/office/powerpoint/2010/main" val="20811517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B21470-326F-4B3D-9CA4-7E6789A23B94}"/>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The Daily Reality It Helps</a:t>
            </a:r>
          </a:p>
        </p:txBody>
      </p:sp>
      <p:sp>
        <p:nvSpPr>
          <p:cNvPr id="3" name="Text 1">
            <a:extLst xmlns:a="http://schemas.openxmlformats.org/drawingml/2006/main">
              <a:ext uri="{FF2B5EF4-FFF2-40B4-BE49-F238E27FC236}">
                <a16:creationId xmlns:a16="http://schemas.microsoft.com/office/drawing/2014/main" id="{C125E503-881A-4964-9DD4-F7417F7A8517}"/>
              </a:ext>
            </a:extLst>
          </p:cNvPr>
          <p:cNvSpPr>
            <a:spLocks xmlns:a="http://schemas.openxmlformats.org/drawingml/2006/main" noGrp="1"/>
          </p:cNvSpPr>
          <p:nvPr/>
        </p:nvSpPr>
        <p:spPr>
          <a:xfrm xmlns:a="http://schemas.openxmlformats.org/drawingml/2006/main">
            <a:off x="548640" y="1600200"/>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AI is not abstract here. It removes friction from the work your managers already do every shift — at every station in your district.</a:t>
            </a:r>
          </a:p>
        </p:txBody>
      </p:sp>
      <p:sp>
        <p:nvSpPr>
          <p:cNvPr id="4" name="Shape 2">
            <a:extLst xmlns:a="http://schemas.openxmlformats.org/drawingml/2006/main">
              <a:ext uri="{FF2B5EF4-FFF2-40B4-BE49-F238E27FC236}">
                <a16:creationId xmlns:a16="http://schemas.microsoft.com/office/drawing/2014/main" id="{FFA006AB-F025-429A-A0BF-95712CBBABD4}"/>
              </a:ext>
            </a:extLst>
          </p:cNvPr>
          <p:cNvSpPr>
            <a:spLocks xmlns:a="http://schemas.openxmlformats.org/drawingml/2006/main" noGrp="1"/>
          </p:cNvSpPr>
          <p:nvPr/>
        </p:nvSpPr>
        <p:spPr>
          <a:xfrm xmlns:a="http://schemas.openxmlformats.org/drawingml/2006/main">
            <a:off x="548640" y="2377440"/>
            <a:ext cx="3483864"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5" name="Text 3">
            <a:extLst xmlns:a="http://schemas.openxmlformats.org/drawingml/2006/main">
              <a:ext uri="{FF2B5EF4-FFF2-40B4-BE49-F238E27FC236}">
                <a16:creationId xmlns:a16="http://schemas.microsoft.com/office/drawing/2014/main" id="{3E24A811-FEEA-4D5C-9BC5-74D690E16F9F}"/>
              </a:ext>
            </a:extLst>
          </p:cNvPr>
          <p:cNvSpPr>
            <a:spLocks xmlns:a="http://schemas.openxmlformats.org/drawingml/2006/main" noGrp="1"/>
          </p:cNvSpPr>
          <p:nvPr/>
        </p:nvSpPr>
        <p:spPr>
          <a:xfrm xmlns:a="http://schemas.openxmlformats.org/drawingml/2006/main">
            <a:off x="749808" y="2560320"/>
            <a:ext cx="3081528"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Before the shift</a:t>
            </a:r>
          </a:p>
          <a:p xmlns:a="http://schemas.openxmlformats.org/drawingml/2006/main">
            <a:pPr marL="0" indent="0" algn="l">
              <a:lnSpc>
                <a:spcPct val="105000"/>
              </a:lnSpc>
              <a:spcAft>
                <a:spcPts val="600"/>
              </a:spcAft>
              <a:buNone/>
            </a:pPr>
            <a:r>
              <a:rPr sz="1200">
                <a:solidFill>
                  <a:srgbClr val="6B7280"/>
                </a:solidFill>
                <a:latin typeface="Calibri"/>
                <a:ea typeface="Calibri"/>
                <a:cs typeface="Calibri"/>
              </a:rPr>
              <a:t>Pull public weather and road signals, then draft a pre-shift huddle and safety note in minutes instead of scrolling five tabs.</a:t>
            </a:r>
          </a:p>
        </p:txBody>
      </p:sp>
      <p:sp>
        <p:nvSpPr>
          <p:cNvPr id="6" name="Shape 4">
            <a:extLst xmlns:a="http://schemas.openxmlformats.org/drawingml/2006/main">
              <a:ext uri="{FF2B5EF4-FFF2-40B4-BE49-F238E27FC236}">
                <a16:creationId xmlns:a16="http://schemas.microsoft.com/office/drawing/2014/main" id="{7BD31F8B-2A0E-468B-9506-1B96D191ACA8}"/>
              </a:ext>
            </a:extLst>
          </p:cNvPr>
          <p:cNvSpPr>
            <a:spLocks xmlns:a="http://schemas.openxmlformats.org/drawingml/2006/main" noGrp="1"/>
          </p:cNvSpPr>
          <p:nvPr/>
        </p:nvSpPr>
        <p:spPr>
          <a:xfrm xmlns:a="http://schemas.openxmlformats.org/drawingml/2006/main">
            <a:off x="4352544" y="2377440"/>
            <a:ext cx="3483864"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5">
            <a:extLst xmlns:a="http://schemas.openxmlformats.org/drawingml/2006/main">
              <a:ext uri="{FF2B5EF4-FFF2-40B4-BE49-F238E27FC236}">
                <a16:creationId xmlns:a16="http://schemas.microsoft.com/office/drawing/2014/main" id="{B340B0EE-E3A3-4535-BFC6-F4754A0C2C95}"/>
              </a:ext>
            </a:extLst>
          </p:cNvPr>
          <p:cNvSpPr>
            <a:spLocks xmlns:a="http://schemas.openxmlformats.org/drawingml/2006/main" noGrp="1"/>
          </p:cNvSpPr>
          <p:nvPr/>
        </p:nvSpPr>
        <p:spPr>
          <a:xfrm xmlns:a="http://schemas.openxmlformats.org/drawingml/2006/main">
            <a:off x="4553712" y="2560320"/>
            <a:ext cx="3081528"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During the shift</a:t>
            </a:r>
          </a:p>
          <a:p xmlns:a="http://schemas.openxmlformats.org/drawingml/2006/main">
            <a:pPr marL="0" indent="0" algn="l">
              <a:lnSpc>
                <a:spcPct val="105000"/>
              </a:lnSpc>
              <a:spcAft>
                <a:spcPts val="600"/>
              </a:spcAft>
              <a:buNone/>
            </a:pPr>
            <a:r>
              <a:rPr sz="1200">
                <a:solidFill>
                  <a:srgbClr val="6B7280"/>
                </a:solidFill>
                <a:latin typeface="Calibri"/>
                <a:ea typeface="Calibri"/>
                <a:cs typeface="Calibri"/>
              </a:rPr>
              <a:t>Turn a messy escalation into a clear handoff, summarize a metric spike, or rough out a customer service alert.</a:t>
            </a:r>
          </a:p>
        </p:txBody>
      </p:sp>
      <p:sp>
        <p:nvSpPr>
          <p:cNvPr id="8" name="Shape 6">
            <a:extLst xmlns:a="http://schemas.openxmlformats.org/drawingml/2006/main">
              <a:ext uri="{FF2B5EF4-FFF2-40B4-BE49-F238E27FC236}">
                <a16:creationId xmlns:a16="http://schemas.microsoft.com/office/drawing/2014/main" id="{ED73DE33-25BA-4F12-8D3D-7351EDE060B4}"/>
              </a:ext>
            </a:extLst>
          </p:cNvPr>
          <p:cNvSpPr>
            <a:spLocks xmlns:a="http://schemas.openxmlformats.org/drawingml/2006/main" noGrp="1"/>
          </p:cNvSpPr>
          <p:nvPr/>
        </p:nvSpPr>
        <p:spPr>
          <a:xfrm xmlns:a="http://schemas.openxmlformats.org/drawingml/2006/main">
            <a:off x="8156448" y="2377440"/>
            <a:ext cx="3483864"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9" name="Text 7">
            <a:extLst xmlns:a="http://schemas.openxmlformats.org/drawingml/2006/main">
              <a:ext uri="{FF2B5EF4-FFF2-40B4-BE49-F238E27FC236}">
                <a16:creationId xmlns:a16="http://schemas.microsoft.com/office/drawing/2014/main" id="{C352FB9F-B89D-49E9-973F-437828B74254}"/>
              </a:ext>
            </a:extLst>
          </p:cNvPr>
          <p:cNvSpPr>
            <a:spLocks xmlns:a="http://schemas.openxmlformats.org/drawingml/2006/main" noGrp="1"/>
          </p:cNvSpPr>
          <p:nvPr/>
        </p:nvSpPr>
        <p:spPr>
          <a:xfrm xmlns:a="http://schemas.openxmlformats.org/drawingml/2006/main">
            <a:off x="8357616" y="2560320"/>
            <a:ext cx="3081528"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After the shift</a:t>
            </a:r>
          </a:p>
          <a:p xmlns:a="http://schemas.openxmlformats.org/drawingml/2006/main">
            <a:pPr marL="0" indent="0" algn="l">
              <a:lnSpc>
                <a:spcPct val="105000"/>
              </a:lnSpc>
              <a:spcAft>
                <a:spcPts val="600"/>
              </a:spcAft>
              <a:buNone/>
            </a:pPr>
            <a:r>
              <a:rPr sz="1200">
                <a:solidFill>
                  <a:srgbClr val="6B7280"/>
                </a:solidFill>
                <a:latin typeface="Calibri"/>
                <a:ea typeface="Calibri"/>
                <a:cs typeface="Calibri"/>
              </a:rPr>
              <a:t>Draft an after-action review, a near-miss report, or an executive update the manager edits and owns.</a:t>
            </a:r>
          </a:p>
        </p:txBody>
      </p:sp>
      <p:sp>
        <p:nvSpPr>
          <p:cNvPr id="10" name="Shape 8">
            <a:extLst xmlns:a="http://schemas.openxmlformats.org/drawingml/2006/main">
              <a:ext uri="{FF2B5EF4-FFF2-40B4-BE49-F238E27FC236}">
                <a16:creationId xmlns:a16="http://schemas.microsoft.com/office/drawing/2014/main" id="{2D0BA2C3-F368-4D77-8A1C-32C57FE678D9}"/>
              </a:ext>
            </a:extLst>
          </p:cNvPr>
          <p:cNvSpPr>
            <a:spLocks xmlns:a="http://schemas.openxmlformats.org/drawingml/2006/main" noGrp="1"/>
          </p:cNvSpPr>
          <p:nvPr/>
        </p:nvSpPr>
        <p:spPr>
          <a:xfrm xmlns:a="http://schemas.openxmlformats.org/drawingml/2006/main">
            <a:off x="548640" y="4983480"/>
            <a:ext cx="11091672" cy="841248"/>
          </a:xfrm>
          <a:prstGeom xmlns:a="http://schemas.openxmlformats.org/drawingml/2006/main" prst="roundRect">
            <a:avLst>
              <a:gd name="adj" fmla="val 6522"/>
            </a:avLst>
          </a:prstGeom>
          <a:solidFill xmlns:a="http://schemas.openxmlformats.org/drawingml/2006/main">
            <a:srgbClr val="F4ECFC"/>
          </a:solidFill>
          <a:ln xmlns:a="http://schemas.openxmlformats.org/drawingml/2006/main" w="12700">
            <a:solidFill>
              <a:srgbClr val="E7D9FB"/>
            </a:solidFill>
            <a:prstDash val="solid"/>
          </a:ln>
        </p:spPr>
      </p:sp>
      <p:sp>
        <p:nvSpPr>
          <p:cNvPr id="11" name="Shape 9">
            <a:extLst xmlns:a="http://schemas.openxmlformats.org/drawingml/2006/main">
              <a:ext uri="{FF2B5EF4-FFF2-40B4-BE49-F238E27FC236}">
                <a16:creationId xmlns:a16="http://schemas.microsoft.com/office/drawing/2014/main" id="{7296CDB3-C737-4C88-9C8F-34565161E122}"/>
              </a:ext>
            </a:extLst>
          </p:cNvPr>
          <p:cNvSpPr>
            <a:spLocks xmlns:a="http://schemas.openxmlformats.org/drawingml/2006/main" noGrp="1"/>
          </p:cNvSpPr>
          <p:nvPr/>
        </p:nvSpPr>
        <p:spPr>
          <a:xfrm xmlns:a="http://schemas.openxmlformats.org/drawingml/2006/main">
            <a:off x="548640" y="4983480"/>
            <a:ext cx="73152" cy="841248"/>
          </a:xfrm>
          <a:prstGeom xmlns:a="http://schemas.openxmlformats.org/drawingml/2006/main" prst="rect">
            <a:avLst/>
          </a:prstGeom>
          <a:solidFill xmlns:a="http://schemas.openxmlformats.org/drawingml/2006/main">
            <a:srgbClr val="4D148C"/>
          </a:solidFill>
        </p:spPr>
      </p:sp>
      <p:sp>
        <p:nvSpPr>
          <p:cNvPr id="12" name="Text 10">
            <a:extLst xmlns:a="http://schemas.openxmlformats.org/drawingml/2006/main">
              <a:ext uri="{FF2B5EF4-FFF2-40B4-BE49-F238E27FC236}">
                <a16:creationId xmlns:a16="http://schemas.microsoft.com/office/drawing/2014/main" id="{B8A93F19-2770-4773-B2CA-81E33C6603E7}"/>
              </a:ext>
            </a:extLst>
          </p:cNvPr>
          <p:cNvSpPr>
            <a:spLocks xmlns:a="http://schemas.openxmlformats.org/drawingml/2006/main" noGrp="1"/>
          </p:cNvSpPr>
          <p:nvPr/>
        </p:nvSpPr>
        <p:spPr>
          <a:xfrm xmlns:a="http://schemas.openxmlformats.org/drawingml/2006/main">
            <a:off x="822960" y="4983480"/>
            <a:ext cx="10588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5000"/>
              </a:lnSpc>
              <a:buNone/>
            </a:pPr>
            <a:r>
              <a:rPr sz="1300" b="1">
                <a:solidFill>
                  <a:srgbClr val="4D148C"/>
                </a:solidFill>
                <a:latin typeface="Calibri"/>
                <a:ea typeface="Calibri"/>
                <a:cs typeface="Calibri"/>
              </a:rPr>
              <a:t>For a district:  </a:t>
            </a:r>
            <a:r>
              <a:rPr sz="1300">
                <a:solidFill>
                  <a:srgbClr val="1A1D23"/>
                </a:solidFill>
                <a:latin typeface="Calibri"/>
                <a:ea typeface="Calibri"/>
                <a:cs typeface="Calibri"/>
              </a:rPr>
              <a:t>small daily time savings, multiplied across every manager and station, add up to hours of reclaimed capacity each week — without changing a single operational decision.</a:t>
            </a:r>
          </a:p>
        </p:txBody>
      </p:sp>
    </p:spTree>
    <p:extLst>
      <p:ext uri="{BB962C8B-B14F-4D97-AF65-F5344CB8AC3E}">
        <p14:creationId xmlns:p14="http://schemas.microsoft.com/office/powerpoint/2010/main" val="13459581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313A983-13B3-4867-AF4E-344EF46747D7}"/>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What It Is</a:t>
            </a:r>
          </a:p>
        </p:txBody>
      </p:sp>
      <p:sp>
        <p:nvSpPr>
          <p:cNvPr id="3" name="Text 1">
            <a:extLst xmlns:a="http://schemas.openxmlformats.org/drawingml/2006/main">
              <a:ext uri="{FF2B5EF4-FFF2-40B4-BE49-F238E27FC236}">
                <a16:creationId xmlns:a16="http://schemas.microsoft.com/office/drawing/2014/main" id="{8A87E1B6-8954-48BC-9256-41504DE186CA}"/>
              </a:ext>
            </a:extLst>
          </p:cNvPr>
          <p:cNvSpPr>
            <a:spLocks xmlns:a="http://schemas.openxmlformats.org/drawingml/2006/main" noGrp="1"/>
          </p:cNvSpPr>
          <p:nvPr/>
        </p:nvSpPr>
        <p:spPr>
          <a:xfrm xmlns:a="http://schemas.openxmlformats.org/drawingml/2006/main">
            <a:off x="548640" y="1600200"/>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One clean hub your whole district can pull from, with three plain entry points:</a:t>
            </a:r>
          </a:p>
        </p:txBody>
      </p:sp>
      <p:sp>
        <p:nvSpPr>
          <p:cNvPr id="4" name="Shape 2">
            <a:extLst xmlns:a="http://schemas.openxmlformats.org/drawingml/2006/main">
              <a:ext uri="{FF2B5EF4-FFF2-40B4-BE49-F238E27FC236}">
                <a16:creationId xmlns:a16="http://schemas.microsoft.com/office/drawing/2014/main" id="{4AE0F040-76CF-4677-9F57-E81149980B84}"/>
              </a:ext>
            </a:extLst>
          </p:cNvPr>
          <p:cNvSpPr>
            <a:spLocks xmlns:a="http://schemas.openxmlformats.org/drawingml/2006/main" noGrp="1"/>
          </p:cNvSpPr>
          <p:nvPr/>
        </p:nvSpPr>
        <p:spPr>
          <a:xfrm xmlns:a="http://schemas.openxmlformats.org/drawingml/2006/main">
            <a:off x="548640" y="2377440"/>
            <a:ext cx="3483864"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5" name="Text 3">
            <a:extLst xmlns:a="http://schemas.openxmlformats.org/drawingml/2006/main">
              <a:ext uri="{FF2B5EF4-FFF2-40B4-BE49-F238E27FC236}">
                <a16:creationId xmlns:a16="http://schemas.microsoft.com/office/drawing/2014/main" id="{ABC97812-1CC3-4B12-9374-04FF6A929A70}"/>
              </a:ext>
            </a:extLst>
          </p:cNvPr>
          <p:cNvSpPr>
            <a:spLocks xmlns:a="http://schemas.openxmlformats.org/drawingml/2006/main" noGrp="1"/>
          </p:cNvSpPr>
          <p:nvPr/>
        </p:nvSpPr>
        <p:spPr>
          <a:xfrm xmlns:a="http://schemas.openxmlformats.org/drawingml/2006/main">
            <a:off x="749808" y="2560320"/>
            <a:ext cx="3081528"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For your managers</a:t>
            </a:r>
          </a:p>
          <a:p xmlns:a="http://schemas.openxmlformats.org/drawingml/2006/main">
            <a:pPr marL="0" indent="0" algn="l">
              <a:lnSpc>
                <a:spcPct val="105000"/>
              </a:lnSpc>
              <a:spcAft>
                <a:spcPts val="600"/>
              </a:spcAft>
              <a:buNone/>
            </a:pPr>
            <a:r>
              <a:rPr sz="1200">
                <a:solidFill>
                  <a:srgbClr val="6B7280"/>
                </a:solidFill>
                <a:latin typeface="Calibri"/>
                <a:ea typeface="Calibri"/>
                <a:cs typeface="Calibri"/>
              </a:rPr>
              <a:t>Ready-to-use prompts and a daily playbook for shift briefs, safety memos, peak planning, and customer notes. Nothing to install — copy, paste, edit, done.</a:t>
            </a:r>
          </a:p>
        </p:txBody>
      </p:sp>
      <p:sp>
        <p:nvSpPr>
          <p:cNvPr id="6" name="Shape 4">
            <a:extLst xmlns:a="http://schemas.openxmlformats.org/drawingml/2006/main">
              <a:ext uri="{FF2B5EF4-FFF2-40B4-BE49-F238E27FC236}">
                <a16:creationId xmlns:a16="http://schemas.microsoft.com/office/drawing/2014/main" id="{98B642D8-0B7F-4BED-B680-FBFCB70132D8}"/>
              </a:ext>
            </a:extLst>
          </p:cNvPr>
          <p:cNvSpPr>
            <a:spLocks xmlns:a="http://schemas.openxmlformats.org/drawingml/2006/main" noGrp="1"/>
          </p:cNvSpPr>
          <p:nvPr/>
        </p:nvSpPr>
        <p:spPr>
          <a:xfrm xmlns:a="http://schemas.openxmlformats.org/drawingml/2006/main">
            <a:off x="4352544" y="2377440"/>
            <a:ext cx="3483864"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5">
            <a:extLst xmlns:a="http://schemas.openxmlformats.org/drawingml/2006/main">
              <a:ext uri="{FF2B5EF4-FFF2-40B4-BE49-F238E27FC236}">
                <a16:creationId xmlns:a16="http://schemas.microsoft.com/office/drawing/2014/main" id="{B0FD8224-AB08-4A87-90E7-CDB1B5354C86}"/>
              </a:ext>
            </a:extLst>
          </p:cNvPr>
          <p:cNvSpPr>
            <a:spLocks xmlns:a="http://schemas.openxmlformats.org/drawingml/2006/main" noGrp="1"/>
          </p:cNvSpPr>
          <p:nvPr/>
        </p:nvSpPr>
        <p:spPr>
          <a:xfrm xmlns:a="http://schemas.openxmlformats.org/drawingml/2006/main">
            <a:off x="4553712" y="2560320"/>
            <a:ext cx="3081528"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For a first pilot</a:t>
            </a:r>
          </a:p>
          <a:p xmlns:a="http://schemas.openxmlformats.org/drawingml/2006/main">
            <a:pPr marL="0" indent="0" algn="l">
              <a:lnSpc>
                <a:spcPct val="105000"/>
              </a:lnSpc>
              <a:spcAft>
                <a:spcPts val="600"/>
              </a:spcAft>
              <a:buNone/>
            </a:pPr>
            <a:r>
              <a:rPr sz="1200">
                <a:solidFill>
                  <a:srgbClr val="6B7280"/>
                </a:solidFill>
                <a:latin typeface="Calibri"/>
                <a:ea typeface="Calibri"/>
                <a:cs typeface="Calibri"/>
              </a:rPr>
              <a:t>A live demo tool and starter projects your team can try today — using only public or made-up data, never FedEx data.</a:t>
            </a:r>
          </a:p>
        </p:txBody>
      </p:sp>
      <p:sp>
        <p:nvSpPr>
          <p:cNvPr id="8" name="Shape 6">
            <a:extLst xmlns:a="http://schemas.openxmlformats.org/drawingml/2006/main">
              <a:ext uri="{FF2B5EF4-FFF2-40B4-BE49-F238E27FC236}">
                <a16:creationId xmlns:a16="http://schemas.microsoft.com/office/drawing/2014/main" id="{3E43598B-F00C-43DF-AD86-55A6AA5DF72C}"/>
              </a:ext>
            </a:extLst>
          </p:cNvPr>
          <p:cNvSpPr>
            <a:spLocks xmlns:a="http://schemas.openxmlformats.org/drawingml/2006/main" noGrp="1"/>
          </p:cNvSpPr>
          <p:nvPr/>
        </p:nvSpPr>
        <p:spPr>
          <a:xfrm xmlns:a="http://schemas.openxmlformats.org/drawingml/2006/main">
            <a:off x="8156448" y="2377440"/>
            <a:ext cx="3483864"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9" name="Text 7">
            <a:extLst xmlns:a="http://schemas.openxmlformats.org/drawingml/2006/main">
              <a:ext uri="{FF2B5EF4-FFF2-40B4-BE49-F238E27FC236}">
                <a16:creationId xmlns:a16="http://schemas.microsoft.com/office/drawing/2014/main" id="{4C71AE7A-73EA-44B2-BE2A-79E89F836F1E}"/>
              </a:ext>
            </a:extLst>
          </p:cNvPr>
          <p:cNvSpPr>
            <a:spLocks xmlns:a="http://schemas.openxmlformats.org/drawingml/2006/main" noGrp="1"/>
          </p:cNvSpPr>
          <p:nvPr/>
        </p:nvSpPr>
        <p:spPr>
          <a:xfrm xmlns:a="http://schemas.openxmlformats.org/drawingml/2006/main">
            <a:off x="8357616" y="2560320"/>
            <a:ext cx="3081528"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For governance</a:t>
            </a:r>
          </a:p>
          <a:p xmlns:a="http://schemas.openxmlformats.org/drawingml/2006/main">
            <a:pPr marL="0" indent="0" algn="l">
              <a:lnSpc>
                <a:spcPct val="105000"/>
              </a:lnSpc>
              <a:spcAft>
                <a:spcPts val="600"/>
              </a:spcAft>
              <a:buNone/>
            </a:pPr>
            <a:r>
              <a:rPr sz="1200">
                <a:solidFill>
                  <a:srgbClr val="6B7280"/>
                </a:solidFill>
                <a:latin typeface="Calibri"/>
                <a:ea typeface="Calibri"/>
                <a:cs typeface="Calibri"/>
              </a:rPr>
              <a:t>Review checklists, pilot templates, and clear data boundaries, so IT, legal, and compliance can sign off with confidence.</a:t>
            </a:r>
          </a:p>
        </p:txBody>
      </p:sp>
      <p:sp>
        <p:nvSpPr>
          <p:cNvPr id="10" name="Shape 8">
            <a:extLst xmlns:a="http://schemas.openxmlformats.org/drawingml/2006/main">
              <a:ext uri="{FF2B5EF4-FFF2-40B4-BE49-F238E27FC236}">
                <a16:creationId xmlns:a16="http://schemas.microsoft.com/office/drawing/2014/main" id="{0BEEAEE5-076D-4295-A865-8730EB6F67CD}"/>
              </a:ext>
            </a:extLst>
          </p:cNvPr>
          <p:cNvSpPr>
            <a:spLocks xmlns:a="http://schemas.openxmlformats.org/drawingml/2006/main" noGrp="1"/>
          </p:cNvSpPr>
          <p:nvPr/>
        </p:nvSpPr>
        <p:spPr>
          <a:xfrm xmlns:a="http://schemas.openxmlformats.org/drawingml/2006/main">
            <a:off x="548640" y="4983480"/>
            <a:ext cx="11091672" cy="841248"/>
          </a:xfrm>
          <a:prstGeom xmlns:a="http://schemas.openxmlformats.org/drawingml/2006/main" prst="roundRect">
            <a:avLst>
              <a:gd name="adj" fmla="val 6522"/>
            </a:avLst>
          </a:prstGeom>
          <a:solidFill xmlns:a="http://schemas.openxmlformats.org/drawingml/2006/main">
            <a:srgbClr val="F4ECFC"/>
          </a:solidFill>
          <a:ln xmlns:a="http://schemas.openxmlformats.org/drawingml/2006/main" w="12700">
            <a:solidFill>
              <a:srgbClr val="E7D9FB"/>
            </a:solidFill>
            <a:prstDash val="solid"/>
          </a:ln>
        </p:spPr>
      </p:sp>
      <p:sp>
        <p:nvSpPr>
          <p:cNvPr id="11" name="Shape 9">
            <a:extLst xmlns:a="http://schemas.openxmlformats.org/drawingml/2006/main">
              <a:ext uri="{FF2B5EF4-FFF2-40B4-BE49-F238E27FC236}">
                <a16:creationId xmlns:a16="http://schemas.microsoft.com/office/drawing/2014/main" id="{3C617DA3-376D-43ED-8C8A-F27C5BFE2945}"/>
              </a:ext>
            </a:extLst>
          </p:cNvPr>
          <p:cNvSpPr>
            <a:spLocks xmlns:a="http://schemas.openxmlformats.org/drawingml/2006/main" noGrp="1"/>
          </p:cNvSpPr>
          <p:nvPr/>
        </p:nvSpPr>
        <p:spPr>
          <a:xfrm xmlns:a="http://schemas.openxmlformats.org/drawingml/2006/main">
            <a:off x="548640" y="4983480"/>
            <a:ext cx="73152" cy="841248"/>
          </a:xfrm>
          <a:prstGeom xmlns:a="http://schemas.openxmlformats.org/drawingml/2006/main" prst="rect">
            <a:avLst/>
          </a:prstGeom>
          <a:solidFill xmlns:a="http://schemas.openxmlformats.org/drawingml/2006/main">
            <a:srgbClr val="4D148C"/>
          </a:solidFill>
        </p:spPr>
      </p:sp>
      <p:sp>
        <p:nvSpPr>
          <p:cNvPr id="12" name="Text 10">
            <a:extLst xmlns:a="http://schemas.openxmlformats.org/drawingml/2006/main">
              <a:ext uri="{FF2B5EF4-FFF2-40B4-BE49-F238E27FC236}">
                <a16:creationId xmlns:a16="http://schemas.microsoft.com/office/drawing/2014/main" id="{0B170522-F23F-4554-8D52-B6E6C9BAE229}"/>
              </a:ext>
            </a:extLst>
          </p:cNvPr>
          <p:cNvSpPr>
            <a:spLocks xmlns:a="http://schemas.openxmlformats.org/drawingml/2006/main" noGrp="1"/>
          </p:cNvSpPr>
          <p:nvPr/>
        </p:nvSpPr>
        <p:spPr>
          <a:xfrm xmlns:a="http://schemas.openxmlformats.org/drawingml/2006/main">
            <a:off x="822960" y="4983480"/>
            <a:ext cx="10588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5000"/>
              </a:lnSpc>
              <a:buNone/>
            </a:pPr>
            <a:r>
              <a:rPr sz="1300" b="1">
                <a:solidFill>
                  <a:srgbClr val="4D148C"/>
                </a:solidFill>
                <a:latin typeface="Calibri"/>
                <a:ea typeface="Calibri"/>
                <a:cs typeface="Calibri"/>
              </a:rPr>
              <a:t>You hold the gate:  </a:t>
            </a:r>
            <a:r>
              <a:rPr sz="1300">
                <a:solidFill>
                  <a:srgbClr val="1A1D23"/>
                </a:solidFill>
                <a:latin typeface="Calibri"/>
                <a:ea typeface="Calibri"/>
                <a:cs typeface="Calibri"/>
              </a:rPr>
              <a:t>everything uses public or made-up (synthetic) data until FedEx formally approves more. Nothing here touches real FedEx systems.</a:t>
            </a:r>
          </a:p>
        </p:txBody>
      </p:sp>
    </p:spTree>
    <p:extLst>
      <p:ext uri="{BB962C8B-B14F-4D97-AF65-F5344CB8AC3E}">
        <p14:creationId xmlns:p14="http://schemas.microsoft.com/office/powerpoint/2010/main" val="19680595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EBE873-16FD-43F3-AB9A-F9C59BA86791}"/>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Prompt Library — 52 FedEx-Specific Prompts</a:t>
            </a:r>
          </a:p>
        </p:txBody>
      </p:sp>
      <p:sp>
        <p:nvSpPr>
          <p:cNvPr id="3" name="Text 1">
            <a:extLst xmlns:a="http://schemas.openxmlformats.org/drawingml/2006/main">
              <a:ext uri="{FF2B5EF4-FFF2-40B4-BE49-F238E27FC236}">
                <a16:creationId xmlns:a16="http://schemas.microsoft.com/office/drawing/2014/main" id="{835EEE85-DEAA-4FE9-8E69-08DE5E540ABB}"/>
              </a:ext>
            </a:extLst>
          </p:cNvPr>
          <p:cNvSpPr>
            <a:spLocks xmlns:a="http://schemas.openxmlformats.org/drawingml/2006/main" noGrp="1"/>
          </p:cNvSpPr>
          <p:nvPr/>
        </p:nvSpPr>
        <p:spPr>
          <a:xfrm xmlns:a="http://schemas.openxmlformats.org/drawingml/2006/main">
            <a:off x="548640" y="1554480"/>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Organized by what managers actually do, not by AI theory. A “prompt” is just a ready-made request your manager pastes into Gemini or ChatGPT and fills in the blanks:</a:t>
            </a:r>
          </a:p>
        </p:txBody>
      </p:sp>
      <p:sp>
        <p:nvSpPr>
          <p:cNvPr id="4" name="Text 2">
            <a:extLst xmlns:a="http://schemas.openxmlformats.org/drawingml/2006/main">
              <a:ext uri="{FF2B5EF4-FFF2-40B4-BE49-F238E27FC236}">
                <a16:creationId xmlns:a16="http://schemas.microsoft.com/office/drawing/2014/main" id="{33920F87-CE83-4031-8A25-F69B79840208}"/>
              </a:ext>
            </a:extLst>
          </p:cNvPr>
          <p:cNvSpPr>
            <a:spLocks xmlns:a="http://schemas.openxmlformats.org/drawingml/2006/main" noGrp="1"/>
          </p:cNvSpPr>
          <p:nvPr/>
        </p:nvSpPr>
        <p:spPr>
          <a:xfrm xmlns:a="http://schemas.openxmlformats.org/drawingml/2006/main">
            <a:off x="548640" y="2514600"/>
            <a:ext cx="512064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gn="l">
              <a:lnSpc>
                <a:spcPct val="100000"/>
              </a:lnSpc>
              <a:spcAft>
                <a:spcPts val="400"/>
              </a:spcAft>
              <a:buChar char="•"/>
            </a:pPr>
            <a:r>
              <a:rPr sz="1300" b="1">
                <a:solidFill>
                  <a:srgbClr val="4D148C"/>
                </a:solidFill>
                <a:latin typeface="Calibri"/>
                <a:ea typeface="Calibri"/>
                <a:cs typeface="Calibri"/>
              </a:rPr>
              <a:t>Daily Operations — </a:t>
            </a:r>
            <a:r>
              <a:rPr sz="1250">
                <a:solidFill>
                  <a:srgbClr val="1A1D23"/>
                </a:solidFill>
                <a:latin typeface="Calibri"/>
                <a:ea typeface="Calibri"/>
                <a:cs typeface="Calibri"/>
              </a:rPr>
              <a:t>Shift briefs, handoffs, escalations, after-action reviews</a:t>
            </a:r>
          </a:p>
          <a:p xmlns:a="http://schemas.openxmlformats.org/drawingml/2006/main">
            <a:pPr marL="0" indent="0" algn="l">
              <a:lnSpc>
                <a:spcPct val="100000"/>
              </a:lnSpc>
              <a:spcAft>
                <a:spcPts val="400"/>
              </a:spcAft>
              <a:buNone/>
            </a:pPr>
          </a:p>
          <a:p xmlns:a="http://schemas.openxmlformats.org/drawingml/2006/main">
            <a:pPr marL="0" indent="0" algn="l">
              <a:lnSpc>
                <a:spcPct val="100000"/>
              </a:lnSpc>
              <a:spcAft>
                <a:spcPts val="400"/>
              </a:spcAft>
              <a:buNone/>
            </a:pPr>
            <a:r>
              <a:rPr sz="1300" b="1">
                <a:solidFill>
                  <a:srgbClr val="4D148C"/>
                </a:solidFill>
                <a:latin typeface="Calibri"/>
                <a:ea typeface="Calibri"/>
                <a:cs typeface="Calibri"/>
              </a:rPr>
              <a:t>Safety &amp; Compliance — </a:t>
            </a:r>
            <a:r>
              <a:rPr sz="1250">
                <a:solidFill>
                  <a:srgbClr val="1A1D23"/>
                </a:solidFill>
                <a:latin typeface="Calibri"/>
                <a:ea typeface="Calibri"/>
                <a:cs typeface="Calibri"/>
              </a:rPr>
              <a:t>Pre-shift huddles, near-miss reports, seasonal alerts</a:t>
            </a:r>
          </a:p>
          <a:p xmlns:a="http://schemas.openxmlformats.org/drawingml/2006/main">
            <a:pPr marL="0" indent="0" algn="l">
              <a:lnSpc>
                <a:spcPct val="100000"/>
              </a:lnSpc>
              <a:spcAft>
                <a:spcPts val="400"/>
              </a:spcAft>
              <a:buNone/>
            </a:pPr>
          </a:p>
          <a:p xmlns:a="http://schemas.openxmlformats.org/drawingml/2006/main">
            <a:pPr marL="0" indent="0" algn="l">
              <a:lnSpc>
                <a:spcPct val="100000"/>
              </a:lnSpc>
              <a:spcAft>
                <a:spcPts val="400"/>
              </a:spcAft>
              <a:buNone/>
            </a:pPr>
            <a:r>
              <a:rPr sz="1300" b="1">
                <a:solidFill>
                  <a:srgbClr val="4D148C"/>
                </a:solidFill>
                <a:latin typeface="Calibri"/>
                <a:ea typeface="Calibri"/>
                <a:cs typeface="Calibri"/>
              </a:rPr>
              <a:t>Peak Season &amp; Surge — </a:t>
            </a:r>
            <a:r>
              <a:rPr sz="1250">
                <a:solidFill>
                  <a:srgbClr val="1A1D23"/>
                </a:solidFill>
                <a:latin typeface="Calibri"/>
                <a:ea typeface="Calibri"/>
                <a:cs typeface="Calibri"/>
              </a:rPr>
              <a:t>Contingency plans, ISP coordination, sort hub staffing</a:t>
            </a:r>
          </a:p>
          <a:p xmlns:a="http://schemas.openxmlformats.org/drawingml/2006/main">
            <a:pPr marL="0" indent="0" algn="l">
              <a:lnSpc>
                <a:spcPct val="100000"/>
              </a:lnSpc>
              <a:spcAft>
                <a:spcPts val="400"/>
              </a:spcAft>
              <a:buNone/>
            </a:pPr>
          </a:p>
          <a:p xmlns:a="http://schemas.openxmlformats.org/drawingml/2006/main">
            <a:pPr marL="0" indent="0" algn="l">
              <a:lnSpc>
                <a:spcPct val="100000"/>
              </a:lnSpc>
              <a:spcAft>
                <a:spcPts val="400"/>
              </a:spcAft>
              <a:buNone/>
            </a:pPr>
            <a:r>
              <a:rPr sz="1300" b="1">
                <a:solidFill>
                  <a:srgbClr val="4D148C"/>
                </a:solidFill>
                <a:latin typeface="Calibri"/>
                <a:ea typeface="Calibri"/>
                <a:cs typeface="Calibri"/>
              </a:rPr>
              <a:t>Meeting &amp; Communication — </a:t>
            </a:r>
            <a:r>
              <a:rPr sz="1250">
                <a:solidFill>
                  <a:srgbClr val="1A1D23"/>
                </a:solidFill>
                <a:latin typeface="Calibri"/>
                <a:ea typeface="Calibri"/>
                <a:cs typeface="Calibri"/>
              </a:rPr>
              <a:t>Agendas, action items, emails, executive updates</a:t>
            </a:r>
          </a:p>
          <a:p xmlns:a="http://schemas.openxmlformats.org/drawingml/2006/main">
            <a:pPr marL="0" indent="0" algn="l">
              <a:lnSpc>
                <a:spcPct val="100000"/>
              </a:lnSpc>
              <a:spcAft>
                <a:spcPts val="400"/>
              </a:spcAft>
              <a:buNone/>
            </a:pPr>
          </a:p>
        </p:txBody>
      </p:sp>
      <p:sp>
        <p:nvSpPr>
          <p:cNvPr id="5" name="Text 3">
            <a:extLst xmlns:a="http://schemas.openxmlformats.org/drawingml/2006/main">
              <a:ext uri="{FF2B5EF4-FFF2-40B4-BE49-F238E27FC236}">
                <a16:creationId xmlns:a16="http://schemas.microsoft.com/office/drawing/2014/main" id="{5CEE4BA2-AD0E-4061-A24C-31A97EE5C1C2}"/>
              </a:ext>
            </a:extLst>
          </p:cNvPr>
          <p:cNvSpPr>
            <a:spLocks xmlns:a="http://schemas.openxmlformats.org/drawingml/2006/main" noGrp="1"/>
          </p:cNvSpPr>
          <p:nvPr/>
        </p:nvSpPr>
        <p:spPr>
          <a:xfrm xmlns:a="http://schemas.openxmlformats.org/drawingml/2006/main">
            <a:off x="6217920" y="2514600"/>
            <a:ext cx="512064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gn="l">
              <a:lnSpc>
                <a:spcPct val="100000"/>
              </a:lnSpc>
              <a:spcAft>
                <a:spcPts val="400"/>
              </a:spcAft>
              <a:buChar char="•"/>
            </a:pPr>
            <a:r>
              <a:rPr sz="1300" b="1">
                <a:solidFill>
                  <a:srgbClr val="4D148C"/>
                </a:solidFill>
                <a:latin typeface="Calibri"/>
                <a:ea typeface="Calibri"/>
                <a:cs typeface="Calibri"/>
              </a:rPr>
              <a:t>Customer &amp; Contractor — </a:t>
            </a:r>
            <a:r>
              <a:rPr sz="1250">
                <a:solidFill>
                  <a:srgbClr val="1A1D23"/>
                </a:solidFill>
                <a:latin typeface="Calibri"/>
                <a:ea typeface="Calibri"/>
                <a:cs typeface="Calibri"/>
              </a:rPr>
              <a:t>Service alerts, escalation responses, team recognition</a:t>
            </a:r>
          </a:p>
          <a:p xmlns:a="http://schemas.openxmlformats.org/drawingml/2006/main">
            <a:pPr marL="0" indent="0" algn="l">
              <a:lnSpc>
                <a:spcPct val="100000"/>
              </a:lnSpc>
              <a:spcAft>
                <a:spcPts val="400"/>
              </a:spcAft>
              <a:buNone/>
            </a:pPr>
          </a:p>
          <a:p xmlns:a="http://schemas.openxmlformats.org/drawingml/2006/main">
            <a:pPr marL="0" indent="0" algn="l">
              <a:lnSpc>
                <a:spcPct val="100000"/>
              </a:lnSpc>
              <a:spcAft>
                <a:spcPts val="400"/>
              </a:spcAft>
              <a:buNone/>
            </a:pPr>
            <a:r>
              <a:rPr sz="1300" b="1">
                <a:solidFill>
                  <a:srgbClr val="4D148C"/>
                </a:solidFill>
                <a:latin typeface="Calibri"/>
                <a:ea typeface="Calibri"/>
                <a:cs typeface="Calibri"/>
              </a:rPr>
              <a:t>Linehaul &amp; Routing — </a:t>
            </a:r>
            <a:r>
              <a:rPr sz="1250">
                <a:solidFill>
                  <a:srgbClr val="1A1D23"/>
                </a:solidFill>
                <a:latin typeface="Calibri"/>
                <a:ea typeface="Calibri"/>
                <a:cs typeface="Calibri"/>
              </a:rPr>
              <a:t>Feeder delays, alternate routing, yard management</a:t>
            </a:r>
          </a:p>
          <a:p xmlns:a="http://schemas.openxmlformats.org/drawingml/2006/main">
            <a:pPr marL="0" indent="0" algn="l">
              <a:lnSpc>
                <a:spcPct val="100000"/>
              </a:lnSpc>
              <a:spcAft>
                <a:spcPts val="400"/>
              </a:spcAft>
              <a:buNone/>
            </a:pPr>
          </a:p>
          <a:p xmlns:a="http://schemas.openxmlformats.org/drawingml/2006/main">
            <a:pPr marL="0" indent="0" algn="l">
              <a:lnSpc>
                <a:spcPct val="100000"/>
              </a:lnSpc>
              <a:spcAft>
                <a:spcPts val="400"/>
              </a:spcAft>
              <a:buNone/>
            </a:pPr>
            <a:r>
              <a:rPr sz="1300" b="1">
                <a:solidFill>
                  <a:srgbClr val="4D148C"/>
                </a:solidFill>
                <a:latin typeface="Calibri"/>
                <a:ea typeface="Calibri"/>
                <a:cs typeface="Calibri"/>
              </a:rPr>
              <a:t>Process Improvement — </a:t>
            </a:r>
            <a:r>
              <a:rPr sz="1250">
                <a:solidFill>
                  <a:srgbClr val="1A1D23"/>
                </a:solidFill>
                <a:latin typeface="Calibri"/>
                <a:ea typeface="Calibri"/>
                <a:cs typeface="Calibri"/>
              </a:rPr>
              <a:t>Root cause analysis, improvement proposals</a:t>
            </a:r>
          </a:p>
          <a:p xmlns:a="http://schemas.openxmlformats.org/drawingml/2006/main">
            <a:pPr marL="0" indent="0" algn="l">
              <a:lnSpc>
                <a:spcPct val="100000"/>
              </a:lnSpc>
              <a:spcAft>
                <a:spcPts val="400"/>
              </a:spcAft>
              <a:buNone/>
            </a:pPr>
          </a:p>
          <a:p xmlns:a="http://schemas.openxmlformats.org/drawingml/2006/main">
            <a:pPr marL="0" indent="0" algn="l">
              <a:lnSpc>
                <a:spcPct val="100000"/>
              </a:lnSpc>
              <a:spcAft>
                <a:spcPts val="400"/>
              </a:spcAft>
              <a:buNone/>
            </a:pPr>
            <a:r>
              <a:rPr sz="1300" b="1">
                <a:solidFill>
                  <a:srgbClr val="4D148C"/>
                </a:solidFill>
                <a:latin typeface="Calibri"/>
                <a:ea typeface="Calibri"/>
                <a:cs typeface="Calibri"/>
              </a:rPr>
              <a:t>Data &amp; Reporting — </a:t>
            </a:r>
            <a:r>
              <a:rPr sz="1250">
                <a:solidFill>
                  <a:srgbClr val="1A1D23"/>
                </a:solidFill>
                <a:latin typeface="Calibri"/>
                <a:ea typeface="Calibri"/>
                <a:cs typeface="Calibri"/>
              </a:rPr>
              <a:t>Metrics summaries, trend explanations</a:t>
            </a:r>
          </a:p>
          <a:p xmlns:a="http://schemas.openxmlformats.org/drawingml/2006/main">
            <a:pPr marL="0" indent="0" algn="l">
              <a:lnSpc>
                <a:spcPct val="100000"/>
              </a:lnSpc>
              <a:spcAft>
                <a:spcPts val="400"/>
              </a:spcAft>
              <a:buNone/>
            </a:pPr>
          </a:p>
        </p:txBody>
      </p:sp>
      <p:sp>
        <p:nvSpPr>
          <p:cNvPr id="6" name="Text 4">
            <a:extLst xmlns:a="http://schemas.openxmlformats.org/drawingml/2006/main">
              <a:ext uri="{FF2B5EF4-FFF2-40B4-BE49-F238E27FC236}">
                <a16:creationId xmlns:a16="http://schemas.microsoft.com/office/drawing/2014/main" id="{FDC2B242-9826-4C02-A0B4-BB2738D9945B}"/>
              </a:ext>
            </a:extLst>
          </p:cNvPr>
          <p:cNvSpPr>
            <a:spLocks xmlns:a="http://schemas.openxmlformats.org/drawingml/2006/main" noGrp="1"/>
          </p:cNvSpPr>
          <p:nvPr/>
        </p:nvSpPr>
        <p:spPr>
          <a:xfrm xmlns:a="http://schemas.openxmlformats.org/drawingml/2006/main">
            <a:off x="548640" y="6355080"/>
            <a:ext cx="11091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i="1">
                <a:solidFill>
                  <a:srgbClr val="6B7280"/>
                </a:solidFill>
                <a:latin typeface="Calibri"/>
                <a:ea typeface="Calibri"/>
                <a:cs typeface="Calibri"/>
              </a:rPr>
              <a:t>Every prompt includes the Safe Prompt Rule: remove sensitive data first, review output before sharing, keep a human in charge.</a:t>
            </a:r>
          </a:p>
        </p:txBody>
      </p:sp>
    </p:spTree>
    <p:extLst>
      <p:ext uri="{BB962C8B-B14F-4D97-AF65-F5344CB8AC3E}">
        <p14:creationId xmlns:p14="http://schemas.microsoft.com/office/powerpoint/2010/main" val="18081430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3E4F674-0694-4496-BD68-6C42427F556A}"/>
              </a:ext>
            </a:extLst>
          </p:cNvPr>
          <p:cNvSpPr>
            <a:spLocks xmlns:a="http://schemas.openxmlformats.org/drawingml/2006/main" noGrp="1"/>
          </p:cNvSpPr>
          <p:nvPr/>
        </p:nvSpPr>
        <p:spPr>
          <a:xfrm xmlns:a="http://schemas.openxmlformats.org/drawingml/2006/main">
            <a:off x="548640" y="457200"/>
            <a:ext cx="1126541" cy="292608"/>
          </a:xfrm>
          <a:prstGeom xmlns:a="http://schemas.openxmlformats.org/drawingml/2006/main" prst="roundRect">
            <a:avLst>
              <a:gd name="adj" fmla="val 50000"/>
            </a:avLst>
          </a:prstGeom>
          <a:solidFill xmlns:a="http://schemas.openxmlformats.org/drawingml/2006/main">
            <a:srgbClr val="FF6600"/>
          </a:solidFill>
        </p:spPr>
      </p:sp>
      <p:sp>
        <p:nvSpPr>
          <p:cNvPr id="3" name="Text 1">
            <a:extLst xmlns:a="http://schemas.openxmlformats.org/drawingml/2006/main">
              <a:ext uri="{FF2B5EF4-FFF2-40B4-BE49-F238E27FC236}">
                <a16:creationId xmlns:a16="http://schemas.microsoft.com/office/drawing/2014/main" id="{49DF893B-FE53-4CFA-9E24-CB2AC462860C}"/>
              </a:ext>
            </a:extLst>
          </p:cNvPr>
          <p:cNvSpPr>
            <a:spLocks xmlns:a="http://schemas.openxmlformats.org/drawingml/2006/main" noGrp="1"/>
          </p:cNvSpPr>
          <p:nvPr/>
        </p:nvSpPr>
        <p:spPr>
          <a:xfrm xmlns:a="http://schemas.openxmlformats.org/drawingml/2006/main">
            <a:off x="548640" y="457200"/>
            <a:ext cx="112654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Trebuchet MS"/>
                <a:ea typeface="Trebuchet MS"/>
                <a:cs typeface="Trebuchet MS"/>
              </a:rPr>
              <a:t>DAILY HABIT</a:t>
            </a:r>
          </a:p>
        </p:txBody>
      </p:sp>
      <p:sp>
        <p:nvSpPr>
          <p:cNvPr id="4" name="Text 2">
            <a:extLst xmlns:a="http://schemas.openxmlformats.org/drawingml/2006/main">
              <a:ext uri="{FF2B5EF4-FFF2-40B4-BE49-F238E27FC236}">
                <a16:creationId xmlns:a16="http://schemas.microsoft.com/office/drawing/2014/main" id="{4E646F4F-841C-4BDD-9617-8E562559C285}"/>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The Daily Ops Playbook</a:t>
            </a:r>
          </a:p>
        </p:txBody>
      </p:sp>
      <p:sp>
        <p:nvSpPr>
          <p:cNvPr id="5" name="Text 3">
            <a:extLst xmlns:a="http://schemas.openxmlformats.org/drawingml/2006/main">
              <a:ext uri="{FF2B5EF4-FFF2-40B4-BE49-F238E27FC236}">
                <a16:creationId xmlns:a16="http://schemas.microsoft.com/office/drawing/2014/main" id="{0BC77E8D-E503-4459-9D3C-0F801BFF392B}"/>
              </a:ext>
            </a:extLst>
          </p:cNvPr>
          <p:cNvSpPr>
            <a:spLocks xmlns:a="http://schemas.openxmlformats.org/drawingml/2006/main" noGrp="1"/>
          </p:cNvSpPr>
          <p:nvPr/>
        </p:nvSpPr>
        <p:spPr>
          <a:xfrm xmlns:a="http://schemas.openxmlformats.org/drawingml/2006/main">
            <a:off x="548640" y="1627632"/>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A single printable page that turns the prompt library into a daily habit — copy, paste, edit, done.</a:t>
            </a:r>
          </a:p>
        </p:txBody>
      </p:sp>
      <p:sp>
        <p:nvSpPr>
          <p:cNvPr id="6" name="Shape 4">
            <a:extLst xmlns:a="http://schemas.openxmlformats.org/drawingml/2006/main">
              <a:ext uri="{FF2B5EF4-FFF2-40B4-BE49-F238E27FC236}">
                <a16:creationId xmlns:a16="http://schemas.microsoft.com/office/drawing/2014/main" id="{566763DF-0EBC-47B9-9B29-FE46E150EBCA}"/>
              </a:ext>
            </a:extLst>
          </p:cNvPr>
          <p:cNvSpPr>
            <a:spLocks xmlns:a="http://schemas.openxmlformats.org/drawingml/2006/main" noGrp="1"/>
          </p:cNvSpPr>
          <p:nvPr/>
        </p:nvSpPr>
        <p:spPr>
          <a:xfrm xmlns:a="http://schemas.openxmlformats.org/drawingml/2006/main">
            <a:off x="548640" y="2423160"/>
            <a:ext cx="5362956"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5">
            <a:extLst xmlns:a="http://schemas.openxmlformats.org/drawingml/2006/main">
              <a:ext uri="{FF2B5EF4-FFF2-40B4-BE49-F238E27FC236}">
                <a16:creationId xmlns:a16="http://schemas.microsoft.com/office/drawing/2014/main" id="{1890FDAC-708D-4451-8E7B-76A57168B7C7}"/>
              </a:ext>
            </a:extLst>
          </p:cNvPr>
          <p:cNvSpPr>
            <a:spLocks xmlns:a="http://schemas.openxmlformats.org/drawingml/2006/main" noGrp="1"/>
          </p:cNvSpPr>
          <p:nvPr/>
        </p:nvSpPr>
        <p:spPr>
          <a:xfrm xmlns:a="http://schemas.openxmlformats.org/drawingml/2006/main">
            <a:off x="749808" y="2606040"/>
            <a:ext cx="496062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600" b="1">
                <a:solidFill>
                  <a:srgbClr val="4D148C"/>
                </a:solidFill>
                <a:latin typeface="Calibri"/>
                <a:ea typeface="Calibri"/>
                <a:cs typeface="Calibri"/>
              </a:rPr>
              <a:t>What it is</a:t>
            </a:r>
          </a:p>
          <a:p xmlns:a="http://schemas.openxmlformats.org/drawingml/2006/main">
            <a:pPr marL="0" indent="0" algn="l">
              <a:lnSpc>
                <a:spcPct val="105000"/>
              </a:lnSpc>
              <a:spcAft>
                <a:spcPts val="600"/>
              </a:spcAft>
              <a:buNone/>
            </a:pPr>
            <a:r>
              <a:rPr sz="1350">
                <a:solidFill>
                  <a:srgbClr val="6B7280"/>
                </a:solidFill>
                <a:latin typeface="Calibri"/>
                <a:ea typeface="Calibri"/>
                <a:cs typeface="Calibri"/>
              </a:rPr>
              <a:t>A copy-paste daily checklist with the go-to prompts for a manager's morning, mid-shift, and end-of-shift routine. Print it, pin it by the desk, work down the list.</a:t>
            </a:r>
          </a:p>
        </p:txBody>
      </p:sp>
      <p:sp>
        <p:nvSpPr>
          <p:cNvPr id="8" name="Shape 6">
            <a:extLst xmlns:a="http://schemas.openxmlformats.org/drawingml/2006/main">
              <a:ext uri="{FF2B5EF4-FFF2-40B4-BE49-F238E27FC236}">
                <a16:creationId xmlns:a16="http://schemas.microsoft.com/office/drawing/2014/main" id="{BCC2690F-4E9F-4E7B-A833-B63445E95088}"/>
              </a:ext>
            </a:extLst>
          </p:cNvPr>
          <p:cNvSpPr>
            <a:spLocks xmlns:a="http://schemas.openxmlformats.org/drawingml/2006/main" noGrp="1"/>
          </p:cNvSpPr>
          <p:nvPr/>
        </p:nvSpPr>
        <p:spPr>
          <a:xfrm xmlns:a="http://schemas.openxmlformats.org/drawingml/2006/main">
            <a:off x="6277356" y="2423160"/>
            <a:ext cx="5362956" cy="2240280"/>
          </a:xfrm>
          <a:prstGeom xmlns:a="http://schemas.openxmlformats.org/drawingml/2006/main" prst="roundRect">
            <a:avLst>
              <a:gd name="adj" fmla="val 3265"/>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9" name="Text 7">
            <a:extLst xmlns:a="http://schemas.openxmlformats.org/drawingml/2006/main">
              <a:ext uri="{FF2B5EF4-FFF2-40B4-BE49-F238E27FC236}">
                <a16:creationId xmlns:a16="http://schemas.microsoft.com/office/drawing/2014/main" id="{30AA2C58-2381-43D9-B317-058C35F3A817}"/>
              </a:ext>
            </a:extLst>
          </p:cNvPr>
          <p:cNvSpPr>
            <a:spLocks xmlns:a="http://schemas.openxmlformats.org/drawingml/2006/main" noGrp="1"/>
          </p:cNvSpPr>
          <p:nvPr/>
        </p:nvSpPr>
        <p:spPr>
          <a:xfrm xmlns:a="http://schemas.openxmlformats.org/drawingml/2006/main">
            <a:off x="6478524" y="2606040"/>
            <a:ext cx="496062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600" b="1">
                <a:solidFill>
                  <a:srgbClr val="4D148C"/>
                </a:solidFill>
                <a:latin typeface="Calibri"/>
                <a:ea typeface="Calibri"/>
                <a:cs typeface="Calibri"/>
              </a:rPr>
              <a:t>Why it matters</a:t>
            </a:r>
          </a:p>
          <a:p xmlns:a="http://schemas.openxmlformats.org/drawingml/2006/main">
            <a:pPr marL="0" indent="0" algn="l">
              <a:lnSpc>
                <a:spcPct val="105000"/>
              </a:lnSpc>
              <a:spcAft>
                <a:spcPts val="600"/>
              </a:spcAft>
              <a:buNone/>
            </a:pPr>
            <a:r>
              <a:rPr sz="1350">
                <a:solidFill>
                  <a:srgbClr val="6B7280"/>
                </a:solidFill>
                <a:latin typeface="Calibri"/>
                <a:ea typeface="Calibri"/>
                <a:cs typeface="Calibri"/>
              </a:rPr>
              <a:t>Lowers the barrier for the least technical teammate. No tool to learn — just a page that says what to do and which prompt to use, with the Safe Prompt Rule on every step.</a:t>
            </a:r>
          </a:p>
        </p:txBody>
      </p:sp>
      <p:sp>
        <p:nvSpPr>
          <p:cNvPr id="10" name="Shape 8">
            <a:extLst xmlns:a="http://schemas.openxmlformats.org/drawingml/2006/main">
              <a:ext uri="{FF2B5EF4-FFF2-40B4-BE49-F238E27FC236}">
                <a16:creationId xmlns:a16="http://schemas.microsoft.com/office/drawing/2014/main" id="{4CF78FFF-608E-4CB5-AF8A-5E76667AD7EA}"/>
              </a:ext>
            </a:extLst>
          </p:cNvPr>
          <p:cNvSpPr>
            <a:spLocks xmlns:a="http://schemas.openxmlformats.org/drawingml/2006/main" noGrp="1"/>
          </p:cNvSpPr>
          <p:nvPr/>
        </p:nvSpPr>
        <p:spPr>
          <a:xfrm xmlns:a="http://schemas.openxmlformats.org/drawingml/2006/main">
            <a:off x="548640" y="4983480"/>
            <a:ext cx="11091672" cy="457200"/>
          </a:xfrm>
          <a:prstGeom xmlns:a="http://schemas.openxmlformats.org/drawingml/2006/main" prst="roundRect">
            <a:avLst>
              <a:gd name="adj" fmla="val 10000"/>
            </a:avLst>
          </a:prstGeom>
          <a:solidFill xmlns:a="http://schemas.openxmlformats.org/drawingml/2006/main">
            <a:srgbClr val="F0F0F4"/>
          </a:solidFill>
          <a:ln xmlns:a="http://schemas.openxmlformats.org/drawingml/2006/main" w="12700">
            <a:solidFill>
              <a:srgbClr val="E2E8F0"/>
            </a:solidFill>
            <a:prstDash val="solid"/>
          </a:ln>
        </p:spPr>
      </p:sp>
      <p:sp>
        <p:nvSpPr>
          <p:cNvPr id="11" name="Shape 9">
            <a:extLst xmlns:a="http://schemas.openxmlformats.org/drawingml/2006/main">
              <a:ext uri="{FF2B5EF4-FFF2-40B4-BE49-F238E27FC236}">
                <a16:creationId xmlns:a16="http://schemas.microsoft.com/office/drawing/2014/main" id="{0F11EA3C-BD9E-49AE-9598-9B31A302D3E3}"/>
              </a:ext>
            </a:extLst>
          </p:cNvPr>
          <p:cNvSpPr>
            <a:spLocks xmlns:a="http://schemas.openxmlformats.org/drawingml/2006/main" noGrp="1"/>
          </p:cNvSpPr>
          <p:nvPr/>
        </p:nvSpPr>
        <p:spPr>
          <a:xfrm xmlns:a="http://schemas.openxmlformats.org/drawingml/2006/main">
            <a:off x="548640" y="4983480"/>
            <a:ext cx="64008" cy="457200"/>
          </a:xfrm>
          <a:prstGeom xmlns:a="http://schemas.openxmlformats.org/drawingml/2006/main" prst="rect">
            <a:avLst/>
          </a:prstGeom>
          <a:solidFill xmlns:a="http://schemas.openxmlformats.org/drawingml/2006/main">
            <a:srgbClr val="FF6600"/>
          </a:solidFill>
        </p:spPr>
      </p:sp>
      <p:sp>
        <p:nvSpPr>
          <p:cNvPr id="12" name="Text 10">
            <a:extLst xmlns:a="http://schemas.openxmlformats.org/drawingml/2006/main">
              <a:ext uri="{FF2B5EF4-FFF2-40B4-BE49-F238E27FC236}">
                <a16:creationId xmlns:a16="http://schemas.microsoft.com/office/drawing/2014/main" id="{1D12FE0D-F3EF-46F4-A2DF-73B3565C4213}"/>
              </a:ext>
            </a:extLst>
          </p:cNvPr>
          <p:cNvSpPr>
            <a:spLocks xmlns:a="http://schemas.openxmlformats.org/drawingml/2006/main" noGrp="1"/>
          </p:cNvSpPr>
          <p:nvPr/>
        </p:nvSpPr>
        <p:spPr>
          <a:xfrm xmlns:a="http://schemas.openxmlformats.org/drawingml/2006/main">
            <a:off x="777240" y="4983480"/>
            <a:ext cx="1072591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3A0F69"/>
                </a:solidFill>
                <a:latin typeface="Consolas"/>
                <a:ea typeface="Consolas"/>
                <a:cs typeface="Consolas"/>
              </a:rPr>
              <a:t>docs/daily-ops-playbook.md</a:t>
            </a:r>
          </a:p>
        </p:txBody>
      </p:sp>
    </p:spTree>
    <p:extLst>
      <p:ext uri="{BB962C8B-B14F-4D97-AF65-F5344CB8AC3E}">
        <p14:creationId xmlns:p14="http://schemas.microsoft.com/office/powerpoint/2010/main" val="6745688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5163B9-3693-4D79-ADDF-CBFE627395A1}"/>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Featured Project: Logistics Intelligence System</a:t>
            </a:r>
          </a:p>
        </p:txBody>
      </p:sp>
      <p:sp>
        <p:nvSpPr>
          <p:cNvPr id="3" name="Text 1">
            <a:extLst xmlns:a="http://schemas.openxmlformats.org/drawingml/2006/main">
              <a:ext uri="{FF2B5EF4-FFF2-40B4-BE49-F238E27FC236}">
                <a16:creationId xmlns:a16="http://schemas.microsoft.com/office/drawing/2014/main" id="{4643697E-500A-4845-80C2-6045DB4F280C}"/>
              </a:ext>
            </a:extLst>
          </p:cNvPr>
          <p:cNvSpPr>
            <a:spLocks xmlns:a="http://schemas.openxmlformats.org/drawingml/2006/main" noGrp="1"/>
          </p:cNvSpPr>
          <p:nvPr/>
        </p:nvSpPr>
        <p:spPr>
          <a:xfrm xmlns:a="http://schemas.openxmlformats.org/drawingml/2006/main">
            <a:off x="548640" y="1572768"/>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A live demo tool (not a production system) that turns public risk signals into draft shift briefings — for any station in your district.</a:t>
            </a:r>
          </a:p>
        </p:txBody>
      </p:sp>
      <p:sp>
        <p:nvSpPr>
          <p:cNvPr id="4" name="Shape 2">
            <a:extLst xmlns:a="http://schemas.openxmlformats.org/drawingml/2006/main">
              <a:ext uri="{FF2B5EF4-FFF2-40B4-BE49-F238E27FC236}">
                <a16:creationId xmlns:a16="http://schemas.microsoft.com/office/drawing/2014/main" id="{A6418D5D-1EE2-4862-BF24-7295D5BB0403}"/>
              </a:ext>
            </a:extLst>
          </p:cNvPr>
          <p:cNvSpPr>
            <a:spLocks xmlns:a="http://schemas.openxmlformats.org/drawingml/2006/main" noGrp="1"/>
          </p:cNvSpPr>
          <p:nvPr/>
        </p:nvSpPr>
        <p:spPr>
          <a:xfrm xmlns:a="http://schemas.openxmlformats.org/drawingml/2006/main">
            <a:off x="6117336" y="2432304"/>
            <a:ext cx="5559552" cy="3930777"/>
          </a:xfrm>
          <a:prstGeom xmlns:a="http://schemas.openxmlformats.org/drawingml/2006/main" prst="rect">
            <a:avLst/>
          </a:prstGeom>
          <a:solidFill xmlns:a="http://schemas.openxmlformats.org/drawingml/2006/main">
            <a:srgbClr val="E2E8F0"/>
          </a:solidFill>
        </p:spPr>
      </p:sp>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6d9ba143762f4259"/>
          <a:stretch xmlns:a="http://schemas.openxmlformats.org/drawingml/2006/main">
            <a:fillRect l="0" t="0" r="0" b="0"/>
          </a:stretch>
        </p:blipFill>
        <p:spPr>
          <a:xfrm xmlns:a="http://schemas.openxmlformats.org/drawingml/2006/main">
            <a:off x="6153912" y="2468880"/>
            <a:ext cx="5486400" cy="3857625"/>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E7530C5B-C1D6-4E6D-B438-5297C5DA8967}"/>
              </a:ext>
            </a:extLst>
          </p:cNvPr>
          <p:cNvSpPr>
            <a:spLocks xmlns:a="http://schemas.openxmlformats.org/drawingml/2006/main" noGrp="1"/>
          </p:cNvSpPr>
          <p:nvPr/>
        </p:nvSpPr>
        <p:spPr>
          <a:xfrm xmlns:a="http://schemas.openxmlformats.org/drawingml/2006/main">
            <a:off x="548640" y="2468880"/>
            <a:ext cx="5239512" cy="1783080"/>
          </a:xfrm>
          <a:prstGeom xmlns:a="http://schemas.openxmlformats.org/drawingml/2006/main" prst="roundRect">
            <a:avLst>
              <a:gd name="adj" fmla="val 4103"/>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4">
            <a:extLst xmlns:a="http://schemas.openxmlformats.org/drawingml/2006/main">
              <a:ext uri="{FF2B5EF4-FFF2-40B4-BE49-F238E27FC236}">
                <a16:creationId xmlns:a16="http://schemas.microsoft.com/office/drawing/2014/main" id="{9C68FDEA-C080-4797-9927-52F7454FD6C0}"/>
              </a:ext>
            </a:extLst>
          </p:cNvPr>
          <p:cNvSpPr>
            <a:spLocks xmlns:a="http://schemas.openxmlformats.org/drawingml/2006/main" noGrp="1"/>
          </p:cNvSpPr>
          <p:nvPr/>
        </p:nvSpPr>
        <p:spPr>
          <a:xfrm xmlns:a="http://schemas.openxmlformats.org/drawingml/2006/main">
            <a:off x="749808" y="2651760"/>
            <a:ext cx="4837176"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What it does</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Shows public weather, road risk, and regional disruption before a shift, then drafts a briefing a manager can edit. Every number is labeled with its source.</a:t>
            </a:r>
          </a:p>
        </p:txBody>
      </p:sp>
      <p:sp>
        <p:nvSpPr>
          <p:cNvPr id="8" name="Shape 5">
            <a:extLst xmlns:a="http://schemas.openxmlformats.org/drawingml/2006/main">
              <a:ext uri="{FF2B5EF4-FFF2-40B4-BE49-F238E27FC236}">
                <a16:creationId xmlns:a16="http://schemas.microsoft.com/office/drawing/2014/main" id="{2F29699F-7B97-4DF2-8675-925DEBF2D359}"/>
              </a:ext>
            </a:extLst>
          </p:cNvPr>
          <p:cNvSpPr>
            <a:spLocks xmlns:a="http://schemas.openxmlformats.org/drawingml/2006/main" noGrp="1"/>
          </p:cNvSpPr>
          <p:nvPr/>
        </p:nvSpPr>
        <p:spPr>
          <a:xfrm xmlns:a="http://schemas.openxmlformats.org/drawingml/2006/main">
            <a:off x="548640" y="4389120"/>
            <a:ext cx="5239512" cy="1417320"/>
          </a:xfrm>
          <a:prstGeom xmlns:a="http://schemas.openxmlformats.org/drawingml/2006/main" prst="roundRect">
            <a:avLst>
              <a:gd name="adj" fmla="val 5161"/>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9" name="Text 6">
            <a:extLst xmlns:a="http://schemas.openxmlformats.org/drawingml/2006/main">
              <a:ext uri="{FF2B5EF4-FFF2-40B4-BE49-F238E27FC236}">
                <a16:creationId xmlns:a16="http://schemas.microsoft.com/office/drawing/2014/main" id="{2F6A1AE4-7233-4EFD-8EE8-23C5BAF8F62B}"/>
              </a:ext>
            </a:extLst>
          </p:cNvPr>
          <p:cNvSpPr>
            <a:spLocks xmlns:a="http://schemas.openxmlformats.org/drawingml/2006/main" noGrp="1"/>
          </p:cNvSpPr>
          <p:nvPr/>
        </p:nvSpPr>
        <p:spPr>
          <a:xfrm xmlns:a="http://schemas.openxmlformats.org/drawingml/2006/main">
            <a:off x="749808" y="4572000"/>
            <a:ext cx="4837176"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FF6600"/>
                </a:solidFill>
                <a:latin typeface="Calibri"/>
                <a:ea typeface="Calibri"/>
                <a:cs typeface="Calibri"/>
              </a:rPr>
              <a:t>What it never does</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No package data. No route manifests. No customer info. No live dispatch. No production claims.</a:t>
            </a:r>
          </a:p>
        </p:txBody>
      </p:sp>
    </p:spTree>
    <p:extLst>
      <p:ext uri="{BB962C8B-B14F-4D97-AF65-F5344CB8AC3E}">
        <p14:creationId xmlns:p14="http://schemas.microsoft.com/office/powerpoint/2010/main" val="772832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8715C8C-CB9D-48D6-861C-845368D2A7F6}"/>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Live Demo</a:t>
            </a:r>
          </a:p>
        </p:txBody>
      </p:sp>
      <p:sp>
        <p:nvSpPr>
          <p:cNvPr id="3" name="Text 1">
            <a:extLst xmlns:a="http://schemas.openxmlformats.org/drawingml/2006/main">
              <a:ext uri="{FF2B5EF4-FFF2-40B4-BE49-F238E27FC236}">
                <a16:creationId xmlns:a16="http://schemas.microsoft.com/office/drawing/2014/main" id="{4BD5F075-B11A-4967-B091-1E2D32F84C8C}"/>
              </a:ext>
            </a:extLst>
          </p:cNvPr>
          <p:cNvSpPr>
            <a:spLocks xmlns:a="http://schemas.openxmlformats.org/drawingml/2006/main" noGrp="1"/>
          </p:cNvSpPr>
          <p:nvPr/>
        </p:nvSpPr>
        <p:spPr>
          <a:xfrm xmlns:a="http://schemas.openxmlformats.org/drawingml/2006/main">
            <a:off x="548640" y="1572768"/>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Pick any station — the tool tailors the risks and the draft brief to that exact location. Four very different station types:</a:t>
            </a:r>
          </a:p>
        </p:txBody>
      </p:sp>
      <p:sp>
        <p:nvSpPr>
          <p:cNvPr id="4" name="Shape 2">
            <a:extLst xmlns:a="http://schemas.openxmlformats.org/drawingml/2006/main">
              <a:ext uri="{FF2B5EF4-FFF2-40B4-BE49-F238E27FC236}">
                <a16:creationId xmlns:a16="http://schemas.microsoft.com/office/drawing/2014/main" id="{CDB7B25E-C487-42E4-9A42-02311C7B287D}"/>
              </a:ext>
            </a:extLst>
          </p:cNvPr>
          <p:cNvSpPr>
            <a:spLocks xmlns:a="http://schemas.openxmlformats.org/drawingml/2006/main" noGrp="1"/>
          </p:cNvSpPr>
          <p:nvPr/>
        </p:nvSpPr>
        <p:spPr>
          <a:xfrm xmlns:a="http://schemas.openxmlformats.org/drawingml/2006/main">
            <a:off x="548640" y="2331720"/>
            <a:ext cx="5362956" cy="1143000"/>
          </a:xfrm>
          <a:prstGeom xmlns:a="http://schemas.openxmlformats.org/drawingml/2006/main" prst="roundRect">
            <a:avLst>
              <a:gd name="adj" fmla="val 64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5" name="Text 3">
            <a:extLst xmlns:a="http://schemas.openxmlformats.org/drawingml/2006/main">
              <a:ext uri="{FF2B5EF4-FFF2-40B4-BE49-F238E27FC236}">
                <a16:creationId xmlns:a16="http://schemas.microsoft.com/office/drawing/2014/main" id="{15451426-2E14-4869-A2CC-80D268449902}"/>
              </a:ext>
            </a:extLst>
          </p:cNvPr>
          <p:cNvSpPr>
            <a:spLocks xmlns:a="http://schemas.openxmlformats.org/drawingml/2006/main" noGrp="1"/>
          </p:cNvSpPr>
          <p:nvPr/>
        </p:nvSpPr>
        <p:spPr>
          <a:xfrm xmlns:a="http://schemas.openxmlformats.org/drawingml/2006/main">
            <a:off x="749808" y="2514600"/>
            <a:ext cx="49606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Gunnison, CO</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Mountain station — winter weather, chain laws, I-70 restrictions</a:t>
            </a:r>
          </a:p>
        </p:txBody>
      </p:sp>
      <p:sp>
        <p:nvSpPr>
          <p:cNvPr id="6" name="Shape 4">
            <a:extLst xmlns:a="http://schemas.openxmlformats.org/drawingml/2006/main">
              <a:ext uri="{FF2B5EF4-FFF2-40B4-BE49-F238E27FC236}">
                <a16:creationId xmlns:a16="http://schemas.microsoft.com/office/drawing/2014/main" id="{6E7F77A4-D677-4740-B580-21DB2CB53CCC}"/>
              </a:ext>
            </a:extLst>
          </p:cNvPr>
          <p:cNvSpPr>
            <a:spLocks xmlns:a="http://schemas.openxmlformats.org/drawingml/2006/main" noGrp="1"/>
          </p:cNvSpPr>
          <p:nvPr/>
        </p:nvSpPr>
        <p:spPr>
          <a:xfrm xmlns:a="http://schemas.openxmlformats.org/drawingml/2006/main">
            <a:off x="6277356" y="2331720"/>
            <a:ext cx="5362956" cy="1143000"/>
          </a:xfrm>
          <a:prstGeom xmlns:a="http://schemas.openxmlformats.org/drawingml/2006/main" prst="roundRect">
            <a:avLst>
              <a:gd name="adj" fmla="val 64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5">
            <a:extLst xmlns:a="http://schemas.openxmlformats.org/drawingml/2006/main">
              <a:ext uri="{FF2B5EF4-FFF2-40B4-BE49-F238E27FC236}">
                <a16:creationId xmlns:a16="http://schemas.microsoft.com/office/drawing/2014/main" id="{0F58848B-E68B-4B92-9329-38B897795C84}"/>
              </a:ext>
            </a:extLst>
          </p:cNvPr>
          <p:cNvSpPr>
            <a:spLocks xmlns:a="http://schemas.openxmlformats.org/drawingml/2006/main" noGrp="1"/>
          </p:cNvSpPr>
          <p:nvPr/>
        </p:nvSpPr>
        <p:spPr>
          <a:xfrm xmlns:a="http://schemas.openxmlformats.org/drawingml/2006/main">
            <a:off x="6478524" y="2514600"/>
            <a:ext cx="49606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Memphis, TN</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World Hub area — thunderstorms, construction, air cargo windows</a:t>
            </a:r>
          </a:p>
        </p:txBody>
      </p:sp>
      <p:sp>
        <p:nvSpPr>
          <p:cNvPr id="8" name="Shape 6">
            <a:extLst xmlns:a="http://schemas.openxmlformats.org/drawingml/2006/main">
              <a:ext uri="{FF2B5EF4-FFF2-40B4-BE49-F238E27FC236}">
                <a16:creationId xmlns:a16="http://schemas.microsoft.com/office/drawing/2014/main" id="{694437F6-563F-4A18-8625-317771EA58B0}"/>
              </a:ext>
            </a:extLst>
          </p:cNvPr>
          <p:cNvSpPr>
            <a:spLocks xmlns:a="http://schemas.openxmlformats.org/drawingml/2006/main" noGrp="1"/>
          </p:cNvSpPr>
          <p:nvPr/>
        </p:nvSpPr>
        <p:spPr>
          <a:xfrm xmlns:a="http://schemas.openxmlformats.org/drawingml/2006/main">
            <a:off x="548640" y="3794760"/>
            <a:ext cx="5362956" cy="1143000"/>
          </a:xfrm>
          <a:prstGeom xmlns:a="http://schemas.openxmlformats.org/drawingml/2006/main" prst="roundRect">
            <a:avLst>
              <a:gd name="adj" fmla="val 64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9" name="Text 7">
            <a:extLst xmlns:a="http://schemas.openxmlformats.org/drawingml/2006/main">
              <a:ext uri="{FF2B5EF4-FFF2-40B4-BE49-F238E27FC236}">
                <a16:creationId xmlns:a16="http://schemas.microsoft.com/office/drawing/2014/main" id="{DCD7B37F-B4D4-42AA-90B0-82B95020C5DE}"/>
              </a:ext>
            </a:extLst>
          </p:cNvPr>
          <p:cNvSpPr>
            <a:spLocks xmlns:a="http://schemas.openxmlformats.org/drawingml/2006/main" noGrp="1"/>
          </p:cNvSpPr>
          <p:nvPr/>
        </p:nvSpPr>
        <p:spPr>
          <a:xfrm xmlns:a="http://schemas.openxmlformats.org/drawingml/2006/main">
            <a:off x="749808" y="3977640"/>
            <a:ext cx="49606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Indianapolis, IN</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Secondary hub — highway accidents, wind advisories, yard safety</a:t>
            </a:r>
          </a:p>
        </p:txBody>
      </p:sp>
      <p:sp>
        <p:nvSpPr>
          <p:cNvPr id="10" name="Shape 8">
            <a:extLst xmlns:a="http://schemas.openxmlformats.org/drawingml/2006/main">
              <a:ext uri="{FF2B5EF4-FFF2-40B4-BE49-F238E27FC236}">
                <a16:creationId xmlns:a16="http://schemas.microsoft.com/office/drawing/2014/main" id="{29A528D6-345B-49A4-A0F4-C60A0C16224E}"/>
              </a:ext>
            </a:extLst>
          </p:cNvPr>
          <p:cNvSpPr>
            <a:spLocks xmlns:a="http://schemas.openxmlformats.org/drawingml/2006/main" noGrp="1"/>
          </p:cNvSpPr>
          <p:nvPr/>
        </p:nvSpPr>
        <p:spPr>
          <a:xfrm xmlns:a="http://schemas.openxmlformats.org/drawingml/2006/main">
            <a:off x="6277356" y="3794760"/>
            <a:ext cx="5362956" cy="1143000"/>
          </a:xfrm>
          <a:prstGeom xmlns:a="http://schemas.openxmlformats.org/drawingml/2006/main" prst="roundRect">
            <a:avLst>
              <a:gd name="adj" fmla="val 64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1" name="Text 9">
            <a:extLst xmlns:a="http://schemas.openxmlformats.org/drawingml/2006/main">
              <a:ext uri="{FF2B5EF4-FFF2-40B4-BE49-F238E27FC236}">
                <a16:creationId xmlns:a16="http://schemas.microsoft.com/office/drawing/2014/main" id="{C6B554C6-740F-4971-B6F9-E2C557FF3745}"/>
              </a:ext>
            </a:extLst>
          </p:cNvPr>
          <p:cNvSpPr>
            <a:spLocks xmlns:a="http://schemas.openxmlformats.org/drawingml/2006/main" noGrp="1"/>
          </p:cNvSpPr>
          <p:nvPr/>
        </p:nvSpPr>
        <p:spPr>
          <a:xfrm xmlns:a="http://schemas.openxmlformats.org/drawingml/2006/main">
            <a:off x="6478524" y="3977640"/>
            <a:ext cx="49606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50" b="1">
                <a:solidFill>
                  <a:srgbClr val="4D148C"/>
                </a:solidFill>
                <a:latin typeface="Calibri"/>
                <a:ea typeface="Calibri"/>
                <a:cs typeface="Calibri"/>
              </a:rPr>
              <a:t>Phoenix, AZ</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Desert station — excessive heat, dust storms, hydration protocols</a:t>
            </a:r>
          </a:p>
        </p:txBody>
      </p:sp>
      <p:sp>
        <p:nvSpPr>
          <p:cNvPr id="12" name="Shape 10">
            <a:extLst xmlns:a="http://schemas.openxmlformats.org/drawingml/2006/main">
              <a:ext uri="{FF2B5EF4-FFF2-40B4-BE49-F238E27FC236}">
                <a16:creationId xmlns:a16="http://schemas.microsoft.com/office/drawing/2014/main" id="{CDEDE595-4FF7-41CA-9F87-593D76EC0C07}"/>
              </a:ext>
            </a:extLst>
          </p:cNvPr>
          <p:cNvSpPr>
            <a:spLocks xmlns:a="http://schemas.openxmlformats.org/drawingml/2006/main" noGrp="1"/>
          </p:cNvSpPr>
          <p:nvPr/>
        </p:nvSpPr>
        <p:spPr>
          <a:xfrm xmlns:a="http://schemas.openxmlformats.org/drawingml/2006/main">
            <a:off x="548640" y="5440680"/>
            <a:ext cx="11091672" cy="457200"/>
          </a:xfrm>
          <a:prstGeom xmlns:a="http://schemas.openxmlformats.org/drawingml/2006/main" prst="roundRect">
            <a:avLst>
              <a:gd name="adj" fmla="val 10000"/>
            </a:avLst>
          </a:prstGeom>
          <a:solidFill xmlns:a="http://schemas.openxmlformats.org/drawingml/2006/main">
            <a:srgbClr val="F0F0F4"/>
          </a:solidFill>
          <a:ln xmlns:a="http://schemas.openxmlformats.org/drawingml/2006/main" w="12700">
            <a:solidFill>
              <a:srgbClr val="E2E8F0"/>
            </a:solidFill>
            <a:prstDash val="solid"/>
          </a:ln>
        </p:spPr>
      </p:sp>
      <p:sp>
        <p:nvSpPr>
          <p:cNvPr id="13" name="Shape 11">
            <a:extLst xmlns:a="http://schemas.openxmlformats.org/drawingml/2006/main">
              <a:ext uri="{FF2B5EF4-FFF2-40B4-BE49-F238E27FC236}">
                <a16:creationId xmlns:a16="http://schemas.microsoft.com/office/drawing/2014/main" id="{5D0CEC9E-BA4B-4DBA-B3C2-DFEB61077866}"/>
              </a:ext>
            </a:extLst>
          </p:cNvPr>
          <p:cNvSpPr>
            <a:spLocks xmlns:a="http://schemas.openxmlformats.org/drawingml/2006/main" noGrp="1"/>
          </p:cNvSpPr>
          <p:nvPr/>
        </p:nvSpPr>
        <p:spPr>
          <a:xfrm xmlns:a="http://schemas.openxmlformats.org/drawingml/2006/main">
            <a:off x="548640" y="5440680"/>
            <a:ext cx="64008" cy="457200"/>
          </a:xfrm>
          <a:prstGeom xmlns:a="http://schemas.openxmlformats.org/drawingml/2006/main" prst="rect">
            <a:avLst/>
          </a:prstGeom>
          <a:solidFill xmlns:a="http://schemas.openxmlformats.org/drawingml/2006/main">
            <a:srgbClr val="FF6600"/>
          </a:solidFill>
        </p:spPr>
      </p:sp>
      <p:sp>
        <p:nvSpPr>
          <p:cNvPr id="14" name="Text 12">
            <a:extLst xmlns:a="http://schemas.openxmlformats.org/drawingml/2006/main">
              <a:ext uri="{FF2B5EF4-FFF2-40B4-BE49-F238E27FC236}">
                <a16:creationId xmlns:a16="http://schemas.microsoft.com/office/drawing/2014/main" id="{BF632346-9E7E-4DC9-8987-E2E2151F590D}"/>
              </a:ext>
            </a:extLst>
          </p:cNvPr>
          <p:cNvSpPr>
            <a:spLocks xmlns:a="http://schemas.openxmlformats.org/drawingml/2006/main" noGrp="1"/>
          </p:cNvSpPr>
          <p:nvPr/>
        </p:nvSpPr>
        <p:spPr>
          <a:xfrm xmlns:a="http://schemas.openxmlformats.org/drawingml/2006/main">
            <a:off x="777240" y="5440680"/>
            <a:ext cx="1072591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50">
                <a:solidFill>
                  <a:srgbClr val="3A0F69"/>
                </a:solidFill>
                <a:latin typeface="Consolas"/>
                <a:ea typeface="Consolas"/>
                <a:cs typeface="Consolas"/>
              </a:rPr>
              <a:t>https://fedex-logistics-intelligence-system-267358751314.us-east1.run.app</a:t>
            </a:r>
          </a:p>
        </p:txBody>
      </p:sp>
    </p:spTree>
    <p:extLst>
      <p:ext uri="{BB962C8B-B14F-4D97-AF65-F5344CB8AC3E}">
        <p14:creationId xmlns:p14="http://schemas.microsoft.com/office/powerpoint/2010/main" val="5230938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2FEBE75-8DBF-403C-B423-0B6F0E0085FB}"/>
              </a:ext>
            </a:extLst>
          </p:cNvPr>
          <p:cNvSpPr>
            <a:spLocks xmlns:a="http://schemas.openxmlformats.org/drawingml/2006/main" noGrp="1"/>
          </p:cNvSpPr>
          <p:nvPr/>
        </p:nvSpPr>
        <p:spPr>
          <a:xfrm xmlns:a="http://schemas.openxmlformats.org/drawingml/2006/main">
            <a:off x="548640" y="457200"/>
            <a:ext cx="2472538" cy="292608"/>
          </a:xfrm>
          <a:prstGeom xmlns:a="http://schemas.openxmlformats.org/drawingml/2006/main" prst="roundRect">
            <a:avLst>
              <a:gd name="adj" fmla="val 50000"/>
            </a:avLst>
          </a:prstGeom>
          <a:solidFill xmlns:a="http://schemas.openxmlformats.org/drawingml/2006/main">
            <a:srgbClr val="FF6600"/>
          </a:solidFill>
        </p:spPr>
      </p:sp>
      <p:sp>
        <p:nvSpPr>
          <p:cNvPr id="3" name="Text 1">
            <a:extLst xmlns:a="http://schemas.openxmlformats.org/drawingml/2006/main">
              <a:ext uri="{FF2B5EF4-FFF2-40B4-BE49-F238E27FC236}">
                <a16:creationId xmlns:a16="http://schemas.microsoft.com/office/drawing/2014/main" id="{0191DAF7-B507-4F39-94E9-F3AF3F66809F}"/>
              </a:ext>
            </a:extLst>
          </p:cNvPr>
          <p:cNvSpPr>
            <a:spLocks xmlns:a="http://schemas.openxmlformats.org/drawingml/2006/main" noGrp="1"/>
          </p:cNvSpPr>
          <p:nvPr/>
        </p:nvSpPr>
        <p:spPr>
          <a:xfrm xmlns:a="http://schemas.openxmlformats.org/drawingml/2006/main">
            <a:off x="548640" y="457200"/>
            <a:ext cx="247253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Trebuchet MS"/>
                <a:ea typeface="Trebuchet MS"/>
                <a:cs typeface="Trebuchet MS"/>
              </a:rPr>
              <a:t>BUILT · RUNS ON YOUR LAPTOP</a:t>
            </a:r>
          </a:p>
        </p:txBody>
      </p:sp>
      <p:sp>
        <p:nvSpPr>
          <p:cNvPr id="4" name="Text 2">
            <a:extLst xmlns:a="http://schemas.openxmlformats.org/drawingml/2006/main">
              <a:ext uri="{FF2B5EF4-FFF2-40B4-BE49-F238E27FC236}">
                <a16:creationId xmlns:a16="http://schemas.microsoft.com/office/drawing/2014/main" id="{689EC793-5A6B-4A06-B65E-48BE814DB186}"/>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The Efficiency Toolkit: Two Review Tools</a:t>
            </a:r>
          </a:p>
        </p:txBody>
      </p:sp>
      <p:sp>
        <p:nvSpPr>
          <p:cNvPr id="5" name="Text 3">
            <a:extLst xmlns:a="http://schemas.openxmlformats.org/drawingml/2006/main">
              <a:ext uri="{FF2B5EF4-FFF2-40B4-BE49-F238E27FC236}">
                <a16:creationId xmlns:a16="http://schemas.microsoft.com/office/drawing/2014/main" id="{52423774-E899-40E2-A6D3-9A48E96979B2}"/>
              </a:ext>
            </a:extLst>
          </p:cNvPr>
          <p:cNvSpPr>
            <a:spLocks xmlns:a="http://schemas.openxmlformats.org/drawingml/2006/main" noGrp="1"/>
          </p:cNvSpPr>
          <p:nvPr/>
        </p:nvSpPr>
        <p:spPr>
          <a:xfrm xmlns:a="http://schemas.openxmlformats.org/drawingml/2006/main">
            <a:off x="548640" y="1627632"/>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After the week closes, two simple tools answer the two questions every efficiency review asks. Both open in a browser with no install and no internet — your real numbers never leave your machine.</a:t>
            </a:r>
          </a:p>
        </p:txBody>
      </p:sp>
      <p:sp>
        <p:nvSpPr>
          <p:cNvPr id="6" name="Shape 4">
            <a:extLst xmlns:a="http://schemas.openxmlformats.org/drawingml/2006/main">
              <a:ext uri="{FF2B5EF4-FFF2-40B4-BE49-F238E27FC236}">
                <a16:creationId xmlns:a16="http://schemas.microsoft.com/office/drawing/2014/main" id="{5648F8B5-A4B2-4197-840A-0B3114F47BE2}"/>
              </a:ext>
            </a:extLst>
          </p:cNvPr>
          <p:cNvSpPr>
            <a:spLocks xmlns:a="http://schemas.openxmlformats.org/drawingml/2006/main" noGrp="1"/>
          </p:cNvSpPr>
          <p:nvPr/>
        </p:nvSpPr>
        <p:spPr>
          <a:xfrm xmlns:a="http://schemas.openxmlformats.org/drawingml/2006/main">
            <a:off x="548640" y="2697480"/>
            <a:ext cx="5362956" cy="1828800"/>
          </a:xfrm>
          <a:prstGeom xmlns:a="http://schemas.openxmlformats.org/drawingml/2006/main" prst="roundRect">
            <a:avLst>
              <a:gd name="adj" fmla="val 40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5">
            <a:extLst xmlns:a="http://schemas.openxmlformats.org/drawingml/2006/main">
              <a:ext uri="{FF2B5EF4-FFF2-40B4-BE49-F238E27FC236}">
                <a16:creationId xmlns:a16="http://schemas.microsoft.com/office/drawing/2014/main" id="{C2EC8D8E-E416-4B36-AC8E-23699A90203F}"/>
              </a:ext>
            </a:extLst>
          </p:cNvPr>
          <p:cNvSpPr>
            <a:spLocks xmlns:a="http://schemas.openxmlformats.org/drawingml/2006/main" noGrp="1"/>
          </p:cNvSpPr>
          <p:nvPr/>
        </p:nvSpPr>
        <p:spPr>
          <a:xfrm xmlns:a="http://schemas.openxmlformats.org/drawingml/2006/main">
            <a:off x="749808" y="2880360"/>
            <a:ext cx="49606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00" b="1">
                <a:solidFill>
                  <a:srgbClr val="4D148C"/>
                </a:solidFill>
                <a:latin typeface="Calibri"/>
                <a:ea typeface="Calibri"/>
                <a:cs typeface="Calibri"/>
              </a:rPr>
              <a:t>Dock Efficiency Signal Lab — “Is the change real?”</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Looks at your weekly dock numbers and flags which moves are a genuine trend versus normal week-to-week noise — so you chase what matters. Ranks best and worst facilities and shows the gap-to-goal in dollars.</a:t>
            </a:r>
          </a:p>
        </p:txBody>
      </p:sp>
      <p:sp>
        <p:nvSpPr>
          <p:cNvPr id="8" name="Shape 6">
            <a:extLst xmlns:a="http://schemas.openxmlformats.org/drawingml/2006/main">
              <a:ext uri="{FF2B5EF4-FFF2-40B4-BE49-F238E27FC236}">
                <a16:creationId xmlns:a16="http://schemas.microsoft.com/office/drawing/2014/main" id="{81E38CA2-5B0D-4B6C-BB99-AC17701DCBB4}"/>
              </a:ext>
            </a:extLst>
          </p:cNvPr>
          <p:cNvSpPr>
            <a:spLocks xmlns:a="http://schemas.openxmlformats.org/drawingml/2006/main" noGrp="1"/>
          </p:cNvSpPr>
          <p:nvPr/>
        </p:nvSpPr>
        <p:spPr>
          <a:xfrm xmlns:a="http://schemas.openxmlformats.org/drawingml/2006/main">
            <a:off x="6277356" y="2697480"/>
            <a:ext cx="5362956" cy="1828800"/>
          </a:xfrm>
          <a:prstGeom xmlns:a="http://schemas.openxmlformats.org/drawingml/2006/main" prst="roundRect">
            <a:avLst>
              <a:gd name="adj" fmla="val 40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9" name="Text 7">
            <a:extLst xmlns:a="http://schemas.openxmlformats.org/drawingml/2006/main">
              <a:ext uri="{FF2B5EF4-FFF2-40B4-BE49-F238E27FC236}">
                <a16:creationId xmlns:a16="http://schemas.microsoft.com/office/drawing/2014/main" id="{5FBF21E7-027E-4052-9231-D612D82CA108}"/>
              </a:ext>
            </a:extLst>
          </p:cNvPr>
          <p:cNvSpPr>
            <a:spLocks xmlns:a="http://schemas.openxmlformats.org/drawingml/2006/main" noGrp="1"/>
          </p:cNvSpPr>
          <p:nvPr/>
        </p:nvSpPr>
        <p:spPr>
          <a:xfrm xmlns:a="http://schemas.openxmlformats.org/drawingml/2006/main">
            <a:off x="6478524" y="2880360"/>
            <a:ext cx="49606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00" b="1">
                <a:solidFill>
                  <a:srgbClr val="4D148C"/>
                </a:solidFill>
                <a:latin typeface="Calibri"/>
                <a:ea typeface="Calibri"/>
                <a:cs typeface="Calibri"/>
              </a:rPr>
              <a:t>TLH / SPH Explorer — “Which lever moved it?”</a:t>
            </a:r>
          </a:p>
          <a:p xmlns:a="http://schemas.openxmlformats.org/drawingml/2006/main">
            <a:pPr marL="0" indent="0" algn="l">
              <a:lnSpc>
                <a:spcPct val="105000"/>
              </a:lnSpc>
              <a:spcAft>
                <a:spcPts val="600"/>
              </a:spcAft>
              <a:buNone/>
            </a:pPr>
            <a:r>
              <a:rPr sz="1250">
                <a:solidFill>
                  <a:srgbClr val="6B7280"/>
                </a:solidFill>
                <a:latin typeface="Calibri"/>
                <a:ea typeface="Calibri"/>
                <a:cs typeface="Calibri"/>
              </a:rPr>
              <a:t>For any week-over-week efficiency change, it separates how much came from doing more per hour (SPH) versus simply cutting hours (TLH) — so a staffing cut is never mistaken for a real productivity gain.</a:t>
            </a:r>
          </a:p>
        </p:txBody>
      </p:sp>
      <p:sp>
        <p:nvSpPr>
          <p:cNvPr id="10" name="Shape 8">
            <a:extLst xmlns:a="http://schemas.openxmlformats.org/drawingml/2006/main">
              <a:ext uri="{FF2B5EF4-FFF2-40B4-BE49-F238E27FC236}">
                <a16:creationId xmlns:a16="http://schemas.microsoft.com/office/drawing/2014/main" id="{B4F295F7-2BC6-4A3F-B11E-B6D1532EBF4E}"/>
              </a:ext>
            </a:extLst>
          </p:cNvPr>
          <p:cNvSpPr>
            <a:spLocks xmlns:a="http://schemas.openxmlformats.org/drawingml/2006/main" noGrp="1"/>
          </p:cNvSpPr>
          <p:nvPr/>
        </p:nvSpPr>
        <p:spPr>
          <a:xfrm xmlns:a="http://schemas.openxmlformats.org/drawingml/2006/main">
            <a:off x="548640" y="4800600"/>
            <a:ext cx="11091672" cy="841248"/>
          </a:xfrm>
          <a:prstGeom xmlns:a="http://schemas.openxmlformats.org/drawingml/2006/main" prst="roundRect">
            <a:avLst>
              <a:gd name="adj" fmla="val 6522"/>
            </a:avLst>
          </a:prstGeom>
          <a:solidFill xmlns:a="http://schemas.openxmlformats.org/drawingml/2006/main">
            <a:srgbClr val="F4ECFC"/>
          </a:solidFill>
          <a:ln xmlns:a="http://schemas.openxmlformats.org/drawingml/2006/main" w="12700">
            <a:solidFill>
              <a:srgbClr val="E7D9FB"/>
            </a:solidFill>
            <a:prstDash val="solid"/>
          </a:ln>
        </p:spPr>
      </p:sp>
      <p:sp>
        <p:nvSpPr>
          <p:cNvPr id="11" name="Shape 9">
            <a:extLst xmlns:a="http://schemas.openxmlformats.org/drawingml/2006/main">
              <a:ext uri="{FF2B5EF4-FFF2-40B4-BE49-F238E27FC236}">
                <a16:creationId xmlns:a16="http://schemas.microsoft.com/office/drawing/2014/main" id="{8FB2E5D1-828A-474A-B371-47038C7991F9}"/>
              </a:ext>
            </a:extLst>
          </p:cNvPr>
          <p:cNvSpPr>
            <a:spLocks xmlns:a="http://schemas.openxmlformats.org/drawingml/2006/main" noGrp="1"/>
          </p:cNvSpPr>
          <p:nvPr/>
        </p:nvSpPr>
        <p:spPr>
          <a:xfrm xmlns:a="http://schemas.openxmlformats.org/drawingml/2006/main">
            <a:off x="548640" y="4800600"/>
            <a:ext cx="73152" cy="841248"/>
          </a:xfrm>
          <a:prstGeom xmlns:a="http://schemas.openxmlformats.org/drawingml/2006/main" prst="rect">
            <a:avLst/>
          </a:prstGeom>
          <a:solidFill xmlns:a="http://schemas.openxmlformats.org/drawingml/2006/main">
            <a:srgbClr val="4D148C"/>
          </a:solidFill>
        </p:spPr>
      </p:sp>
      <p:sp>
        <p:nvSpPr>
          <p:cNvPr id="12" name="Text 10">
            <a:extLst xmlns:a="http://schemas.openxmlformats.org/drawingml/2006/main">
              <a:ext uri="{FF2B5EF4-FFF2-40B4-BE49-F238E27FC236}">
                <a16:creationId xmlns:a16="http://schemas.microsoft.com/office/drawing/2014/main" id="{A678E880-E6DF-48C7-B9A2-3A2068A0FAAF}"/>
              </a:ext>
            </a:extLst>
          </p:cNvPr>
          <p:cNvSpPr>
            <a:spLocks xmlns:a="http://schemas.openxmlformats.org/drawingml/2006/main" noGrp="1"/>
          </p:cNvSpPr>
          <p:nvPr/>
        </p:nvSpPr>
        <p:spPr>
          <a:xfrm xmlns:a="http://schemas.openxmlformats.org/drawingml/2006/main">
            <a:off x="822960" y="4800600"/>
            <a:ext cx="10588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5000"/>
              </a:lnSpc>
              <a:buNone/>
            </a:pPr>
            <a:r>
              <a:rPr sz="1300" b="1">
                <a:solidFill>
                  <a:srgbClr val="4D148C"/>
                </a:solidFill>
                <a:latin typeface="Calibri"/>
                <a:ea typeface="Calibri"/>
                <a:cs typeface="Calibri"/>
              </a:rPr>
              <a:t>Built for your view:  </a:t>
            </a:r>
            <a:r>
              <a:rPr sz="1300">
                <a:solidFill>
                  <a:srgbClr val="1A1D23"/>
                </a:solidFill>
                <a:latin typeface="Calibri"/>
                <a:ea typeface="Calibri"/>
                <a:cs typeface="Calibri"/>
              </a:rPr>
              <a:t>filter by region or district (set up around the six Western focus districts) so you see your facilities, not the whole network. Demo data today; load a real weekly CSV locally during a pilot.</a:t>
            </a:r>
          </a:p>
        </p:txBody>
      </p:sp>
    </p:spTree>
    <p:extLst>
      <p:ext uri="{BB962C8B-B14F-4D97-AF65-F5344CB8AC3E}">
        <p14:creationId xmlns:p14="http://schemas.microsoft.com/office/powerpoint/2010/main" val="10926453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5EAFAD-38A5-4C73-BBA3-2CC3D159ADF9}"/>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Safety &amp; Governance Built In</a:t>
            </a:r>
          </a:p>
        </p:txBody>
      </p:sp>
      <p:sp>
        <p:nvSpPr>
          <p:cNvPr id="3" name="Text 1">
            <a:extLst xmlns:a="http://schemas.openxmlformats.org/drawingml/2006/main">
              <a:ext uri="{FF2B5EF4-FFF2-40B4-BE49-F238E27FC236}">
                <a16:creationId xmlns:a16="http://schemas.microsoft.com/office/drawing/2014/main" id="{C9F16728-2889-4230-B061-64B6EF15A1F4}"/>
              </a:ext>
            </a:extLst>
          </p:cNvPr>
          <p:cNvSpPr>
            <a:spLocks xmlns:a="http://schemas.openxmlformats.org/drawingml/2006/main" noGrp="1"/>
          </p:cNvSpPr>
          <p:nvPr/>
        </p:nvSpPr>
        <p:spPr>
          <a:xfrm xmlns:a="http://schemas.openxmlformats.org/drawingml/2006/main">
            <a:off x="548640" y="1828800"/>
            <a:ext cx="536295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1A1D23"/>
                </a:solidFill>
                <a:latin typeface="Trebuchet MS"/>
                <a:ea typeface="Trebuchet MS"/>
                <a:cs typeface="Trebuchet MS"/>
              </a:rPr>
              <a:t>Data boundaries</a:t>
            </a:r>
          </a:p>
        </p:txBody>
      </p:sp>
      <p:sp>
        <p:nvSpPr>
          <p:cNvPr id="4" name="Text 2">
            <a:extLst xmlns:a="http://schemas.openxmlformats.org/drawingml/2006/main">
              <a:ext uri="{FF2B5EF4-FFF2-40B4-BE49-F238E27FC236}">
                <a16:creationId xmlns:a16="http://schemas.microsoft.com/office/drawing/2014/main" id="{A36E5F26-3A0D-42AC-8D99-0BCB7DC85DC6}"/>
              </a:ext>
            </a:extLst>
          </p:cNvPr>
          <p:cNvSpPr>
            <a:spLocks xmlns:a="http://schemas.openxmlformats.org/drawingml/2006/main" noGrp="1"/>
          </p:cNvSpPr>
          <p:nvPr/>
        </p:nvSpPr>
        <p:spPr>
          <a:xfrm xmlns:a="http://schemas.openxmlformats.org/drawingml/2006/main">
            <a:off x="548640" y="2331720"/>
            <a:ext cx="5362956"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03200" indent="-203200" algn="l">
              <a:spcAft>
                <a:spcPts val="800"/>
              </a:spcAft>
              <a:buChar char="•"/>
            </a:pPr>
            <a:r>
              <a:rPr sz="1400">
                <a:solidFill>
                  <a:srgbClr val="1A1D23"/>
                </a:solidFill>
                <a:latin typeface="Calibri"/>
                <a:ea typeface="Calibri"/>
                <a:cs typeface="Calibri"/>
              </a:rPr>
              <a:t>Public or synthetic data only</a:t>
            </a:r>
          </a:p>
          <a:p xmlns:a="http://schemas.openxmlformats.org/drawingml/2006/main">
            <a:pPr marL="203200" indent="-203200" algn="l">
              <a:spcAft>
                <a:spcPts val="800"/>
              </a:spcAft>
              <a:buChar char="•"/>
            </a:pPr>
            <a:r>
              <a:rPr sz="1400">
                <a:solidFill>
                  <a:srgbClr val="1A1D23"/>
                </a:solidFill>
                <a:latin typeface="Calibri"/>
                <a:ea typeface="Calibri"/>
                <a:cs typeface="Calibri"/>
              </a:rPr>
              <a:t>Every signal has a source label</a:t>
            </a:r>
          </a:p>
          <a:p xmlns:a="http://schemas.openxmlformats.org/drawingml/2006/main">
            <a:pPr marL="203200" indent="-203200" algn="l">
              <a:spcAft>
                <a:spcPts val="800"/>
              </a:spcAft>
              <a:buChar char="•"/>
            </a:pPr>
            <a:r>
              <a:rPr sz="1400">
                <a:solidFill>
                  <a:srgbClr val="1A1D23"/>
                </a:solidFill>
                <a:latin typeface="Calibri"/>
                <a:ea typeface="Calibri"/>
                <a:cs typeface="Calibri"/>
              </a:rPr>
              <a:t>Synthetic values marked “demo”</a:t>
            </a:r>
          </a:p>
          <a:p xmlns:a="http://schemas.openxmlformats.org/drawingml/2006/main">
            <a:pPr marL="203200" indent="-203200" algn="l">
              <a:spcAft>
                <a:spcPts val="800"/>
              </a:spcAft>
              <a:buChar char="•"/>
            </a:pPr>
            <a:r>
              <a:rPr sz="1400">
                <a:solidFill>
                  <a:srgbClr val="1A1D23"/>
                </a:solidFill>
                <a:latin typeface="Calibri"/>
                <a:ea typeface="Calibri"/>
                <a:cs typeface="Calibri"/>
              </a:rPr>
              <a:t>No internal FedEx systems touched</a:t>
            </a:r>
          </a:p>
        </p:txBody>
      </p:sp>
      <p:sp>
        <p:nvSpPr>
          <p:cNvPr id="5" name="Text 3">
            <a:extLst xmlns:a="http://schemas.openxmlformats.org/drawingml/2006/main">
              <a:ext uri="{FF2B5EF4-FFF2-40B4-BE49-F238E27FC236}">
                <a16:creationId xmlns:a16="http://schemas.microsoft.com/office/drawing/2014/main" id="{DCBF0264-BF2C-405E-95D0-790C81F74B31}"/>
              </a:ext>
            </a:extLst>
          </p:cNvPr>
          <p:cNvSpPr>
            <a:spLocks xmlns:a="http://schemas.openxmlformats.org/drawingml/2006/main" noGrp="1"/>
          </p:cNvSpPr>
          <p:nvPr/>
        </p:nvSpPr>
        <p:spPr>
          <a:xfrm xmlns:a="http://schemas.openxmlformats.org/drawingml/2006/main">
            <a:off x="6277356" y="1828800"/>
            <a:ext cx="536295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700" b="1">
                <a:solidFill>
                  <a:srgbClr val="1A1D23"/>
                </a:solidFill>
                <a:latin typeface="Trebuchet MS"/>
                <a:ea typeface="Trebuchet MS"/>
                <a:cs typeface="Trebuchet MS"/>
              </a:rPr>
              <a:t>Human review</a:t>
            </a:r>
          </a:p>
        </p:txBody>
      </p:sp>
      <p:sp>
        <p:nvSpPr>
          <p:cNvPr id="6" name="Text 4">
            <a:extLst xmlns:a="http://schemas.openxmlformats.org/drawingml/2006/main">
              <a:ext uri="{FF2B5EF4-FFF2-40B4-BE49-F238E27FC236}">
                <a16:creationId xmlns:a16="http://schemas.microsoft.com/office/drawing/2014/main" id="{23FBEC4F-A95E-40DF-8DC1-51741EB0AA4B}"/>
              </a:ext>
            </a:extLst>
          </p:cNvPr>
          <p:cNvSpPr>
            <a:spLocks xmlns:a="http://schemas.openxmlformats.org/drawingml/2006/main" noGrp="1"/>
          </p:cNvSpPr>
          <p:nvPr/>
        </p:nvSpPr>
        <p:spPr>
          <a:xfrm xmlns:a="http://schemas.openxmlformats.org/drawingml/2006/main">
            <a:off x="6277356" y="2331720"/>
            <a:ext cx="5362956"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03200" indent="-203200" algn="l">
              <a:spcAft>
                <a:spcPts val="800"/>
              </a:spcAft>
              <a:buChar char="•"/>
            </a:pPr>
            <a:r>
              <a:rPr sz="1400">
                <a:solidFill>
                  <a:srgbClr val="1A1D23"/>
                </a:solidFill>
                <a:latin typeface="Calibri"/>
                <a:ea typeface="Calibri"/>
                <a:cs typeface="Calibri"/>
              </a:rPr>
              <a:t>Every AI draft says “Needs manager verification”</a:t>
            </a:r>
          </a:p>
          <a:p xmlns:a="http://schemas.openxmlformats.org/drawingml/2006/main">
            <a:pPr marL="203200" indent="-203200" algn="l">
              <a:spcAft>
                <a:spcPts val="800"/>
              </a:spcAft>
              <a:buChar char="•"/>
            </a:pPr>
            <a:r>
              <a:rPr sz="1400">
                <a:solidFill>
                  <a:srgbClr val="1A1D23"/>
                </a:solidFill>
                <a:latin typeface="Calibri"/>
                <a:ea typeface="Calibri"/>
                <a:cs typeface="Calibri"/>
              </a:rPr>
              <a:t>No live-action buttons</a:t>
            </a:r>
          </a:p>
          <a:p xmlns:a="http://schemas.openxmlformats.org/drawingml/2006/main">
            <a:pPr marL="203200" indent="-203200" algn="l">
              <a:spcAft>
                <a:spcPts val="800"/>
              </a:spcAft>
              <a:buChar char="•"/>
            </a:pPr>
            <a:r>
              <a:rPr sz="1400">
                <a:solidFill>
                  <a:srgbClr val="1A1D23"/>
                </a:solidFill>
                <a:latin typeface="Calibri"/>
                <a:ea typeface="Calibri"/>
                <a:cs typeface="Calibri"/>
              </a:rPr>
              <a:t>No automatic external sends</a:t>
            </a:r>
          </a:p>
          <a:p xmlns:a="http://schemas.openxmlformats.org/drawingml/2006/main">
            <a:pPr marL="203200" indent="-203200" algn="l">
              <a:spcAft>
                <a:spcPts val="800"/>
              </a:spcAft>
              <a:buChar char="•"/>
            </a:pPr>
            <a:r>
              <a:rPr sz="1400">
                <a:solidFill>
                  <a:srgbClr val="1A1D23"/>
                </a:solidFill>
                <a:latin typeface="Calibri"/>
                <a:ea typeface="Calibri"/>
                <a:cs typeface="Calibri"/>
              </a:rPr>
              <a:t>Prototype banner on every screen</a:t>
            </a:r>
          </a:p>
        </p:txBody>
      </p:sp>
      <p:sp>
        <p:nvSpPr>
          <p:cNvPr id="7" name="Shape 5">
            <a:extLst xmlns:a="http://schemas.openxmlformats.org/drawingml/2006/main">
              <a:ext uri="{FF2B5EF4-FFF2-40B4-BE49-F238E27FC236}">
                <a16:creationId xmlns:a16="http://schemas.microsoft.com/office/drawing/2014/main" id="{20743694-B4A7-48F6-931D-1E54AB243CA9}"/>
              </a:ext>
            </a:extLst>
          </p:cNvPr>
          <p:cNvSpPr>
            <a:spLocks xmlns:a="http://schemas.openxmlformats.org/drawingml/2006/main" noGrp="1"/>
          </p:cNvSpPr>
          <p:nvPr/>
        </p:nvSpPr>
        <p:spPr>
          <a:xfrm xmlns:a="http://schemas.openxmlformats.org/drawingml/2006/main">
            <a:off x="548640" y="4800600"/>
            <a:ext cx="11091672" cy="1097280"/>
          </a:xfrm>
          <a:prstGeom xmlns:a="http://schemas.openxmlformats.org/drawingml/2006/main" prst="roundRect">
            <a:avLst>
              <a:gd name="adj" fmla="val 5000"/>
            </a:avLst>
          </a:prstGeom>
          <a:solidFill xmlns:a="http://schemas.openxmlformats.org/drawingml/2006/main">
            <a:srgbClr val="F4ECFC"/>
          </a:solidFill>
          <a:ln xmlns:a="http://schemas.openxmlformats.org/drawingml/2006/main" w="12700">
            <a:solidFill>
              <a:srgbClr val="E7D9FB"/>
            </a:solidFill>
            <a:prstDash val="solid"/>
          </a:ln>
        </p:spPr>
      </p:sp>
      <p:sp>
        <p:nvSpPr>
          <p:cNvPr id="8" name="Shape 6">
            <a:extLst xmlns:a="http://schemas.openxmlformats.org/drawingml/2006/main">
              <a:ext uri="{FF2B5EF4-FFF2-40B4-BE49-F238E27FC236}">
                <a16:creationId xmlns:a16="http://schemas.microsoft.com/office/drawing/2014/main" id="{F8DDD264-2B48-4BBB-A908-E6DC9CFCA422}"/>
              </a:ext>
            </a:extLst>
          </p:cNvPr>
          <p:cNvSpPr>
            <a:spLocks xmlns:a="http://schemas.openxmlformats.org/drawingml/2006/main" noGrp="1"/>
          </p:cNvSpPr>
          <p:nvPr/>
        </p:nvSpPr>
        <p:spPr>
          <a:xfrm xmlns:a="http://schemas.openxmlformats.org/drawingml/2006/main">
            <a:off x="548640" y="4800600"/>
            <a:ext cx="73152" cy="1097280"/>
          </a:xfrm>
          <a:prstGeom xmlns:a="http://schemas.openxmlformats.org/drawingml/2006/main" prst="rect">
            <a:avLst/>
          </a:prstGeom>
          <a:solidFill xmlns:a="http://schemas.openxmlformats.org/drawingml/2006/main">
            <a:srgbClr val="FF6600"/>
          </a:solidFill>
        </p:spPr>
      </p:sp>
      <p:sp>
        <p:nvSpPr>
          <p:cNvPr id="9" name="Text 7">
            <a:extLst xmlns:a="http://schemas.openxmlformats.org/drawingml/2006/main">
              <a:ext uri="{FF2B5EF4-FFF2-40B4-BE49-F238E27FC236}">
                <a16:creationId xmlns:a16="http://schemas.microsoft.com/office/drawing/2014/main" id="{2AB6C4F1-D810-4C32-B89A-E128A84D0243}"/>
              </a:ext>
            </a:extLst>
          </p:cNvPr>
          <p:cNvSpPr>
            <a:spLocks xmlns:a="http://schemas.openxmlformats.org/drawingml/2006/main" noGrp="1"/>
          </p:cNvSpPr>
          <p:nvPr/>
        </p:nvSpPr>
        <p:spPr>
          <a:xfrm xmlns:a="http://schemas.openxmlformats.org/drawingml/2006/main">
            <a:off x="822960" y="4800600"/>
            <a:ext cx="10543032"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05000"/>
              </a:lnSpc>
              <a:buNone/>
            </a:pPr>
            <a:r>
              <a:rPr sz="1350" i="1">
                <a:solidFill>
                  <a:srgbClr val="1A1D23"/>
                </a:solidFill>
                <a:latin typeface="Calibri"/>
                <a:ea typeface="Calibri"/>
                <a:cs typeface="Calibri"/>
              </a:rPr>
              <a:t>This is a public-data decision-support prototype. It helps managers notice and explain regional risk faster, but it does not make operational decisions and it does not use FedEx internal data.</a:t>
            </a:r>
          </a:p>
        </p:txBody>
      </p:sp>
    </p:spTree>
    <p:extLst>
      <p:ext uri="{BB962C8B-B14F-4D97-AF65-F5344CB8AC3E}">
        <p14:creationId xmlns:p14="http://schemas.microsoft.com/office/powerpoint/2010/main" val="8249730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E091AE7-12CD-4781-985D-6E2368C60313}"/>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From Prototype to Pilot</a:t>
            </a:r>
          </a:p>
        </p:txBody>
      </p:sp>
      <p:sp>
        <p:nvSpPr>
          <p:cNvPr id="3" name="Text 1">
            <a:extLst xmlns:a="http://schemas.openxmlformats.org/drawingml/2006/main">
              <a:ext uri="{FF2B5EF4-FFF2-40B4-BE49-F238E27FC236}">
                <a16:creationId xmlns:a16="http://schemas.microsoft.com/office/drawing/2014/main" id="{E0A45CC9-34D7-4BCA-A67F-17D9037EB69A}"/>
              </a:ext>
            </a:extLst>
          </p:cNvPr>
          <p:cNvSpPr>
            <a:spLocks xmlns:a="http://schemas.openxmlformats.org/drawingml/2006/main" noGrp="1"/>
          </p:cNvSpPr>
          <p:nvPr/>
        </p:nvSpPr>
        <p:spPr>
          <a:xfrm xmlns:a="http://schemas.openxmlformats.org/drawingml/2006/main">
            <a:off x="548640" y="1600200"/>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We are not asking for production approval today. We are asking to run small, measurable pilots that you control.</a:t>
            </a:r>
          </a:p>
        </p:txBody>
      </p:sp>
      <p:sp>
        <p:nvSpPr>
          <p:cNvPr id="4" name="Shape 2">
            <a:extLst xmlns:a="http://schemas.openxmlformats.org/drawingml/2006/main">
              <a:ext uri="{FF2B5EF4-FFF2-40B4-BE49-F238E27FC236}">
                <a16:creationId xmlns:a16="http://schemas.microsoft.com/office/drawing/2014/main" id="{F5092BA7-BC89-44F9-89DE-00D053CED661}"/>
              </a:ext>
            </a:extLst>
          </p:cNvPr>
          <p:cNvSpPr>
            <a:spLocks xmlns:a="http://schemas.openxmlformats.org/drawingml/2006/main" noGrp="1"/>
          </p:cNvSpPr>
          <p:nvPr/>
        </p:nvSpPr>
        <p:spPr>
          <a:xfrm xmlns:a="http://schemas.openxmlformats.org/drawingml/2006/main">
            <a:off x="548640" y="2468880"/>
            <a:ext cx="3483864" cy="2286000"/>
          </a:xfrm>
          <a:prstGeom xmlns:a="http://schemas.openxmlformats.org/drawingml/2006/main" prst="roundRect">
            <a:avLst>
              <a:gd name="adj" fmla="val 32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5" name="Shape 3">
            <a:extLst xmlns:a="http://schemas.openxmlformats.org/drawingml/2006/main">
              <a:ext uri="{FF2B5EF4-FFF2-40B4-BE49-F238E27FC236}">
                <a16:creationId xmlns:a16="http://schemas.microsoft.com/office/drawing/2014/main" id="{0B12A18B-D0A7-48B0-8EE0-284F31640F7B}"/>
              </a:ext>
            </a:extLst>
          </p:cNvPr>
          <p:cNvSpPr>
            <a:spLocks xmlns:a="http://schemas.openxmlformats.org/drawingml/2006/main" noGrp="1"/>
          </p:cNvSpPr>
          <p:nvPr/>
        </p:nvSpPr>
        <p:spPr>
          <a:xfrm xmlns:a="http://schemas.openxmlformats.org/drawingml/2006/main">
            <a:off x="749808" y="2670048"/>
            <a:ext cx="457200" cy="457200"/>
          </a:xfrm>
          <a:prstGeom xmlns:a="http://schemas.openxmlformats.org/drawingml/2006/main" prst="ellipse">
            <a:avLst/>
          </a:prstGeom>
          <a:solidFill xmlns:a="http://schemas.openxmlformats.org/drawingml/2006/main">
            <a:srgbClr val="4D148C"/>
          </a:solidFill>
        </p:spPr>
      </p:sp>
      <p:sp>
        <p:nvSpPr>
          <p:cNvPr id="6" name="Text 4">
            <a:extLst xmlns:a="http://schemas.openxmlformats.org/drawingml/2006/main">
              <a:ext uri="{FF2B5EF4-FFF2-40B4-BE49-F238E27FC236}">
                <a16:creationId xmlns:a16="http://schemas.microsoft.com/office/drawing/2014/main" id="{9D463354-E668-4D86-BCC9-519FF9A0C9AF}"/>
              </a:ext>
            </a:extLst>
          </p:cNvPr>
          <p:cNvSpPr>
            <a:spLocks xmlns:a="http://schemas.openxmlformats.org/drawingml/2006/main" noGrp="1"/>
          </p:cNvSpPr>
          <p:nvPr/>
        </p:nvSpPr>
        <p:spPr>
          <a:xfrm xmlns:a="http://schemas.openxmlformats.org/drawingml/2006/main">
            <a:off x="749808" y="267004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Trebuchet MS"/>
                <a:ea typeface="Trebuchet MS"/>
                <a:cs typeface="Trebuchet MS"/>
              </a:rPr>
              <a:t>1</a:t>
            </a:r>
          </a:p>
        </p:txBody>
      </p:sp>
      <p:sp>
        <p:nvSpPr>
          <p:cNvPr id="7" name="Text 5">
            <a:extLst xmlns:a="http://schemas.openxmlformats.org/drawingml/2006/main">
              <a:ext uri="{FF2B5EF4-FFF2-40B4-BE49-F238E27FC236}">
                <a16:creationId xmlns:a16="http://schemas.microsoft.com/office/drawing/2014/main" id="{96B791E1-375E-467C-9149-C0173F0052A1}"/>
              </a:ext>
            </a:extLst>
          </p:cNvPr>
          <p:cNvSpPr>
            <a:spLocks xmlns:a="http://schemas.openxmlformats.org/drawingml/2006/main" noGrp="1"/>
          </p:cNvSpPr>
          <p:nvPr/>
        </p:nvSpPr>
        <p:spPr>
          <a:xfrm xmlns:a="http://schemas.openxmlformats.org/drawingml/2006/main">
            <a:off x="1316736" y="2670048"/>
            <a:ext cx="25694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4D148C"/>
                </a:solidFill>
                <a:latin typeface="Trebuchet MS"/>
                <a:ea typeface="Trebuchet MS"/>
                <a:cs typeface="Trebuchet MS"/>
              </a:rPr>
              <a:t>Propose</a:t>
            </a:r>
          </a:p>
        </p:txBody>
      </p:sp>
      <p:sp>
        <p:nvSpPr>
          <p:cNvPr id="8" name="Text 6">
            <a:extLst xmlns:a="http://schemas.openxmlformats.org/drawingml/2006/main">
              <a:ext uri="{FF2B5EF4-FFF2-40B4-BE49-F238E27FC236}">
                <a16:creationId xmlns:a16="http://schemas.microsoft.com/office/drawing/2014/main" id="{43A78224-B393-46C4-B22C-E4D8DB8BDBF9}"/>
              </a:ext>
            </a:extLst>
          </p:cNvPr>
          <p:cNvSpPr>
            <a:spLocks xmlns:a="http://schemas.openxmlformats.org/drawingml/2006/main" noGrp="1"/>
          </p:cNvSpPr>
          <p:nvPr/>
        </p:nvSpPr>
        <p:spPr>
          <a:xfrm xmlns:a="http://schemas.openxmlformats.org/drawingml/2006/main">
            <a:off x="749808" y="3255264"/>
            <a:ext cx="3081528"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1200">
                <a:solidFill>
                  <a:srgbClr val="6B7280"/>
                </a:solidFill>
                <a:latin typeface="Calibri"/>
                <a:ea typeface="Calibri"/>
                <a:cs typeface="Calibri"/>
              </a:rPr>
              <a:t>Use the pilot template: problem, scope, data classification, success criteria, risk review.</a:t>
            </a:r>
          </a:p>
        </p:txBody>
      </p:sp>
      <p:sp>
        <p:nvSpPr>
          <p:cNvPr id="9" name="Shape 7">
            <a:extLst xmlns:a="http://schemas.openxmlformats.org/drawingml/2006/main">
              <a:ext uri="{FF2B5EF4-FFF2-40B4-BE49-F238E27FC236}">
                <a16:creationId xmlns:a16="http://schemas.microsoft.com/office/drawing/2014/main" id="{7FA842AD-CB3B-4478-B462-40CC8334525F}"/>
              </a:ext>
            </a:extLst>
          </p:cNvPr>
          <p:cNvSpPr>
            <a:spLocks xmlns:a="http://schemas.openxmlformats.org/drawingml/2006/main" noGrp="1"/>
          </p:cNvSpPr>
          <p:nvPr/>
        </p:nvSpPr>
        <p:spPr>
          <a:xfrm xmlns:a="http://schemas.openxmlformats.org/drawingml/2006/main">
            <a:off x="4352544" y="2468880"/>
            <a:ext cx="3483864" cy="2286000"/>
          </a:xfrm>
          <a:prstGeom xmlns:a="http://schemas.openxmlformats.org/drawingml/2006/main" prst="roundRect">
            <a:avLst>
              <a:gd name="adj" fmla="val 32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0" name="Shape 8">
            <a:extLst xmlns:a="http://schemas.openxmlformats.org/drawingml/2006/main">
              <a:ext uri="{FF2B5EF4-FFF2-40B4-BE49-F238E27FC236}">
                <a16:creationId xmlns:a16="http://schemas.microsoft.com/office/drawing/2014/main" id="{50CB17C7-2CDD-4A6B-A490-FF3F9A58C7DF}"/>
              </a:ext>
            </a:extLst>
          </p:cNvPr>
          <p:cNvSpPr>
            <a:spLocks xmlns:a="http://schemas.openxmlformats.org/drawingml/2006/main" noGrp="1"/>
          </p:cNvSpPr>
          <p:nvPr/>
        </p:nvSpPr>
        <p:spPr>
          <a:xfrm xmlns:a="http://schemas.openxmlformats.org/drawingml/2006/main">
            <a:off x="4553712" y="2670048"/>
            <a:ext cx="457200" cy="457200"/>
          </a:xfrm>
          <a:prstGeom xmlns:a="http://schemas.openxmlformats.org/drawingml/2006/main" prst="ellipse">
            <a:avLst/>
          </a:prstGeom>
          <a:solidFill xmlns:a="http://schemas.openxmlformats.org/drawingml/2006/main">
            <a:srgbClr val="4D148C"/>
          </a:solidFill>
        </p:spPr>
      </p:sp>
      <p:sp>
        <p:nvSpPr>
          <p:cNvPr id="11" name="Text 9">
            <a:extLst xmlns:a="http://schemas.openxmlformats.org/drawingml/2006/main">
              <a:ext uri="{FF2B5EF4-FFF2-40B4-BE49-F238E27FC236}">
                <a16:creationId xmlns:a16="http://schemas.microsoft.com/office/drawing/2014/main" id="{BA37D802-718F-485D-99E3-3C7D42D1C809}"/>
              </a:ext>
            </a:extLst>
          </p:cNvPr>
          <p:cNvSpPr>
            <a:spLocks xmlns:a="http://schemas.openxmlformats.org/drawingml/2006/main" noGrp="1"/>
          </p:cNvSpPr>
          <p:nvPr/>
        </p:nvSpPr>
        <p:spPr>
          <a:xfrm xmlns:a="http://schemas.openxmlformats.org/drawingml/2006/main">
            <a:off x="4553712" y="267004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Trebuchet MS"/>
                <a:ea typeface="Trebuchet MS"/>
                <a:cs typeface="Trebuchet MS"/>
              </a:rPr>
              <a:t>2</a:t>
            </a:r>
          </a:p>
        </p:txBody>
      </p:sp>
      <p:sp>
        <p:nvSpPr>
          <p:cNvPr id="12" name="Text 10">
            <a:extLst xmlns:a="http://schemas.openxmlformats.org/drawingml/2006/main">
              <a:ext uri="{FF2B5EF4-FFF2-40B4-BE49-F238E27FC236}">
                <a16:creationId xmlns:a16="http://schemas.microsoft.com/office/drawing/2014/main" id="{E4C931CE-7C24-4EEE-8936-C1C82405B474}"/>
              </a:ext>
            </a:extLst>
          </p:cNvPr>
          <p:cNvSpPr>
            <a:spLocks xmlns:a="http://schemas.openxmlformats.org/drawingml/2006/main" noGrp="1"/>
          </p:cNvSpPr>
          <p:nvPr/>
        </p:nvSpPr>
        <p:spPr>
          <a:xfrm xmlns:a="http://schemas.openxmlformats.org/drawingml/2006/main">
            <a:off x="5120640" y="2670048"/>
            <a:ext cx="25694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4D148C"/>
                </a:solidFill>
                <a:latin typeface="Trebuchet MS"/>
                <a:ea typeface="Trebuchet MS"/>
                <a:cs typeface="Trebuchet MS"/>
              </a:rPr>
              <a:t>Run</a:t>
            </a:r>
          </a:p>
        </p:txBody>
      </p:sp>
      <p:sp>
        <p:nvSpPr>
          <p:cNvPr id="13" name="Text 11">
            <a:extLst xmlns:a="http://schemas.openxmlformats.org/drawingml/2006/main">
              <a:ext uri="{FF2B5EF4-FFF2-40B4-BE49-F238E27FC236}">
                <a16:creationId xmlns:a16="http://schemas.microsoft.com/office/drawing/2014/main" id="{84209415-2795-4BE5-83CF-3E9432B09B1D}"/>
              </a:ext>
            </a:extLst>
          </p:cNvPr>
          <p:cNvSpPr>
            <a:spLocks xmlns:a="http://schemas.openxmlformats.org/drawingml/2006/main" noGrp="1"/>
          </p:cNvSpPr>
          <p:nvPr/>
        </p:nvSpPr>
        <p:spPr>
          <a:xfrm xmlns:a="http://schemas.openxmlformats.org/drawingml/2006/main">
            <a:off x="4553712" y="3255264"/>
            <a:ext cx="3081528"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1200">
                <a:solidFill>
                  <a:srgbClr val="6B7280"/>
                </a:solidFill>
                <a:latin typeface="Calibri"/>
                <a:ea typeface="Calibri"/>
                <a:cs typeface="Calibri"/>
              </a:rPr>
              <a:t>Small experiment with synthetic data, clear metrics, and a human review step.</a:t>
            </a:r>
          </a:p>
        </p:txBody>
      </p:sp>
      <p:sp>
        <p:nvSpPr>
          <p:cNvPr id="14" name="Shape 12">
            <a:extLst xmlns:a="http://schemas.openxmlformats.org/drawingml/2006/main">
              <a:ext uri="{FF2B5EF4-FFF2-40B4-BE49-F238E27FC236}">
                <a16:creationId xmlns:a16="http://schemas.microsoft.com/office/drawing/2014/main" id="{370CC7F5-F401-490C-A65F-285A56CF4C93}"/>
              </a:ext>
            </a:extLst>
          </p:cNvPr>
          <p:cNvSpPr>
            <a:spLocks xmlns:a="http://schemas.openxmlformats.org/drawingml/2006/main" noGrp="1"/>
          </p:cNvSpPr>
          <p:nvPr/>
        </p:nvSpPr>
        <p:spPr>
          <a:xfrm xmlns:a="http://schemas.openxmlformats.org/drawingml/2006/main">
            <a:off x="8156448" y="2468880"/>
            <a:ext cx="3483864" cy="2286000"/>
          </a:xfrm>
          <a:prstGeom xmlns:a="http://schemas.openxmlformats.org/drawingml/2006/main" prst="roundRect">
            <a:avLst>
              <a:gd name="adj" fmla="val 32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5" name="Shape 13">
            <a:extLst xmlns:a="http://schemas.openxmlformats.org/drawingml/2006/main">
              <a:ext uri="{FF2B5EF4-FFF2-40B4-BE49-F238E27FC236}">
                <a16:creationId xmlns:a16="http://schemas.microsoft.com/office/drawing/2014/main" id="{E9DFF5A1-45A0-4CBF-BD4A-09963D052913}"/>
              </a:ext>
            </a:extLst>
          </p:cNvPr>
          <p:cNvSpPr>
            <a:spLocks xmlns:a="http://schemas.openxmlformats.org/drawingml/2006/main" noGrp="1"/>
          </p:cNvSpPr>
          <p:nvPr/>
        </p:nvSpPr>
        <p:spPr>
          <a:xfrm xmlns:a="http://schemas.openxmlformats.org/drawingml/2006/main">
            <a:off x="8357616" y="2670048"/>
            <a:ext cx="457200" cy="457200"/>
          </a:xfrm>
          <a:prstGeom xmlns:a="http://schemas.openxmlformats.org/drawingml/2006/main" prst="ellipse">
            <a:avLst/>
          </a:prstGeom>
          <a:solidFill xmlns:a="http://schemas.openxmlformats.org/drawingml/2006/main">
            <a:srgbClr val="4D148C"/>
          </a:solidFill>
        </p:spPr>
      </p:sp>
      <p:sp>
        <p:nvSpPr>
          <p:cNvPr id="16" name="Text 14">
            <a:extLst xmlns:a="http://schemas.openxmlformats.org/drawingml/2006/main">
              <a:ext uri="{FF2B5EF4-FFF2-40B4-BE49-F238E27FC236}">
                <a16:creationId xmlns:a16="http://schemas.microsoft.com/office/drawing/2014/main" id="{4DAB1B85-13DE-46FF-B324-7DD756A8C80E}"/>
              </a:ext>
            </a:extLst>
          </p:cNvPr>
          <p:cNvSpPr>
            <a:spLocks xmlns:a="http://schemas.openxmlformats.org/drawingml/2006/main" noGrp="1"/>
          </p:cNvSpPr>
          <p:nvPr/>
        </p:nvSpPr>
        <p:spPr>
          <a:xfrm xmlns:a="http://schemas.openxmlformats.org/drawingml/2006/main">
            <a:off x="8357616" y="267004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Trebuchet MS"/>
                <a:ea typeface="Trebuchet MS"/>
                <a:cs typeface="Trebuchet MS"/>
              </a:rPr>
              <a:t>3</a:t>
            </a:r>
          </a:p>
        </p:txBody>
      </p:sp>
      <p:sp>
        <p:nvSpPr>
          <p:cNvPr id="17" name="Text 15">
            <a:extLst xmlns:a="http://schemas.openxmlformats.org/drawingml/2006/main">
              <a:ext uri="{FF2B5EF4-FFF2-40B4-BE49-F238E27FC236}">
                <a16:creationId xmlns:a16="http://schemas.microsoft.com/office/drawing/2014/main" id="{F25059ED-2577-4CC1-9C8B-53B4182234DF}"/>
              </a:ext>
            </a:extLst>
          </p:cNvPr>
          <p:cNvSpPr>
            <a:spLocks xmlns:a="http://schemas.openxmlformats.org/drawingml/2006/main" noGrp="1"/>
          </p:cNvSpPr>
          <p:nvPr/>
        </p:nvSpPr>
        <p:spPr>
          <a:xfrm xmlns:a="http://schemas.openxmlformats.org/drawingml/2006/main">
            <a:off x="8924544" y="2670048"/>
            <a:ext cx="25694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4D148C"/>
                </a:solidFill>
                <a:latin typeface="Trebuchet MS"/>
                <a:ea typeface="Trebuchet MS"/>
                <a:cs typeface="Trebuchet MS"/>
              </a:rPr>
              <a:t>Decide</a:t>
            </a:r>
          </a:p>
        </p:txBody>
      </p:sp>
      <p:sp>
        <p:nvSpPr>
          <p:cNvPr id="18" name="Text 16">
            <a:extLst xmlns:a="http://schemas.openxmlformats.org/drawingml/2006/main">
              <a:ext uri="{FF2B5EF4-FFF2-40B4-BE49-F238E27FC236}">
                <a16:creationId xmlns:a16="http://schemas.microsoft.com/office/drawing/2014/main" id="{D2BA3DFA-B3AA-4D0B-B972-33352A6CD4B7}"/>
              </a:ext>
            </a:extLst>
          </p:cNvPr>
          <p:cNvSpPr>
            <a:spLocks xmlns:a="http://schemas.openxmlformats.org/drawingml/2006/main" noGrp="1"/>
          </p:cNvSpPr>
          <p:nvPr/>
        </p:nvSpPr>
        <p:spPr>
          <a:xfrm xmlns:a="http://schemas.openxmlformats.org/drawingml/2006/main">
            <a:off x="8357616" y="3255264"/>
            <a:ext cx="3081528"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1200">
                <a:solidFill>
                  <a:srgbClr val="6B7280"/>
                </a:solidFill>
                <a:latin typeface="Calibri"/>
                <a:ea typeface="Calibri"/>
                <a:cs typeface="Calibri"/>
              </a:rPr>
              <a:t>Evidence-based go / no-go. Bring IT, legal, and compliance into the conversation with data, not just ideas.</a:t>
            </a:r>
          </a:p>
        </p:txBody>
      </p:sp>
      <p:sp>
        <p:nvSpPr>
          <p:cNvPr id="19" name="Text 17">
            <a:extLst xmlns:a="http://schemas.openxmlformats.org/drawingml/2006/main">
              <a:ext uri="{FF2B5EF4-FFF2-40B4-BE49-F238E27FC236}">
                <a16:creationId xmlns:a16="http://schemas.microsoft.com/office/drawing/2014/main" id="{C8E27659-8065-464C-B6BA-1B9FE586DE31}"/>
              </a:ext>
            </a:extLst>
          </p:cNvPr>
          <p:cNvSpPr>
            <a:spLocks xmlns:a="http://schemas.openxmlformats.org/drawingml/2006/main" noGrp="1"/>
          </p:cNvSpPr>
          <p:nvPr/>
        </p:nvSpPr>
        <p:spPr>
          <a:xfrm xmlns:a="http://schemas.openxmlformats.org/drawingml/2006/main">
            <a:off x="548640" y="6355080"/>
            <a:ext cx="11091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i="1">
                <a:solidFill>
                  <a:srgbClr val="6B7280"/>
                </a:solidFill>
                <a:latin typeface="Calibri"/>
                <a:ea typeface="Calibri"/>
                <a:cs typeface="Calibri"/>
              </a:rPr>
              <a:t>The template includes demo readiness checklists, failure criteria, and governance review steps.</a:t>
            </a:r>
          </a:p>
        </p:txBody>
      </p:sp>
    </p:spTree>
    <p:extLst>
      <p:ext uri="{BB962C8B-B14F-4D97-AF65-F5344CB8AC3E}">
        <p14:creationId xmlns:p14="http://schemas.microsoft.com/office/powerpoint/2010/main" val="10978048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9F0BA5-29C3-4BAF-B48D-CA52832D12ED}"/>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Decision Requested Today</a:t>
            </a:r>
          </a:p>
        </p:txBody>
      </p:sp>
      <p:sp>
        <p:nvSpPr>
          <p:cNvPr id="3" name="Text 1">
            <a:extLst xmlns:a="http://schemas.openxmlformats.org/drawingml/2006/main">
              <a:ext uri="{FF2B5EF4-FFF2-40B4-BE49-F238E27FC236}">
                <a16:creationId xmlns:a16="http://schemas.microsoft.com/office/drawing/2014/main" id="{6A5548D1-3790-4CBA-9446-0C19866EA6D8}"/>
              </a:ext>
            </a:extLst>
          </p:cNvPr>
          <p:cNvSpPr>
            <a:spLocks xmlns:a="http://schemas.openxmlformats.org/drawingml/2006/main" noGrp="1"/>
          </p:cNvSpPr>
          <p:nvPr/>
        </p:nvSpPr>
        <p:spPr>
          <a:xfrm xmlns:a="http://schemas.openxmlformats.org/drawingml/2006/main">
            <a:off x="548640" y="1600200"/>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One small, reversible next step — with public, synthetic, or scrubbed data only, and you in control:</a:t>
            </a:r>
          </a:p>
        </p:txBody>
      </p:sp>
      <p:sp>
        <p:nvSpPr>
          <p:cNvPr id="4" name="Shape 2">
            <a:extLst xmlns:a="http://schemas.openxmlformats.org/drawingml/2006/main">
              <a:ext uri="{FF2B5EF4-FFF2-40B4-BE49-F238E27FC236}">
                <a16:creationId xmlns:a16="http://schemas.microsoft.com/office/drawing/2014/main" id="{F12B2101-3D38-464A-AE4B-D8C84D7E73EF}"/>
              </a:ext>
            </a:extLst>
          </p:cNvPr>
          <p:cNvSpPr>
            <a:spLocks xmlns:a="http://schemas.openxmlformats.org/drawingml/2006/main" noGrp="1"/>
          </p:cNvSpPr>
          <p:nvPr/>
        </p:nvSpPr>
        <p:spPr>
          <a:xfrm xmlns:a="http://schemas.openxmlformats.org/drawingml/2006/main">
            <a:off x="548640" y="2468880"/>
            <a:ext cx="3483864" cy="2286000"/>
          </a:xfrm>
          <a:prstGeom xmlns:a="http://schemas.openxmlformats.org/drawingml/2006/main" prst="roundRect">
            <a:avLst>
              <a:gd name="adj" fmla="val 32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5" name="Shape 3">
            <a:extLst xmlns:a="http://schemas.openxmlformats.org/drawingml/2006/main">
              <a:ext uri="{FF2B5EF4-FFF2-40B4-BE49-F238E27FC236}">
                <a16:creationId xmlns:a16="http://schemas.microsoft.com/office/drawing/2014/main" id="{A6412AA6-06B2-49DC-8202-AE6C1A0B198F}"/>
              </a:ext>
            </a:extLst>
          </p:cNvPr>
          <p:cNvSpPr>
            <a:spLocks xmlns:a="http://schemas.openxmlformats.org/drawingml/2006/main" noGrp="1"/>
          </p:cNvSpPr>
          <p:nvPr/>
        </p:nvSpPr>
        <p:spPr>
          <a:xfrm xmlns:a="http://schemas.openxmlformats.org/drawingml/2006/main">
            <a:off x="749808" y="2670048"/>
            <a:ext cx="457200" cy="457200"/>
          </a:xfrm>
          <a:prstGeom xmlns:a="http://schemas.openxmlformats.org/drawingml/2006/main" prst="ellipse">
            <a:avLst/>
          </a:prstGeom>
          <a:solidFill xmlns:a="http://schemas.openxmlformats.org/drawingml/2006/main">
            <a:srgbClr val="4D148C"/>
          </a:solidFill>
        </p:spPr>
      </p:sp>
      <p:sp>
        <p:nvSpPr>
          <p:cNvPr id="6" name="Text 4">
            <a:extLst xmlns:a="http://schemas.openxmlformats.org/drawingml/2006/main">
              <a:ext uri="{FF2B5EF4-FFF2-40B4-BE49-F238E27FC236}">
                <a16:creationId xmlns:a16="http://schemas.microsoft.com/office/drawing/2014/main" id="{891ECEE7-2A80-42C9-BF93-6A1A98550BEA}"/>
              </a:ext>
            </a:extLst>
          </p:cNvPr>
          <p:cNvSpPr>
            <a:spLocks xmlns:a="http://schemas.openxmlformats.org/drawingml/2006/main" noGrp="1"/>
          </p:cNvSpPr>
          <p:nvPr/>
        </p:nvSpPr>
        <p:spPr>
          <a:xfrm xmlns:a="http://schemas.openxmlformats.org/drawingml/2006/main">
            <a:off x="749808" y="267004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Trebuchet MS"/>
                <a:ea typeface="Trebuchet MS"/>
                <a:cs typeface="Trebuchet MS"/>
              </a:rPr>
              <a:t>1</a:t>
            </a:r>
          </a:p>
        </p:txBody>
      </p:sp>
      <p:sp>
        <p:nvSpPr>
          <p:cNvPr id="7" name="Text 5">
            <a:extLst xmlns:a="http://schemas.openxmlformats.org/drawingml/2006/main">
              <a:ext uri="{FF2B5EF4-FFF2-40B4-BE49-F238E27FC236}">
                <a16:creationId xmlns:a16="http://schemas.microsoft.com/office/drawing/2014/main" id="{4F4E1CE2-4367-4308-BE3E-71D538DAD2D6}"/>
              </a:ext>
            </a:extLst>
          </p:cNvPr>
          <p:cNvSpPr>
            <a:spLocks xmlns:a="http://schemas.openxmlformats.org/drawingml/2006/main" noGrp="1"/>
          </p:cNvSpPr>
          <p:nvPr/>
        </p:nvSpPr>
        <p:spPr>
          <a:xfrm xmlns:a="http://schemas.openxmlformats.org/drawingml/2006/main">
            <a:off x="1316736" y="2670048"/>
            <a:ext cx="25694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4D148C"/>
                </a:solidFill>
                <a:latin typeface="Trebuchet MS"/>
                <a:ea typeface="Trebuchet MS"/>
                <a:cs typeface="Trebuchet MS"/>
              </a:rPr>
              <a:t>Name an owner</a:t>
            </a:r>
          </a:p>
        </p:txBody>
      </p:sp>
      <p:sp>
        <p:nvSpPr>
          <p:cNvPr id="8" name="Text 6">
            <a:extLst xmlns:a="http://schemas.openxmlformats.org/drawingml/2006/main">
              <a:ext uri="{FF2B5EF4-FFF2-40B4-BE49-F238E27FC236}">
                <a16:creationId xmlns:a16="http://schemas.microsoft.com/office/drawing/2014/main" id="{18D02BE8-404C-4060-A109-0738D70CBA31}"/>
              </a:ext>
            </a:extLst>
          </p:cNvPr>
          <p:cNvSpPr>
            <a:spLocks xmlns:a="http://schemas.openxmlformats.org/drawingml/2006/main" noGrp="1"/>
          </p:cNvSpPr>
          <p:nvPr/>
        </p:nvSpPr>
        <p:spPr>
          <a:xfrm xmlns:a="http://schemas.openxmlformats.org/drawingml/2006/main">
            <a:off x="749808" y="3255264"/>
            <a:ext cx="3081528"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1200">
                <a:solidFill>
                  <a:srgbClr val="6B7280"/>
                </a:solidFill>
                <a:latin typeface="Calibri"/>
                <a:ea typeface="Calibri"/>
                <a:cs typeface="Calibri"/>
              </a:rPr>
              <a:t>Nominate one low-risk pilot owner and backup owner from your district.</a:t>
            </a:r>
          </a:p>
        </p:txBody>
      </p:sp>
      <p:sp>
        <p:nvSpPr>
          <p:cNvPr id="9" name="Shape 7">
            <a:extLst xmlns:a="http://schemas.openxmlformats.org/drawingml/2006/main">
              <a:ext uri="{FF2B5EF4-FFF2-40B4-BE49-F238E27FC236}">
                <a16:creationId xmlns:a16="http://schemas.microsoft.com/office/drawing/2014/main" id="{2A750618-08C0-498E-90D5-19729214BAFF}"/>
              </a:ext>
            </a:extLst>
          </p:cNvPr>
          <p:cNvSpPr>
            <a:spLocks xmlns:a="http://schemas.openxmlformats.org/drawingml/2006/main" noGrp="1"/>
          </p:cNvSpPr>
          <p:nvPr/>
        </p:nvSpPr>
        <p:spPr>
          <a:xfrm xmlns:a="http://schemas.openxmlformats.org/drawingml/2006/main">
            <a:off x="4352544" y="2468880"/>
            <a:ext cx="3483864" cy="2286000"/>
          </a:xfrm>
          <a:prstGeom xmlns:a="http://schemas.openxmlformats.org/drawingml/2006/main" prst="roundRect">
            <a:avLst>
              <a:gd name="adj" fmla="val 32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0" name="Shape 8">
            <a:extLst xmlns:a="http://schemas.openxmlformats.org/drawingml/2006/main">
              <a:ext uri="{FF2B5EF4-FFF2-40B4-BE49-F238E27FC236}">
                <a16:creationId xmlns:a16="http://schemas.microsoft.com/office/drawing/2014/main" id="{1EA482F9-087C-4D89-88FB-5257547938A0}"/>
              </a:ext>
            </a:extLst>
          </p:cNvPr>
          <p:cNvSpPr>
            <a:spLocks xmlns:a="http://schemas.openxmlformats.org/drawingml/2006/main" noGrp="1"/>
          </p:cNvSpPr>
          <p:nvPr/>
        </p:nvSpPr>
        <p:spPr>
          <a:xfrm xmlns:a="http://schemas.openxmlformats.org/drawingml/2006/main">
            <a:off x="4553712" y="2670048"/>
            <a:ext cx="457200" cy="457200"/>
          </a:xfrm>
          <a:prstGeom xmlns:a="http://schemas.openxmlformats.org/drawingml/2006/main" prst="ellipse">
            <a:avLst/>
          </a:prstGeom>
          <a:solidFill xmlns:a="http://schemas.openxmlformats.org/drawingml/2006/main">
            <a:srgbClr val="4D148C"/>
          </a:solidFill>
        </p:spPr>
      </p:sp>
      <p:sp>
        <p:nvSpPr>
          <p:cNvPr id="11" name="Text 9">
            <a:extLst xmlns:a="http://schemas.openxmlformats.org/drawingml/2006/main">
              <a:ext uri="{FF2B5EF4-FFF2-40B4-BE49-F238E27FC236}">
                <a16:creationId xmlns:a16="http://schemas.microsoft.com/office/drawing/2014/main" id="{E66DC63B-E5CA-4D37-8582-2AAA62C3EC7A}"/>
              </a:ext>
            </a:extLst>
          </p:cNvPr>
          <p:cNvSpPr>
            <a:spLocks xmlns:a="http://schemas.openxmlformats.org/drawingml/2006/main" noGrp="1"/>
          </p:cNvSpPr>
          <p:nvPr/>
        </p:nvSpPr>
        <p:spPr>
          <a:xfrm xmlns:a="http://schemas.openxmlformats.org/drawingml/2006/main">
            <a:off x="4553712" y="267004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Trebuchet MS"/>
                <a:ea typeface="Trebuchet MS"/>
                <a:cs typeface="Trebuchet MS"/>
              </a:rPr>
              <a:t>2</a:t>
            </a:r>
          </a:p>
        </p:txBody>
      </p:sp>
      <p:sp>
        <p:nvSpPr>
          <p:cNvPr id="12" name="Text 10">
            <a:extLst xmlns:a="http://schemas.openxmlformats.org/drawingml/2006/main">
              <a:ext uri="{FF2B5EF4-FFF2-40B4-BE49-F238E27FC236}">
                <a16:creationId xmlns:a16="http://schemas.microsoft.com/office/drawing/2014/main" id="{4EF79B2C-EF22-48D6-91E6-5A193570CC9D}"/>
              </a:ext>
            </a:extLst>
          </p:cNvPr>
          <p:cNvSpPr>
            <a:spLocks xmlns:a="http://schemas.openxmlformats.org/drawingml/2006/main" noGrp="1"/>
          </p:cNvSpPr>
          <p:nvPr/>
        </p:nvSpPr>
        <p:spPr>
          <a:xfrm xmlns:a="http://schemas.openxmlformats.org/drawingml/2006/main">
            <a:off x="5120640" y="2670048"/>
            <a:ext cx="25694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4D148C"/>
                </a:solidFill>
                <a:latin typeface="Trebuchet MS"/>
                <a:ea typeface="Trebuchet MS"/>
                <a:cs typeface="Trebuchet MS"/>
              </a:rPr>
              <a:t>Open prompt intake</a:t>
            </a:r>
          </a:p>
        </p:txBody>
      </p:sp>
      <p:sp>
        <p:nvSpPr>
          <p:cNvPr id="13" name="Text 11">
            <a:extLst xmlns:a="http://schemas.openxmlformats.org/drawingml/2006/main">
              <a:ext uri="{FF2B5EF4-FFF2-40B4-BE49-F238E27FC236}">
                <a16:creationId xmlns:a16="http://schemas.microsoft.com/office/drawing/2014/main" id="{17DAD0B6-2F75-43BB-A7AE-F1CEA8E51AAD}"/>
              </a:ext>
            </a:extLst>
          </p:cNvPr>
          <p:cNvSpPr>
            <a:spLocks xmlns:a="http://schemas.openxmlformats.org/drawingml/2006/main" noGrp="1"/>
          </p:cNvSpPr>
          <p:nvPr/>
        </p:nvSpPr>
        <p:spPr>
          <a:xfrm xmlns:a="http://schemas.openxmlformats.org/drawingml/2006/main">
            <a:off x="4553712" y="3255264"/>
            <a:ext cx="3081528"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1200">
                <a:solidFill>
                  <a:srgbClr val="6B7280"/>
                </a:solidFill>
                <a:latin typeface="Calibri"/>
                <a:ea typeface="Calibri"/>
                <a:cs typeface="Calibri"/>
              </a:rPr>
              <a:t>Collect 10 manager workflow prompts over 30 days, with sensitive details removed.</a:t>
            </a:r>
          </a:p>
        </p:txBody>
      </p:sp>
      <p:sp>
        <p:nvSpPr>
          <p:cNvPr id="14" name="Shape 12">
            <a:extLst xmlns:a="http://schemas.openxmlformats.org/drawingml/2006/main">
              <a:ext uri="{FF2B5EF4-FFF2-40B4-BE49-F238E27FC236}">
                <a16:creationId xmlns:a16="http://schemas.microsoft.com/office/drawing/2014/main" id="{CED2B89B-D032-4969-BA3B-D3F49BAB289C}"/>
              </a:ext>
            </a:extLst>
          </p:cNvPr>
          <p:cNvSpPr>
            <a:spLocks xmlns:a="http://schemas.openxmlformats.org/drawingml/2006/main" noGrp="1"/>
          </p:cNvSpPr>
          <p:nvPr/>
        </p:nvSpPr>
        <p:spPr>
          <a:xfrm xmlns:a="http://schemas.openxmlformats.org/drawingml/2006/main">
            <a:off x="8156448" y="2468880"/>
            <a:ext cx="3483864" cy="2286000"/>
          </a:xfrm>
          <a:prstGeom xmlns:a="http://schemas.openxmlformats.org/drawingml/2006/main" prst="roundRect">
            <a:avLst>
              <a:gd name="adj" fmla="val 32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5" name="Shape 13">
            <a:extLst xmlns:a="http://schemas.openxmlformats.org/drawingml/2006/main">
              <a:ext uri="{FF2B5EF4-FFF2-40B4-BE49-F238E27FC236}">
                <a16:creationId xmlns:a16="http://schemas.microsoft.com/office/drawing/2014/main" id="{D798556A-A8B6-4549-9082-7641FCC2555B}"/>
              </a:ext>
            </a:extLst>
          </p:cNvPr>
          <p:cNvSpPr>
            <a:spLocks xmlns:a="http://schemas.openxmlformats.org/drawingml/2006/main" noGrp="1"/>
          </p:cNvSpPr>
          <p:nvPr/>
        </p:nvSpPr>
        <p:spPr>
          <a:xfrm xmlns:a="http://schemas.openxmlformats.org/drawingml/2006/main">
            <a:off x="8357616" y="2670048"/>
            <a:ext cx="457200" cy="457200"/>
          </a:xfrm>
          <a:prstGeom xmlns:a="http://schemas.openxmlformats.org/drawingml/2006/main" prst="ellipse">
            <a:avLst/>
          </a:prstGeom>
          <a:solidFill xmlns:a="http://schemas.openxmlformats.org/drawingml/2006/main">
            <a:srgbClr val="4D148C"/>
          </a:solidFill>
        </p:spPr>
      </p:sp>
      <p:sp>
        <p:nvSpPr>
          <p:cNvPr id="16" name="Text 14">
            <a:extLst xmlns:a="http://schemas.openxmlformats.org/drawingml/2006/main">
              <a:ext uri="{FF2B5EF4-FFF2-40B4-BE49-F238E27FC236}">
                <a16:creationId xmlns:a16="http://schemas.microsoft.com/office/drawing/2014/main" id="{44AC8ACA-A9CA-4C46-9042-27CA5BB69C94}"/>
              </a:ext>
            </a:extLst>
          </p:cNvPr>
          <p:cNvSpPr>
            <a:spLocks xmlns:a="http://schemas.openxmlformats.org/drawingml/2006/main" noGrp="1"/>
          </p:cNvSpPr>
          <p:nvPr/>
        </p:nvSpPr>
        <p:spPr>
          <a:xfrm xmlns:a="http://schemas.openxmlformats.org/drawingml/2006/main">
            <a:off x="8357616" y="2670048"/>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Trebuchet MS"/>
                <a:ea typeface="Trebuchet MS"/>
                <a:cs typeface="Trebuchet MS"/>
              </a:rPr>
              <a:t>3</a:t>
            </a:r>
          </a:p>
        </p:txBody>
      </p:sp>
      <p:sp>
        <p:nvSpPr>
          <p:cNvPr id="17" name="Text 15">
            <a:extLst xmlns:a="http://schemas.openxmlformats.org/drawingml/2006/main">
              <a:ext uri="{FF2B5EF4-FFF2-40B4-BE49-F238E27FC236}">
                <a16:creationId xmlns:a16="http://schemas.microsoft.com/office/drawing/2014/main" id="{CDAAF55E-D117-4E6D-ADAF-8A605C95D394}"/>
              </a:ext>
            </a:extLst>
          </p:cNvPr>
          <p:cNvSpPr>
            <a:spLocks xmlns:a="http://schemas.openxmlformats.org/drawingml/2006/main" noGrp="1"/>
          </p:cNvSpPr>
          <p:nvPr/>
        </p:nvSpPr>
        <p:spPr>
          <a:xfrm xmlns:a="http://schemas.openxmlformats.org/drawingml/2006/main">
            <a:off x="8924544" y="2670048"/>
            <a:ext cx="256946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4D148C"/>
                </a:solidFill>
                <a:latin typeface="Trebuchet MS"/>
                <a:ea typeface="Trebuchet MS"/>
                <a:cs typeface="Trebuchet MS"/>
              </a:rPr>
              <a:t>Keep the gate</a:t>
            </a:r>
          </a:p>
        </p:txBody>
      </p:sp>
      <p:sp>
        <p:nvSpPr>
          <p:cNvPr id="18" name="Text 16">
            <a:extLst xmlns:a="http://schemas.openxmlformats.org/drawingml/2006/main">
              <a:ext uri="{FF2B5EF4-FFF2-40B4-BE49-F238E27FC236}">
                <a16:creationId xmlns:a16="http://schemas.microsoft.com/office/drawing/2014/main" id="{15CB75CA-66A6-48E4-989A-15002846AF6B}"/>
              </a:ext>
            </a:extLst>
          </p:cNvPr>
          <p:cNvSpPr>
            <a:spLocks xmlns:a="http://schemas.openxmlformats.org/drawingml/2006/main" noGrp="1"/>
          </p:cNvSpPr>
          <p:nvPr/>
        </p:nvSpPr>
        <p:spPr>
          <a:xfrm xmlns:a="http://schemas.openxmlformats.org/drawingml/2006/main">
            <a:off x="8357616" y="3255264"/>
            <a:ext cx="3081528"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1200">
                <a:solidFill>
                  <a:srgbClr val="6B7280"/>
                </a:solidFill>
                <a:latin typeface="Calibri"/>
                <a:ea typeface="Calibri"/>
                <a:cs typeface="Calibri"/>
              </a:rPr>
              <a:t>No internal data, production workflow, or external messages until the project checklist is complete.</a:t>
            </a:r>
          </a:p>
        </p:txBody>
      </p:sp>
      <p:sp>
        <p:nvSpPr>
          <p:cNvPr id="19" name="Text 17">
            <a:extLst xmlns:a="http://schemas.openxmlformats.org/drawingml/2006/main">
              <a:ext uri="{FF2B5EF4-FFF2-40B4-BE49-F238E27FC236}">
                <a16:creationId xmlns:a16="http://schemas.microsoft.com/office/drawing/2014/main" id="{15E99F11-46ED-4D24-9C4F-8FD74D774DF9}"/>
              </a:ext>
            </a:extLst>
          </p:cNvPr>
          <p:cNvSpPr>
            <a:spLocks xmlns:a="http://schemas.openxmlformats.org/drawingml/2006/main" noGrp="1"/>
          </p:cNvSpPr>
          <p:nvPr/>
        </p:nvSpPr>
        <p:spPr>
          <a:xfrm xmlns:a="http://schemas.openxmlformats.org/drawingml/2006/main">
            <a:off x="548640" y="6355080"/>
            <a:ext cx="11091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i="1">
                <a:solidFill>
                  <a:srgbClr val="6B7280"/>
                </a:solidFill>
                <a:latin typeface="Calibri"/>
                <a:ea typeface="Calibri"/>
                <a:cs typeface="Calibri"/>
              </a:rPr>
              <a:t>Candidate first pilots are listed in docs/pilot-candidate-shortlist.md.</a:t>
            </a:r>
          </a:p>
        </p:txBody>
      </p:sp>
    </p:spTree>
    <p:extLst>
      <p:ext uri="{BB962C8B-B14F-4D97-AF65-F5344CB8AC3E}">
        <p14:creationId xmlns:p14="http://schemas.microsoft.com/office/powerpoint/2010/main" val="2100664345"/>
      </p:ext>
    </p:extLst>
  </p:cSld>
</p:sld>
</file>

<file path=ppt/slides/slide13.xml><?xml version="1.0" encoding="utf-8"?>
<p:sld xmlns:p="http://schemas.openxmlformats.org/presentationml/2006/main">
  <p:cSld>
    <p:bg>
      <p:bgPr>
        <a:solidFill xmlns:a="http://schemas.openxmlformats.org/drawingml/2006/main">
          <a:srgbClr val="3A0F69"/>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056A28-2F25-4D88-B3BB-E21C96449C6E}"/>
              </a:ext>
            </a:extLst>
          </p:cNvPr>
          <p:cNvSpPr>
            <a:spLocks xmlns:a="http://schemas.openxmlformats.org/drawingml/2006/main" noGrp="1"/>
          </p:cNvSpPr>
          <p:nvPr/>
        </p:nvSpPr>
        <p:spPr>
          <a:xfrm xmlns:a="http://schemas.openxmlformats.org/drawingml/2006/main">
            <a:off x="0" y="0"/>
            <a:ext cx="256032" cy="6858000"/>
          </a:xfrm>
          <a:prstGeom xmlns:a="http://schemas.openxmlformats.org/drawingml/2006/main" prst="rect">
            <a:avLst/>
          </a:prstGeom>
          <a:solidFill xmlns:a="http://schemas.openxmlformats.org/drawingml/2006/main">
            <a:srgbClr val="FF6600"/>
          </a:solidFill>
        </p:spPr>
      </p:sp>
      <p:sp>
        <p:nvSpPr>
          <p:cNvPr id="3" name="Text 1">
            <a:extLst xmlns:a="http://schemas.openxmlformats.org/drawingml/2006/main">
              <a:ext uri="{FF2B5EF4-FFF2-40B4-BE49-F238E27FC236}">
                <a16:creationId xmlns:a16="http://schemas.microsoft.com/office/drawing/2014/main" id="{7C4B5600-5888-487C-8192-D0E6F6EAC615}"/>
              </a:ext>
            </a:extLst>
          </p:cNvPr>
          <p:cNvSpPr>
            <a:spLocks xmlns:a="http://schemas.openxmlformats.org/drawingml/2006/main" noGrp="1"/>
          </p:cNvSpPr>
          <p:nvPr/>
        </p:nvSpPr>
        <p:spPr>
          <a:xfrm xmlns:a="http://schemas.openxmlformats.org/drawingml/2006/main">
            <a:off x="914400" y="1371600"/>
            <a:ext cx="100584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4800" b="1">
                <a:solidFill>
                  <a:srgbClr val="FFFFFF"/>
                </a:solidFill>
                <a:latin typeface="Trebuchet MS"/>
                <a:ea typeface="Trebuchet MS"/>
                <a:cs typeface="Trebuchet MS"/>
              </a:rPr>
              <a:t>Questions?</a:t>
            </a:r>
          </a:p>
        </p:txBody>
      </p:sp>
      <p:sp>
        <p:nvSpPr>
          <p:cNvPr id="4" name="Text 2">
            <a:extLst xmlns:a="http://schemas.openxmlformats.org/drawingml/2006/main">
              <a:ext uri="{FF2B5EF4-FFF2-40B4-BE49-F238E27FC236}">
                <a16:creationId xmlns:a16="http://schemas.microsoft.com/office/drawing/2014/main" id="{0A59A762-322F-4424-A7A1-776F83F86AF1}"/>
              </a:ext>
            </a:extLst>
          </p:cNvPr>
          <p:cNvSpPr>
            <a:spLocks xmlns:a="http://schemas.openxmlformats.org/drawingml/2006/main" noGrp="1"/>
          </p:cNvSpPr>
          <p:nvPr/>
        </p:nvSpPr>
        <p:spPr>
          <a:xfrm xmlns:a="http://schemas.openxmlformats.org/drawingml/2006/main">
            <a:off x="914400" y="2514600"/>
            <a:ext cx="96012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800">
                <a:solidFill>
                  <a:srgbClr val="CADCFC"/>
                </a:solidFill>
                <a:latin typeface="Calibri"/>
                <a:ea typeface="Calibri"/>
                <a:cs typeface="Calibri"/>
              </a:rPr>
              <a:t>The repo is public. The prompts are copy-paste ready. The prototype source is available for review.</a:t>
            </a:r>
          </a:p>
        </p:txBody>
      </p:sp>
      <p:sp>
        <p:nvSpPr>
          <p:cNvPr id="5" name="Shape 3">
            <a:extLst xmlns:a="http://schemas.openxmlformats.org/drawingml/2006/main">
              <a:ext uri="{FF2B5EF4-FFF2-40B4-BE49-F238E27FC236}">
                <a16:creationId xmlns:a16="http://schemas.microsoft.com/office/drawing/2014/main" id="{AF719298-03C0-44DA-8E74-204A2E678B93}"/>
              </a:ext>
            </a:extLst>
          </p:cNvPr>
          <p:cNvSpPr>
            <a:spLocks xmlns:a="http://schemas.openxmlformats.org/drawingml/2006/main" noGrp="1"/>
          </p:cNvSpPr>
          <p:nvPr/>
        </p:nvSpPr>
        <p:spPr>
          <a:xfrm xmlns:a="http://schemas.openxmlformats.org/drawingml/2006/main">
            <a:off x="914400" y="3383280"/>
            <a:ext cx="6583680" cy="548640"/>
          </a:xfrm>
          <a:prstGeom xmlns:a="http://schemas.openxmlformats.org/drawingml/2006/main" prst="roundRect">
            <a:avLst>
              <a:gd name="adj" fmla="val 8333"/>
            </a:avLst>
          </a:prstGeom>
          <a:solidFill xmlns:a="http://schemas.openxmlformats.org/drawingml/2006/main">
            <a:srgbClr val="2C0B4F"/>
          </a:solidFill>
          <a:ln xmlns:a="http://schemas.openxmlformats.org/drawingml/2006/main" w="12700">
            <a:solidFill>
              <a:srgbClr val="FF6600"/>
            </a:solidFill>
            <a:prstDash val="solid"/>
          </a:ln>
        </p:spPr>
      </p:sp>
      <p:sp>
        <p:nvSpPr>
          <p:cNvPr id="6" name="Shape 4">
            <a:extLst xmlns:a="http://schemas.openxmlformats.org/drawingml/2006/main">
              <a:ext uri="{FF2B5EF4-FFF2-40B4-BE49-F238E27FC236}">
                <a16:creationId xmlns:a16="http://schemas.microsoft.com/office/drawing/2014/main" id="{5779CA34-497A-40EA-BC3F-DD483A987D4B}"/>
              </a:ext>
            </a:extLst>
          </p:cNvPr>
          <p:cNvSpPr>
            <a:spLocks xmlns:a="http://schemas.openxmlformats.org/drawingml/2006/main" noGrp="1"/>
          </p:cNvSpPr>
          <p:nvPr/>
        </p:nvSpPr>
        <p:spPr>
          <a:xfrm xmlns:a="http://schemas.openxmlformats.org/drawingml/2006/main">
            <a:off x="914400" y="3383280"/>
            <a:ext cx="73152" cy="548640"/>
          </a:xfrm>
          <a:prstGeom xmlns:a="http://schemas.openxmlformats.org/drawingml/2006/main" prst="rect">
            <a:avLst/>
          </a:prstGeom>
          <a:solidFill xmlns:a="http://schemas.openxmlformats.org/drawingml/2006/main">
            <a:srgbClr val="FF6600"/>
          </a:solidFill>
        </p:spPr>
      </p:sp>
      <p:sp>
        <p:nvSpPr>
          <p:cNvPr id="7" name="Text 5">
            <a:extLst xmlns:a="http://schemas.openxmlformats.org/drawingml/2006/main">
              <a:ext uri="{FF2B5EF4-FFF2-40B4-BE49-F238E27FC236}">
                <a16:creationId xmlns:a16="http://schemas.microsoft.com/office/drawing/2014/main" id="{09F28544-509D-41E1-B51E-AB679858C1F0}"/>
              </a:ext>
            </a:extLst>
          </p:cNvPr>
          <p:cNvSpPr>
            <a:spLocks xmlns:a="http://schemas.openxmlformats.org/drawingml/2006/main" noGrp="1"/>
          </p:cNvSpPr>
          <p:nvPr/>
        </p:nvSpPr>
        <p:spPr>
          <a:xfrm xmlns:a="http://schemas.openxmlformats.org/drawingml/2006/main">
            <a:off x="1143000" y="3383280"/>
            <a:ext cx="6217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a:solidFill>
                  <a:srgbClr val="FFFFFF"/>
                </a:solidFill>
                <a:latin typeface="Consolas"/>
                <a:ea typeface="Consolas"/>
                <a:cs typeface="Consolas"/>
              </a:rPr>
              <a:t>https://github.com/arigatoexpress/AI-Efficiency</a:t>
            </a:r>
          </a:p>
        </p:txBody>
      </p:sp>
      <p:sp>
        <p:nvSpPr>
          <p:cNvPr id="8" name="Text 6">
            <a:extLst xmlns:a="http://schemas.openxmlformats.org/drawingml/2006/main">
              <a:ext uri="{FF2B5EF4-FFF2-40B4-BE49-F238E27FC236}">
                <a16:creationId xmlns:a16="http://schemas.microsoft.com/office/drawing/2014/main" id="{FFFAB057-9DA5-4AFE-8E6E-FBECF392CB6D}"/>
              </a:ext>
            </a:extLst>
          </p:cNvPr>
          <p:cNvSpPr>
            <a:spLocks xmlns:a="http://schemas.openxmlformats.org/drawingml/2006/main" noGrp="1"/>
          </p:cNvSpPr>
          <p:nvPr/>
        </p:nvSpPr>
        <p:spPr>
          <a:xfrm xmlns:a="http://schemas.openxmlformats.org/drawingml/2006/main">
            <a:off x="914400" y="4754880"/>
            <a:ext cx="96012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spcAft>
                <a:spcPts val="800"/>
              </a:spcAft>
              <a:buNone/>
            </a:pPr>
            <a:r>
              <a:rPr sz="1200">
                <a:solidFill>
                  <a:srgbClr val="CADCFC"/>
                </a:solidFill>
                <a:latin typeface="Calibri"/>
                <a:ea typeface="Calibri"/>
                <a:cs typeface="Calibri"/>
              </a:rPr>
              <a:t>Appendix follows for technical questions: how we test before we trust, and the engineering forward path.</a:t>
            </a:r>
          </a:p>
          <a:p xmlns:a="http://schemas.openxmlformats.org/drawingml/2006/main">
            <a:pPr marL="0" indent="0" algn="l">
              <a:spcAft>
                <a:spcPts val="800"/>
              </a:spcAft>
              <a:buNone/>
            </a:pPr>
            <a:r>
              <a:rPr sz="1100">
                <a:solidFill>
                  <a:srgbClr val="9C8FB8"/>
                </a:solidFill>
                <a:latin typeface="Calibri"/>
                <a:ea typeface="Calibri"/>
                <a:cs typeface="Calibri"/>
              </a:rPr>
              <a:t>FedEx AI Efficiency Team — District Manager Briefing  ·  Built with Safety Above All.</a:t>
            </a:r>
          </a:p>
        </p:txBody>
      </p:sp>
    </p:spTree>
    <p:extLst>
      <p:ext uri="{BB962C8B-B14F-4D97-AF65-F5344CB8AC3E}">
        <p14:creationId xmlns:p14="http://schemas.microsoft.com/office/powerpoint/2010/main" val="1043063300"/>
      </p:ext>
    </p:extLst>
  </p:cSld>
</p:sld>
</file>

<file path=ppt/slides/slide14.xml><?xml version="1.0" encoding="utf-8"?>
<p:sld xmlns:p="http://schemas.openxmlformats.org/presentationml/2006/main">
  <p:cSld>
    <p:bg>
      <p:bgPr>
        <a:solidFill xmlns:a="http://schemas.openxmlformats.org/drawingml/2006/main">
          <a:srgbClr val="EFF0F3"/>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BA0633F-9B3D-4116-8936-BAA4DB7E7F14}"/>
              </a:ext>
            </a:extLst>
          </p:cNvPr>
          <p:cNvSpPr>
            <a:spLocks xmlns:a="http://schemas.openxmlformats.org/drawingml/2006/main" noGrp="1"/>
          </p:cNvSpPr>
          <p:nvPr/>
        </p:nvSpPr>
        <p:spPr>
          <a:xfrm xmlns:a="http://schemas.openxmlformats.org/drawingml/2006/main">
            <a:off x="548640" y="457200"/>
            <a:ext cx="1799539" cy="292608"/>
          </a:xfrm>
          <a:prstGeom xmlns:a="http://schemas.openxmlformats.org/drawingml/2006/main" prst="roundRect">
            <a:avLst>
              <a:gd name="adj" fmla="val 50000"/>
            </a:avLst>
          </a:prstGeom>
          <a:solidFill xmlns:a="http://schemas.openxmlformats.org/drawingml/2006/main">
            <a:srgbClr val="6B7280"/>
          </a:solidFill>
        </p:spPr>
      </p:sp>
      <p:sp>
        <p:nvSpPr>
          <p:cNvPr id="3" name="Text 1">
            <a:extLst xmlns:a="http://schemas.openxmlformats.org/drawingml/2006/main">
              <a:ext uri="{FF2B5EF4-FFF2-40B4-BE49-F238E27FC236}">
                <a16:creationId xmlns:a16="http://schemas.microsoft.com/office/drawing/2014/main" id="{121A083F-46CF-4ECE-9DCB-14054865CBD9}"/>
              </a:ext>
            </a:extLst>
          </p:cNvPr>
          <p:cNvSpPr>
            <a:spLocks xmlns:a="http://schemas.openxmlformats.org/drawingml/2006/main" noGrp="1"/>
          </p:cNvSpPr>
          <p:nvPr/>
        </p:nvSpPr>
        <p:spPr>
          <a:xfrm xmlns:a="http://schemas.openxmlformats.org/drawingml/2006/main">
            <a:off x="548640" y="457200"/>
            <a:ext cx="1799539"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Trebuchet MS"/>
                <a:ea typeface="Trebuchet MS"/>
                <a:cs typeface="Trebuchet MS"/>
              </a:rPr>
              <a:t>APPENDIX · OPTIONAL</a:t>
            </a:r>
          </a:p>
        </p:txBody>
      </p:sp>
      <p:sp>
        <p:nvSpPr>
          <p:cNvPr id="4" name="Text 2">
            <a:extLst xmlns:a="http://schemas.openxmlformats.org/drawingml/2006/main">
              <a:ext uri="{FF2B5EF4-FFF2-40B4-BE49-F238E27FC236}">
                <a16:creationId xmlns:a16="http://schemas.microsoft.com/office/drawing/2014/main" id="{F4D5FF78-8E49-4DD4-8536-4D765AC17AD5}"/>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We Test Before We Trust</a:t>
            </a:r>
          </a:p>
        </p:txBody>
      </p:sp>
      <p:sp>
        <p:nvSpPr>
          <p:cNvPr id="5" name="Text 3">
            <a:extLst xmlns:a="http://schemas.openxmlformats.org/drawingml/2006/main">
              <a:ext uri="{FF2B5EF4-FFF2-40B4-BE49-F238E27FC236}">
                <a16:creationId xmlns:a16="http://schemas.microsoft.com/office/drawing/2014/main" id="{6E680ABC-1A1B-4771-AA42-2C13AB9E136B}"/>
              </a:ext>
            </a:extLst>
          </p:cNvPr>
          <p:cNvSpPr>
            <a:spLocks xmlns:a="http://schemas.openxmlformats.org/drawingml/2006/main" noGrp="1"/>
          </p:cNvSpPr>
          <p:nvPr/>
        </p:nvSpPr>
        <p:spPr>
          <a:xfrm xmlns:a="http://schemas.openxmlformats.org/drawingml/2006/main">
            <a:off x="548640" y="1627632"/>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When a flashier AI tool shows up, we don't just adopt it. We make it prove it beats the simple, explainable tool we already trust — in a fair head-to-head test — before it earns a pilot.</a:t>
            </a:r>
          </a:p>
        </p:txBody>
      </p:sp>
      <p:sp>
        <p:nvSpPr>
          <p:cNvPr id="6" name="Shape 4">
            <a:extLst xmlns:a="http://schemas.openxmlformats.org/drawingml/2006/main">
              <a:ext uri="{FF2B5EF4-FFF2-40B4-BE49-F238E27FC236}">
                <a16:creationId xmlns:a16="http://schemas.microsoft.com/office/drawing/2014/main" id="{9038212B-1607-47B5-B0B9-AA42E6D12709}"/>
              </a:ext>
            </a:extLst>
          </p:cNvPr>
          <p:cNvSpPr>
            <a:spLocks xmlns:a="http://schemas.openxmlformats.org/drawingml/2006/main" noGrp="1"/>
          </p:cNvSpPr>
          <p:nvPr/>
        </p:nvSpPr>
        <p:spPr>
          <a:xfrm xmlns:a="http://schemas.openxmlformats.org/drawingml/2006/main">
            <a:off x="548640" y="2697480"/>
            <a:ext cx="5362956" cy="1828800"/>
          </a:xfrm>
          <a:prstGeom xmlns:a="http://schemas.openxmlformats.org/drawingml/2006/main" prst="roundRect">
            <a:avLst>
              <a:gd name="adj" fmla="val 40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5">
            <a:extLst xmlns:a="http://schemas.openxmlformats.org/drawingml/2006/main">
              <a:ext uri="{FF2B5EF4-FFF2-40B4-BE49-F238E27FC236}">
                <a16:creationId xmlns:a16="http://schemas.microsoft.com/office/drawing/2014/main" id="{1AA19138-1717-4896-B0D4-9E7017CCAF10}"/>
              </a:ext>
            </a:extLst>
          </p:cNvPr>
          <p:cNvSpPr>
            <a:spLocks xmlns:a="http://schemas.openxmlformats.org/drawingml/2006/main" noGrp="1"/>
          </p:cNvSpPr>
          <p:nvPr/>
        </p:nvSpPr>
        <p:spPr>
          <a:xfrm xmlns:a="http://schemas.openxmlformats.org/drawingml/2006/main">
            <a:off x="749808" y="2880360"/>
            <a:ext cx="49606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00" b="1">
                <a:solidFill>
                  <a:srgbClr val="4D148C"/>
                </a:solidFill>
                <a:latin typeface="Calibri"/>
                <a:ea typeface="Calibri"/>
                <a:cs typeface="Calibri"/>
              </a:rPr>
              <a:t>The first test we ran</a:t>
            </a:r>
          </a:p>
          <a:p xmlns:a="http://schemas.openxmlformats.org/drawingml/2006/main">
            <a:pPr marL="0" indent="0" algn="l">
              <a:lnSpc>
                <a:spcPct val="105000"/>
              </a:lnSpc>
              <a:spcAft>
                <a:spcPts val="600"/>
              </a:spcAft>
              <a:buNone/>
            </a:pPr>
            <a:r>
              <a:rPr sz="1300">
                <a:solidFill>
                  <a:srgbClr val="6B7280"/>
                </a:solidFill>
                <a:latin typeface="Calibri"/>
                <a:ea typeface="Calibri"/>
                <a:cs typeface="Calibri"/>
              </a:rPr>
              <a:t>A fancy AI forecasting model versus our simple, explainable one, on the same data. The simple tool won. So we kept it and spent no pilot, no budget, and no team time on the upgrade.</a:t>
            </a:r>
          </a:p>
        </p:txBody>
      </p:sp>
      <p:sp>
        <p:nvSpPr>
          <p:cNvPr id="8" name="Shape 6">
            <a:extLst xmlns:a="http://schemas.openxmlformats.org/drawingml/2006/main">
              <a:ext uri="{FF2B5EF4-FFF2-40B4-BE49-F238E27FC236}">
                <a16:creationId xmlns:a16="http://schemas.microsoft.com/office/drawing/2014/main" id="{69606585-D899-4146-946E-9AA18E906479}"/>
              </a:ext>
            </a:extLst>
          </p:cNvPr>
          <p:cNvSpPr>
            <a:spLocks xmlns:a="http://schemas.openxmlformats.org/drawingml/2006/main" noGrp="1"/>
          </p:cNvSpPr>
          <p:nvPr/>
        </p:nvSpPr>
        <p:spPr>
          <a:xfrm xmlns:a="http://schemas.openxmlformats.org/drawingml/2006/main">
            <a:off x="6277356" y="2697480"/>
            <a:ext cx="5362956" cy="1828800"/>
          </a:xfrm>
          <a:prstGeom xmlns:a="http://schemas.openxmlformats.org/drawingml/2006/main" prst="roundRect">
            <a:avLst>
              <a:gd name="adj" fmla="val 4000"/>
            </a:avLst>
          </a:prstGeom>
          <a:solidFill xmlns:a="http://schemas.openxmlformats.org/drawingml/2006/main">
            <a:srgbClr val="F7F8FA"/>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9" name="Text 7">
            <a:extLst xmlns:a="http://schemas.openxmlformats.org/drawingml/2006/main">
              <a:ext uri="{FF2B5EF4-FFF2-40B4-BE49-F238E27FC236}">
                <a16:creationId xmlns:a16="http://schemas.microsoft.com/office/drawing/2014/main" id="{2742CF83-AD36-481F-95EE-1FFEA3158F50}"/>
              </a:ext>
            </a:extLst>
          </p:cNvPr>
          <p:cNvSpPr>
            <a:spLocks xmlns:a="http://schemas.openxmlformats.org/drawingml/2006/main" noGrp="1"/>
          </p:cNvSpPr>
          <p:nvPr/>
        </p:nvSpPr>
        <p:spPr>
          <a:xfrm xmlns:a="http://schemas.openxmlformats.org/drawingml/2006/main">
            <a:off x="6478524" y="2880360"/>
            <a:ext cx="49606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600"/>
              </a:spcAft>
              <a:buNone/>
            </a:pPr>
            <a:r>
              <a:rPr sz="1400" b="1">
                <a:solidFill>
                  <a:srgbClr val="4D148C"/>
                </a:solidFill>
                <a:latin typeface="Calibri"/>
                <a:ea typeface="Calibri"/>
                <a:cs typeface="Calibri"/>
              </a:rPr>
              <a:t>Why it matters to a district</a:t>
            </a:r>
          </a:p>
          <a:p xmlns:a="http://schemas.openxmlformats.org/drawingml/2006/main">
            <a:pPr marL="0" indent="0" algn="l">
              <a:lnSpc>
                <a:spcPct val="105000"/>
              </a:lnSpc>
              <a:spcAft>
                <a:spcPts val="600"/>
              </a:spcAft>
              <a:buNone/>
            </a:pPr>
            <a:r>
              <a:rPr sz="1300">
                <a:solidFill>
                  <a:srgbClr val="6B7280"/>
                </a:solidFill>
                <a:latin typeface="Calibri"/>
                <a:ea typeface="Calibri"/>
                <a:cs typeface="Calibri"/>
              </a:rPr>
              <a:t>This is how we keep hype from wasting your team's time and money. Nothing gets adopted on a sales pitch — only on measured results — and we write down exactly when it's worth a second look.</a:t>
            </a:r>
          </a:p>
        </p:txBody>
      </p:sp>
      <p:sp>
        <p:nvSpPr>
          <p:cNvPr id="10" name="Text 8">
            <a:extLst xmlns:a="http://schemas.openxmlformats.org/drawingml/2006/main">
              <a:ext uri="{FF2B5EF4-FFF2-40B4-BE49-F238E27FC236}">
                <a16:creationId xmlns:a16="http://schemas.microsoft.com/office/drawing/2014/main" id="{FAEE32D4-A53B-499A-B63B-3D516B01EBF0}"/>
              </a:ext>
            </a:extLst>
          </p:cNvPr>
          <p:cNvSpPr>
            <a:spLocks xmlns:a="http://schemas.openxmlformats.org/drawingml/2006/main" noGrp="1"/>
          </p:cNvSpPr>
          <p:nvPr/>
        </p:nvSpPr>
        <p:spPr>
          <a:xfrm xmlns:a="http://schemas.openxmlformats.org/drawingml/2006/main">
            <a:off x="548640" y="6355080"/>
            <a:ext cx="110916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i="1">
                <a:solidFill>
                  <a:srgbClr val="6B7280"/>
                </a:solidFill>
                <a:latin typeface="Calibri"/>
                <a:ea typeface="Calibri"/>
                <a:cs typeface="Calibri"/>
              </a:rPr>
              <a:t>We also confirmed privacy-preserving (encrypted) scoring is feasible — kept on the research shelf pending a security review.</a:t>
            </a:r>
          </a:p>
        </p:txBody>
      </p:sp>
    </p:spTree>
    <p:extLst>
      <p:ext uri="{BB962C8B-B14F-4D97-AF65-F5344CB8AC3E}">
        <p14:creationId xmlns:p14="http://schemas.microsoft.com/office/powerpoint/2010/main" val="363319981"/>
      </p:ext>
    </p:extLst>
  </p:cSld>
</p:sld>
</file>

<file path=ppt/slides/slide15.xml><?xml version="1.0" encoding="utf-8"?>
<p:sld xmlns:p="http://schemas.openxmlformats.org/presentationml/2006/main">
  <p:cSld>
    <p:bg>
      <p:bgPr>
        <a:solidFill xmlns:a="http://schemas.openxmlformats.org/drawingml/2006/main">
          <a:srgbClr val="EFF0F3"/>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946893D-4489-45F4-85B2-25CB785B1318}"/>
              </a:ext>
            </a:extLst>
          </p:cNvPr>
          <p:cNvSpPr>
            <a:spLocks xmlns:a="http://schemas.openxmlformats.org/drawingml/2006/main" noGrp="1"/>
          </p:cNvSpPr>
          <p:nvPr/>
        </p:nvSpPr>
        <p:spPr>
          <a:xfrm xmlns:a="http://schemas.openxmlformats.org/drawingml/2006/main">
            <a:off x="548640" y="457200"/>
            <a:ext cx="2556662" cy="292608"/>
          </a:xfrm>
          <a:prstGeom xmlns:a="http://schemas.openxmlformats.org/drawingml/2006/main" prst="roundRect">
            <a:avLst>
              <a:gd name="adj" fmla="val 50000"/>
            </a:avLst>
          </a:prstGeom>
          <a:solidFill xmlns:a="http://schemas.openxmlformats.org/drawingml/2006/main">
            <a:srgbClr val="6B7280"/>
          </a:solidFill>
        </p:spPr>
      </p:sp>
      <p:sp>
        <p:nvSpPr>
          <p:cNvPr id="3" name="Text 1">
            <a:extLst xmlns:a="http://schemas.openxmlformats.org/drawingml/2006/main">
              <a:ext uri="{FF2B5EF4-FFF2-40B4-BE49-F238E27FC236}">
                <a16:creationId xmlns:a16="http://schemas.microsoft.com/office/drawing/2014/main" id="{C5A25076-7A71-4CAC-A6AB-FCA0DF16D2C6}"/>
              </a:ext>
            </a:extLst>
          </p:cNvPr>
          <p:cNvSpPr>
            <a:spLocks xmlns:a="http://schemas.openxmlformats.org/drawingml/2006/main" noGrp="1"/>
          </p:cNvSpPr>
          <p:nvPr/>
        </p:nvSpPr>
        <p:spPr>
          <a:xfrm xmlns:a="http://schemas.openxmlformats.org/drawingml/2006/main">
            <a:off x="548640" y="457200"/>
            <a:ext cx="255666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Trebuchet MS"/>
                <a:ea typeface="Trebuchet MS"/>
                <a:cs typeface="Trebuchet MS"/>
              </a:rPr>
              <a:t>APPENDIX · FOR TECHNICAL Q&amp;A</a:t>
            </a:r>
          </a:p>
        </p:txBody>
      </p:sp>
      <p:sp>
        <p:nvSpPr>
          <p:cNvPr id="4" name="Text 2">
            <a:extLst xmlns:a="http://schemas.openxmlformats.org/drawingml/2006/main">
              <a:ext uri="{FF2B5EF4-FFF2-40B4-BE49-F238E27FC236}">
                <a16:creationId xmlns:a16="http://schemas.microsoft.com/office/drawing/2014/main" id="{D3D6A910-4D7B-479E-A9EC-309FC7371DC2}"/>
              </a:ext>
            </a:extLst>
          </p:cNvPr>
          <p:cNvSpPr>
            <a:spLocks xmlns:a="http://schemas.openxmlformats.org/drawingml/2006/main" noGrp="1"/>
          </p:cNvSpPr>
          <p:nvPr/>
        </p:nvSpPr>
        <p:spPr>
          <a:xfrm xmlns:a="http://schemas.openxmlformats.org/drawingml/2006/main">
            <a:off x="548640" y="841248"/>
            <a:ext cx="11091672"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4D148C"/>
                </a:solidFill>
                <a:latin typeface="Trebuchet MS"/>
                <a:ea typeface="Trebuchet MS"/>
                <a:cs typeface="Trebuchet MS"/>
              </a:rPr>
              <a:t>The Engineering Forward Path</a:t>
            </a:r>
          </a:p>
        </p:txBody>
      </p:sp>
      <p:sp>
        <p:nvSpPr>
          <p:cNvPr id="5" name="Text 3">
            <a:extLst xmlns:a="http://schemas.openxmlformats.org/drawingml/2006/main">
              <a:ext uri="{FF2B5EF4-FFF2-40B4-BE49-F238E27FC236}">
                <a16:creationId xmlns:a16="http://schemas.microsoft.com/office/drawing/2014/main" id="{EAD6B2F4-3840-474D-97C6-59C47016290F}"/>
              </a:ext>
            </a:extLst>
          </p:cNvPr>
          <p:cNvSpPr>
            <a:spLocks xmlns:a="http://schemas.openxmlformats.org/drawingml/2006/main" noGrp="1"/>
          </p:cNvSpPr>
          <p:nvPr/>
        </p:nvSpPr>
        <p:spPr>
          <a:xfrm xmlns:a="http://schemas.openxmlformats.org/drawingml/2006/main">
            <a:off x="548640" y="1627632"/>
            <a:ext cx="11091672"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A1D23"/>
                </a:solidFill>
                <a:latin typeface="Calibri"/>
                <a:ea typeface="Calibri"/>
                <a:cs typeface="Calibri"/>
              </a:rPr>
              <a:t>If a pilot earns it, here is the governed path from today's demo to a real tool — built entirely on Google Cloud and Gemini tools FedEx already uses. Internal FedEx data stays locked behind governance the entire way.</a:t>
            </a:r>
          </a:p>
        </p:txBody>
      </p:sp>
      <p:sp>
        <p:nvSpPr>
          <p:cNvPr id="6" name="Shape 4">
            <a:extLst xmlns:a="http://schemas.openxmlformats.org/drawingml/2006/main">
              <a:ext uri="{FF2B5EF4-FFF2-40B4-BE49-F238E27FC236}">
                <a16:creationId xmlns:a16="http://schemas.microsoft.com/office/drawing/2014/main" id="{BE43E94F-BD9E-42D1-9705-C508E870BA2B}"/>
              </a:ext>
            </a:extLst>
          </p:cNvPr>
          <p:cNvSpPr>
            <a:spLocks xmlns:a="http://schemas.openxmlformats.org/drawingml/2006/main" noGrp="1"/>
          </p:cNvSpPr>
          <p:nvPr/>
        </p:nvSpPr>
        <p:spPr>
          <a:xfrm xmlns:a="http://schemas.openxmlformats.org/drawingml/2006/main">
            <a:off x="548640" y="3200400"/>
            <a:ext cx="1635252" cy="86868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7" name="Text 5">
            <a:extLst xmlns:a="http://schemas.openxmlformats.org/drawingml/2006/main">
              <a:ext uri="{FF2B5EF4-FFF2-40B4-BE49-F238E27FC236}">
                <a16:creationId xmlns:a16="http://schemas.microsoft.com/office/drawing/2014/main" id="{E9511CB9-6EAB-4051-8E58-6A79CC299FA7}"/>
              </a:ext>
            </a:extLst>
          </p:cNvPr>
          <p:cNvSpPr>
            <a:spLocks xmlns:a="http://schemas.openxmlformats.org/drawingml/2006/main" noGrp="1"/>
          </p:cNvSpPr>
          <p:nvPr/>
        </p:nvSpPr>
        <p:spPr>
          <a:xfrm xmlns:a="http://schemas.openxmlformats.org/drawingml/2006/main">
            <a:off x="621792" y="3200400"/>
            <a:ext cx="148894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1050" b="1">
                <a:solidFill>
                  <a:srgbClr val="4D148C"/>
                </a:solidFill>
                <a:latin typeface="Trebuchet MS"/>
                <a:ea typeface="Trebuchet MS"/>
                <a:cs typeface="Trebuchet MS"/>
              </a:rPr>
              <a:t>Google AI Studio</a:t>
            </a:r>
          </a:p>
        </p:txBody>
      </p:sp>
      <p:sp>
        <p:nvSpPr>
          <p:cNvPr id="8" name="Text 6">
            <a:extLst xmlns:a="http://schemas.openxmlformats.org/drawingml/2006/main">
              <a:ext uri="{FF2B5EF4-FFF2-40B4-BE49-F238E27FC236}">
                <a16:creationId xmlns:a16="http://schemas.microsoft.com/office/drawing/2014/main" id="{B064C44C-BA54-46D1-9E91-DFF198733DCE}"/>
              </a:ext>
            </a:extLst>
          </p:cNvPr>
          <p:cNvSpPr>
            <a:spLocks xmlns:a="http://schemas.openxmlformats.org/drawingml/2006/main" noGrp="1"/>
          </p:cNvSpPr>
          <p:nvPr/>
        </p:nvSpPr>
        <p:spPr>
          <a:xfrm xmlns:a="http://schemas.openxmlformats.org/drawingml/2006/main">
            <a:off x="2165604" y="3200400"/>
            <a:ext cx="256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6B7280"/>
                </a:solidFill>
                <a:latin typeface="Trebuchet MS"/>
                <a:ea typeface="Trebuchet MS"/>
                <a:cs typeface="Trebuchet MS"/>
              </a:rPr>
              <a:t>›</a:t>
            </a:r>
          </a:p>
        </p:txBody>
      </p:sp>
      <p:sp>
        <p:nvSpPr>
          <p:cNvPr id="9" name="Shape 7">
            <a:extLst xmlns:a="http://schemas.openxmlformats.org/drawingml/2006/main">
              <a:ext uri="{FF2B5EF4-FFF2-40B4-BE49-F238E27FC236}">
                <a16:creationId xmlns:a16="http://schemas.microsoft.com/office/drawing/2014/main" id="{7074BCA0-8B3B-4414-811E-6824E52E37E2}"/>
              </a:ext>
            </a:extLst>
          </p:cNvPr>
          <p:cNvSpPr>
            <a:spLocks xmlns:a="http://schemas.openxmlformats.org/drawingml/2006/main" noGrp="1"/>
          </p:cNvSpPr>
          <p:nvPr/>
        </p:nvSpPr>
        <p:spPr>
          <a:xfrm xmlns:a="http://schemas.openxmlformats.org/drawingml/2006/main">
            <a:off x="2439924" y="3200400"/>
            <a:ext cx="1635252" cy="86868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0" name="Text 8">
            <a:extLst xmlns:a="http://schemas.openxmlformats.org/drawingml/2006/main">
              <a:ext uri="{FF2B5EF4-FFF2-40B4-BE49-F238E27FC236}">
                <a16:creationId xmlns:a16="http://schemas.microsoft.com/office/drawing/2014/main" id="{32DD2D84-4DDC-4FAF-BCB4-EC0C6C5106F4}"/>
              </a:ext>
            </a:extLst>
          </p:cNvPr>
          <p:cNvSpPr>
            <a:spLocks xmlns:a="http://schemas.openxmlformats.org/drawingml/2006/main" noGrp="1"/>
          </p:cNvSpPr>
          <p:nvPr/>
        </p:nvSpPr>
        <p:spPr>
          <a:xfrm xmlns:a="http://schemas.openxmlformats.org/drawingml/2006/main">
            <a:off x="2513076" y="3200400"/>
            <a:ext cx="148894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1050" b="1">
                <a:solidFill>
                  <a:srgbClr val="4D148C"/>
                </a:solidFill>
                <a:latin typeface="Trebuchet MS"/>
                <a:ea typeface="Trebuchet MS"/>
                <a:cs typeface="Trebuchet MS"/>
              </a:rPr>
              <a:t>Gemini / Vertex AI</a:t>
            </a:r>
          </a:p>
        </p:txBody>
      </p:sp>
      <p:sp>
        <p:nvSpPr>
          <p:cNvPr id="11" name="Text 9">
            <a:extLst xmlns:a="http://schemas.openxmlformats.org/drawingml/2006/main">
              <a:ext uri="{FF2B5EF4-FFF2-40B4-BE49-F238E27FC236}">
                <a16:creationId xmlns:a16="http://schemas.microsoft.com/office/drawing/2014/main" id="{D42606E1-1E0F-4812-B7D8-B5D411A1A250}"/>
              </a:ext>
            </a:extLst>
          </p:cNvPr>
          <p:cNvSpPr>
            <a:spLocks xmlns:a="http://schemas.openxmlformats.org/drawingml/2006/main" noGrp="1"/>
          </p:cNvSpPr>
          <p:nvPr/>
        </p:nvSpPr>
        <p:spPr>
          <a:xfrm xmlns:a="http://schemas.openxmlformats.org/drawingml/2006/main">
            <a:off x="4056888" y="3200400"/>
            <a:ext cx="256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6B7280"/>
                </a:solidFill>
                <a:latin typeface="Trebuchet MS"/>
                <a:ea typeface="Trebuchet MS"/>
                <a:cs typeface="Trebuchet MS"/>
              </a:rPr>
              <a:t>›</a:t>
            </a:r>
          </a:p>
        </p:txBody>
      </p:sp>
      <p:sp>
        <p:nvSpPr>
          <p:cNvPr id="12" name="Shape 10">
            <a:extLst xmlns:a="http://schemas.openxmlformats.org/drawingml/2006/main">
              <a:ext uri="{FF2B5EF4-FFF2-40B4-BE49-F238E27FC236}">
                <a16:creationId xmlns:a16="http://schemas.microsoft.com/office/drawing/2014/main" id="{772309C8-1130-4F5D-994B-6731A512F3BE}"/>
              </a:ext>
            </a:extLst>
          </p:cNvPr>
          <p:cNvSpPr>
            <a:spLocks xmlns:a="http://schemas.openxmlformats.org/drawingml/2006/main" noGrp="1"/>
          </p:cNvSpPr>
          <p:nvPr/>
        </p:nvSpPr>
        <p:spPr>
          <a:xfrm xmlns:a="http://schemas.openxmlformats.org/drawingml/2006/main">
            <a:off x="4331208" y="3200400"/>
            <a:ext cx="1635252" cy="86868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3" name="Text 11">
            <a:extLst xmlns:a="http://schemas.openxmlformats.org/drawingml/2006/main">
              <a:ext uri="{FF2B5EF4-FFF2-40B4-BE49-F238E27FC236}">
                <a16:creationId xmlns:a16="http://schemas.microsoft.com/office/drawing/2014/main" id="{3A93AC5D-3ED5-40C1-A422-F5A1249430D9}"/>
              </a:ext>
            </a:extLst>
          </p:cNvPr>
          <p:cNvSpPr>
            <a:spLocks xmlns:a="http://schemas.openxmlformats.org/drawingml/2006/main" noGrp="1"/>
          </p:cNvSpPr>
          <p:nvPr/>
        </p:nvSpPr>
        <p:spPr>
          <a:xfrm xmlns:a="http://schemas.openxmlformats.org/drawingml/2006/main">
            <a:off x="4404360" y="3200400"/>
            <a:ext cx="148894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1050" b="1">
                <a:solidFill>
                  <a:srgbClr val="4D148C"/>
                </a:solidFill>
                <a:latin typeface="Trebuchet MS"/>
                <a:ea typeface="Trebuchet MS"/>
                <a:cs typeface="Trebuchet MS"/>
              </a:rPr>
              <a:t>Agent Development Kit (ADK)</a:t>
            </a:r>
          </a:p>
        </p:txBody>
      </p:sp>
      <p:sp>
        <p:nvSpPr>
          <p:cNvPr id="14" name="Text 12">
            <a:extLst xmlns:a="http://schemas.openxmlformats.org/drawingml/2006/main">
              <a:ext uri="{FF2B5EF4-FFF2-40B4-BE49-F238E27FC236}">
                <a16:creationId xmlns:a16="http://schemas.microsoft.com/office/drawing/2014/main" id="{910AA33F-4604-4D87-B177-ACBA68D8E5EA}"/>
              </a:ext>
            </a:extLst>
          </p:cNvPr>
          <p:cNvSpPr>
            <a:spLocks xmlns:a="http://schemas.openxmlformats.org/drawingml/2006/main" noGrp="1"/>
          </p:cNvSpPr>
          <p:nvPr/>
        </p:nvSpPr>
        <p:spPr>
          <a:xfrm xmlns:a="http://schemas.openxmlformats.org/drawingml/2006/main">
            <a:off x="5948172" y="3200400"/>
            <a:ext cx="256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6B7280"/>
                </a:solidFill>
                <a:latin typeface="Trebuchet MS"/>
                <a:ea typeface="Trebuchet MS"/>
                <a:cs typeface="Trebuchet MS"/>
              </a:rPr>
              <a:t>›</a:t>
            </a:r>
          </a:p>
        </p:txBody>
      </p:sp>
      <p:sp>
        <p:nvSpPr>
          <p:cNvPr id="15" name="Shape 13">
            <a:extLst xmlns:a="http://schemas.openxmlformats.org/drawingml/2006/main">
              <a:ext uri="{FF2B5EF4-FFF2-40B4-BE49-F238E27FC236}">
                <a16:creationId xmlns:a16="http://schemas.microsoft.com/office/drawing/2014/main" id="{FFCE3FE6-6DE9-484E-85AE-44F9379C5329}"/>
              </a:ext>
            </a:extLst>
          </p:cNvPr>
          <p:cNvSpPr>
            <a:spLocks xmlns:a="http://schemas.openxmlformats.org/drawingml/2006/main" noGrp="1"/>
          </p:cNvSpPr>
          <p:nvPr/>
        </p:nvSpPr>
        <p:spPr>
          <a:xfrm xmlns:a="http://schemas.openxmlformats.org/drawingml/2006/main">
            <a:off x="6222492" y="3200400"/>
            <a:ext cx="1635252" cy="86868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6" name="Text 14">
            <a:extLst xmlns:a="http://schemas.openxmlformats.org/drawingml/2006/main">
              <a:ext uri="{FF2B5EF4-FFF2-40B4-BE49-F238E27FC236}">
                <a16:creationId xmlns:a16="http://schemas.microsoft.com/office/drawing/2014/main" id="{2F29B46D-5425-4453-97D5-A29D3B9D92E6}"/>
              </a:ext>
            </a:extLst>
          </p:cNvPr>
          <p:cNvSpPr>
            <a:spLocks xmlns:a="http://schemas.openxmlformats.org/drawingml/2006/main" noGrp="1"/>
          </p:cNvSpPr>
          <p:nvPr/>
        </p:nvSpPr>
        <p:spPr>
          <a:xfrm xmlns:a="http://schemas.openxmlformats.org/drawingml/2006/main">
            <a:off x="6295644" y="3200400"/>
            <a:ext cx="148894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1050" b="1">
                <a:solidFill>
                  <a:srgbClr val="4D148C"/>
                </a:solidFill>
                <a:latin typeface="Trebuchet MS"/>
                <a:ea typeface="Trebuchet MS"/>
                <a:cs typeface="Trebuchet MS"/>
              </a:rPr>
              <a:t>Vertex AI Agent Engine</a:t>
            </a:r>
          </a:p>
        </p:txBody>
      </p:sp>
      <p:sp>
        <p:nvSpPr>
          <p:cNvPr id="17" name="Text 15">
            <a:extLst xmlns:a="http://schemas.openxmlformats.org/drawingml/2006/main">
              <a:ext uri="{FF2B5EF4-FFF2-40B4-BE49-F238E27FC236}">
                <a16:creationId xmlns:a16="http://schemas.microsoft.com/office/drawing/2014/main" id="{3B19962B-FE6D-4336-B527-CB719178DD4C}"/>
              </a:ext>
            </a:extLst>
          </p:cNvPr>
          <p:cNvSpPr>
            <a:spLocks xmlns:a="http://schemas.openxmlformats.org/drawingml/2006/main" noGrp="1"/>
          </p:cNvSpPr>
          <p:nvPr/>
        </p:nvSpPr>
        <p:spPr>
          <a:xfrm xmlns:a="http://schemas.openxmlformats.org/drawingml/2006/main">
            <a:off x="7839456" y="3200400"/>
            <a:ext cx="256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6B7280"/>
                </a:solidFill>
                <a:latin typeface="Trebuchet MS"/>
                <a:ea typeface="Trebuchet MS"/>
                <a:cs typeface="Trebuchet MS"/>
              </a:rPr>
              <a:t>›</a:t>
            </a:r>
          </a:p>
        </p:txBody>
      </p:sp>
      <p:sp>
        <p:nvSpPr>
          <p:cNvPr id="18" name="Shape 16">
            <a:extLst xmlns:a="http://schemas.openxmlformats.org/drawingml/2006/main">
              <a:ext uri="{FF2B5EF4-FFF2-40B4-BE49-F238E27FC236}">
                <a16:creationId xmlns:a16="http://schemas.microsoft.com/office/drawing/2014/main" id="{DF64E1FF-1765-4AE5-92D5-A92A248CD1F6}"/>
              </a:ext>
            </a:extLst>
          </p:cNvPr>
          <p:cNvSpPr>
            <a:spLocks xmlns:a="http://schemas.openxmlformats.org/drawingml/2006/main" noGrp="1"/>
          </p:cNvSpPr>
          <p:nvPr/>
        </p:nvSpPr>
        <p:spPr>
          <a:xfrm xmlns:a="http://schemas.openxmlformats.org/drawingml/2006/main">
            <a:off x="8113776" y="3200400"/>
            <a:ext cx="1635252" cy="868680"/>
          </a:xfrm>
          <a:prstGeom xmlns:a="http://schemas.openxmlformats.org/drawingml/2006/main" prst="roundRect">
            <a:avLst>
              <a:gd name="adj" fmla="val 7368"/>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19" name="Text 17">
            <a:extLst xmlns:a="http://schemas.openxmlformats.org/drawingml/2006/main">
              <a:ext uri="{FF2B5EF4-FFF2-40B4-BE49-F238E27FC236}">
                <a16:creationId xmlns:a16="http://schemas.microsoft.com/office/drawing/2014/main" id="{96B84EC1-50EC-40E3-83C7-3BA77F3687DC}"/>
              </a:ext>
            </a:extLst>
          </p:cNvPr>
          <p:cNvSpPr>
            <a:spLocks xmlns:a="http://schemas.openxmlformats.org/drawingml/2006/main" noGrp="1"/>
          </p:cNvSpPr>
          <p:nvPr/>
        </p:nvSpPr>
        <p:spPr>
          <a:xfrm xmlns:a="http://schemas.openxmlformats.org/drawingml/2006/main">
            <a:off x="8186928" y="3200400"/>
            <a:ext cx="148894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1050" b="1">
                <a:solidFill>
                  <a:srgbClr val="4D148C"/>
                </a:solidFill>
                <a:latin typeface="Trebuchet MS"/>
                <a:ea typeface="Trebuchet MS"/>
                <a:cs typeface="Trebuchet MS"/>
              </a:rPr>
              <a:t>Cloud Run</a:t>
            </a:r>
          </a:p>
        </p:txBody>
      </p:sp>
      <p:sp>
        <p:nvSpPr>
          <p:cNvPr id="20" name="Text 18">
            <a:extLst xmlns:a="http://schemas.openxmlformats.org/drawingml/2006/main">
              <a:ext uri="{FF2B5EF4-FFF2-40B4-BE49-F238E27FC236}">
                <a16:creationId xmlns:a16="http://schemas.microsoft.com/office/drawing/2014/main" id="{D105B3D7-B372-4102-8BD6-2030CCD6C524}"/>
              </a:ext>
            </a:extLst>
          </p:cNvPr>
          <p:cNvSpPr>
            <a:spLocks xmlns:a="http://schemas.openxmlformats.org/drawingml/2006/main" noGrp="1"/>
          </p:cNvSpPr>
          <p:nvPr/>
        </p:nvSpPr>
        <p:spPr>
          <a:xfrm xmlns:a="http://schemas.openxmlformats.org/drawingml/2006/main">
            <a:off x="9730740" y="3200400"/>
            <a:ext cx="256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6B7280"/>
                </a:solidFill>
                <a:latin typeface="Trebuchet MS"/>
                <a:ea typeface="Trebuchet MS"/>
                <a:cs typeface="Trebuchet MS"/>
              </a:rPr>
              <a:t>›</a:t>
            </a:r>
          </a:p>
        </p:txBody>
      </p:sp>
      <p:sp>
        <p:nvSpPr>
          <p:cNvPr id="21" name="Shape 19">
            <a:extLst xmlns:a="http://schemas.openxmlformats.org/drawingml/2006/main">
              <a:ext uri="{FF2B5EF4-FFF2-40B4-BE49-F238E27FC236}">
                <a16:creationId xmlns:a16="http://schemas.microsoft.com/office/drawing/2014/main" id="{AFE3425F-9CD4-4344-9D76-7A9F3F049967}"/>
              </a:ext>
            </a:extLst>
          </p:cNvPr>
          <p:cNvSpPr>
            <a:spLocks xmlns:a="http://schemas.openxmlformats.org/drawingml/2006/main" noGrp="1"/>
          </p:cNvSpPr>
          <p:nvPr/>
        </p:nvSpPr>
        <p:spPr>
          <a:xfrm xmlns:a="http://schemas.openxmlformats.org/drawingml/2006/main">
            <a:off x="10005060" y="3200400"/>
            <a:ext cx="1635252" cy="868680"/>
          </a:xfrm>
          <a:prstGeom xmlns:a="http://schemas.openxmlformats.org/drawingml/2006/main" prst="roundRect">
            <a:avLst>
              <a:gd name="adj" fmla="val 7368"/>
            </a:avLst>
          </a:prstGeom>
          <a:solidFill xmlns:a="http://schemas.openxmlformats.org/drawingml/2006/main">
            <a:srgbClr val="FFF1E6"/>
          </a:solidFill>
          <a:ln xmlns:a="http://schemas.openxmlformats.org/drawingml/2006/main" w="19050">
            <a:solidFill>
              <a:srgbClr val="FF6600"/>
            </a:solidFill>
            <a:prstDash val="solid"/>
          </a:ln>
          <a:effectLst xmlns:a="http://schemas.openxmlformats.org/drawingml/2006/main">
            <a:outerShdw blurRad="88900" dist="25400" dir="8100000" sx="100000" sy="100000" kx="0" ky="0" algn="bl" rotWithShape="0">
              <a:srgbClr val="000000">
                <a:alpha val="12000"/>
              </a:srgbClr>
            </a:outerShdw>
          </a:effectLst>
        </p:spPr>
      </p:sp>
      <p:sp>
        <p:nvSpPr>
          <p:cNvPr id="22" name="Text 20">
            <a:extLst xmlns:a="http://schemas.openxmlformats.org/drawingml/2006/main">
              <a:ext uri="{FF2B5EF4-FFF2-40B4-BE49-F238E27FC236}">
                <a16:creationId xmlns:a16="http://schemas.microsoft.com/office/drawing/2014/main" id="{3537E338-85D1-480A-A2B2-FD0BDBCEF596}"/>
              </a:ext>
            </a:extLst>
          </p:cNvPr>
          <p:cNvSpPr>
            <a:spLocks xmlns:a="http://schemas.openxmlformats.org/drawingml/2006/main" noGrp="1"/>
          </p:cNvSpPr>
          <p:nvPr/>
        </p:nvSpPr>
        <p:spPr>
          <a:xfrm xmlns:a="http://schemas.openxmlformats.org/drawingml/2006/main">
            <a:off x="10078212" y="3200400"/>
            <a:ext cx="1488948"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1050" b="1">
                <a:solidFill>
                  <a:srgbClr val="FF6600"/>
                </a:solidFill>
                <a:latin typeface="Trebuchet MS"/>
                <a:ea typeface="Trebuchet MS"/>
                <a:cs typeface="Trebuchet MS"/>
              </a:rPr>
              <a:t>Foundry — governance-gated</a:t>
            </a:r>
          </a:p>
        </p:txBody>
      </p:sp>
      <p:sp>
        <p:nvSpPr>
          <p:cNvPr id="23" name="Text 21">
            <a:extLst xmlns:a="http://schemas.openxmlformats.org/drawingml/2006/main">
              <a:ext uri="{FF2B5EF4-FFF2-40B4-BE49-F238E27FC236}">
                <a16:creationId xmlns:a16="http://schemas.microsoft.com/office/drawing/2014/main" id="{2DF134C0-7BC9-4D94-B028-7D05ECCAD8F9}"/>
              </a:ext>
            </a:extLst>
          </p:cNvPr>
          <p:cNvSpPr>
            <a:spLocks xmlns:a="http://schemas.openxmlformats.org/drawingml/2006/main" noGrp="1"/>
          </p:cNvSpPr>
          <p:nvPr/>
        </p:nvSpPr>
        <p:spPr>
          <a:xfrm xmlns:a="http://schemas.openxmlformats.org/drawingml/2006/main">
            <a:off x="548640" y="4572000"/>
            <a:ext cx="110916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00" i="1">
                <a:solidFill>
                  <a:srgbClr val="6B7280"/>
                </a:solidFill>
                <a:latin typeface="Calibri"/>
                <a:ea typeface="Calibri"/>
                <a:cs typeface="Calibri"/>
              </a:rPr>
              <a:t>Plain version: we would build it on the cloud tools FedEx already pays for, and access to internal data is earned with evidence from small pilots — never assumed.</a:t>
            </a:r>
          </a:p>
        </p:txBody>
      </p:sp>
    </p:spTree>
    <p:extLst>
      <p:ext uri="{BB962C8B-B14F-4D97-AF65-F5344CB8AC3E}">
        <p14:creationId xmlns:p14="http://schemas.microsoft.com/office/powerpoint/2010/main" val="147556069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2026-07-16T01:40:25.3200000Z</dcterms:created>
  <dcterms:modified xsi:type="dcterms:W3CDTF">2026-07-16T01:40:25.3200000Z</dcterms:modified>
</coreProperties>
</file>